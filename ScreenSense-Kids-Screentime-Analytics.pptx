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anose="020B0604020202020204" charset="0"/>
      <p:regular r:id="rId14"/>
    </p:embeddedFont>
    <p:embeddedFont>
      <p:font typeface="Instrument Sans Semi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CEFD416-3B7F-C46F-685F-2586CDF5F8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BADF3A-5C3F-22A0-9F34-A298954E46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2D16A-83FB-46EE-9266-74EBFF327B3D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660B7-C4C0-C0B9-58B0-9E5253901C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F590E-62BC-D000-2B63-D35CD2E3E0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03FFB-BDBD-478B-91B8-BCC4FCCB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3284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7315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3190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ScreenSense – Kid's Screentime Analytics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40185"/>
            <a:ext cx="67145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Insights from Indian Kids Screentime 2025 Dataset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50346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By Yash Verma 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1E3ADB-8B86-ED68-07F7-81EC765960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42697" y="7787811"/>
            <a:ext cx="1787703" cy="3629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80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33844"/>
            <a:ext cx="423981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This Project Delivers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78594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comprehensive analytics project examines digital behavior patterns of Indian children through an interactive Power BI dashboard built from 9,712 real-world records.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7873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analysis spans critical dimensions including age groups, gender differences, urban-rural divides, device preferences, and health risk factors.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13384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Real-World Impact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599521" y="3785949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These insights empower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parents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make informed decisions about screentime limits, help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educators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understand digital learning patterns, and guide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policymakers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 creating evidence-based regulations.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4416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Source: Indian Kids Screentime 2025 (Kaggle)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663721-573C-917F-9198-25152F7AA2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42697" y="7787811"/>
            <a:ext cx="1787703" cy="3629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4427" y="2842141"/>
            <a:ext cx="4663083" cy="2545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5449" y="581858"/>
            <a:ext cx="5253395" cy="65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Workflow</a:t>
            </a:r>
            <a:endParaRPr lang="en-US" sz="4100" dirty="0"/>
          </a:p>
        </p:txBody>
      </p:sp>
      <p:sp>
        <p:nvSpPr>
          <p:cNvPr id="5" name="Text 1"/>
          <p:cNvSpPr/>
          <p:nvPr/>
        </p:nvSpPr>
        <p:spPr>
          <a:xfrm>
            <a:off x="735449" y="1553647"/>
            <a:ext cx="210026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Shape 2"/>
          <p:cNvSpPr/>
          <p:nvPr/>
        </p:nvSpPr>
        <p:spPr>
          <a:xfrm>
            <a:off x="735449" y="1887855"/>
            <a:ext cx="3731538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7" name="Text 3"/>
          <p:cNvSpPr/>
          <p:nvPr/>
        </p:nvSpPr>
        <p:spPr>
          <a:xfrm>
            <a:off x="735449" y="2038588"/>
            <a:ext cx="3731538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Cleaning &amp; Feature Engineering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735449" y="2821067"/>
            <a:ext cx="3731538" cy="23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Standardized inconsistent categories and resolved missing values across all fields. Created analytical features including Age Band groupings, ScreenTime Level classifications, Risk Category scoring, and Behavior Type segmentation.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677013" y="1553647"/>
            <a:ext cx="210026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4677013" y="1887855"/>
            <a:ext cx="3731538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1" name="Text 7"/>
          <p:cNvSpPr/>
          <p:nvPr/>
        </p:nvSpPr>
        <p:spPr>
          <a:xfrm>
            <a:off x="4677013" y="2038588"/>
            <a:ext cx="2626638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Visual Exploration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4677013" y="2492812"/>
            <a:ext cx="3731538" cy="23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Developed comprehensive visualizations revealing usage trends, weekday versus weekend patterns, device preferences across demographics, and behavioral differences between urban and rural children.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35449" y="5542240"/>
            <a:ext cx="210026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735449" y="5876449"/>
            <a:ext cx="7673102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5" name="Text 11"/>
          <p:cNvSpPr/>
          <p:nvPr/>
        </p:nvSpPr>
        <p:spPr>
          <a:xfrm>
            <a:off x="735449" y="6027182"/>
            <a:ext cx="3845838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Dependency &amp; Cohort Analysis</a:t>
            </a:r>
            <a:endParaRPr lang="en-US" sz="2050" dirty="0"/>
          </a:p>
        </p:txBody>
      </p:sp>
      <p:sp>
        <p:nvSpPr>
          <p:cNvPr id="16" name="Text 12"/>
          <p:cNvSpPr/>
          <p:nvPr/>
        </p:nvSpPr>
        <p:spPr>
          <a:xfrm>
            <a:off x="735449" y="6481405"/>
            <a:ext cx="7673102" cy="100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Built advanced analytical tools including correlation heatmaps and ridgeline charts. Introduced the Digital Dependency Score metric to quantify concerning usage patterns and identify at-risk groups.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0"/>
            <a:ext cx="768096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756" y="2307074"/>
            <a:ext cx="6456164" cy="36154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5435" y="701873"/>
            <a:ext cx="5526405" cy="558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Dashboard Overview Page</a:t>
            </a:r>
            <a:endParaRPr lang="en-US" sz="3500" dirty="0"/>
          </a:p>
        </p:txBody>
      </p:sp>
      <p:sp>
        <p:nvSpPr>
          <p:cNvPr id="5" name="Shape 1"/>
          <p:cNvSpPr/>
          <p:nvPr/>
        </p:nvSpPr>
        <p:spPr>
          <a:xfrm>
            <a:off x="625435" y="1528405"/>
            <a:ext cx="6064329" cy="1029653"/>
          </a:xfrm>
          <a:prstGeom prst="roundRect">
            <a:avLst>
              <a:gd name="adj" fmla="val 15621"/>
            </a:avLst>
          </a:prstGeom>
          <a:solidFill>
            <a:srgbClr val="CEE6FD"/>
          </a:solidFill>
          <a:ln/>
        </p:spPr>
      </p:sp>
      <p:sp>
        <p:nvSpPr>
          <p:cNvPr id="6" name="Text 2"/>
          <p:cNvSpPr/>
          <p:nvPr/>
        </p:nvSpPr>
        <p:spPr>
          <a:xfrm>
            <a:off x="804148" y="1707118"/>
            <a:ext cx="223385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Total Participants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804148" y="2093476"/>
            <a:ext cx="570690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9,712 children across India providing comprehensive coverage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25435" y="2736771"/>
            <a:ext cx="6064329" cy="1029653"/>
          </a:xfrm>
          <a:prstGeom prst="roundRect">
            <a:avLst>
              <a:gd name="adj" fmla="val 15621"/>
            </a:avLst>
          </a:prstGeom>
          <a:solidFill>
            <a:srgbClr val="CEE6FD"/>
          </a:solidFill>
          <a:ln/>
        </p:spPr>
      </p:sp>
      <p:sp>
        <p:nvSpPr>
          <p:cNvPr id="9" name="Text 5"/>
          <p:cNvSpPr/>
          <p:nvPr/>
        </p:nvSpPr>
        <p:spPr>
          <a:xfrm>
            <a:off x="804148" y="2915483"/>
            <a:ext cx="2235637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Avg Daily Screentime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804148" y="3301841"/>
            <a:ext cx="570690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4.3 hours per day revealing significant digital engagement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5435" y="3945136"/>
            <a:ext cx="6064329" cy="1029653"/>
          </a:xfrm>
          <a:prstGeom prst="roundRect">
            <a:avLst>
              <a:gd name="adj" fmla="val 15621"/>
            </a:avLst>
          </a:prstGeom>
          <a:solidFill>
            <a:srgbClr val="CEE6FD"/>
          </a:solidFill>
          <a:ln/>
        </p:spPr>
      </p:sp>
      <p:sp>
        <p:nvSpPr>
          <p:cNvPr id="12" name="Text 8"/>
          <p:cNvSpPr/>
          <p:nvPr/>
        </p:nvSpPr>
        <p:spPr>
          <a:xfrm>
            <a:off x="804148" y="4123849"/>
            <a:ext cx="2311479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Exceeding Safe Limits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804148" y="4510207"/>
            <a:ext cx="570690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Concerning percentage requiring immediate attention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5435" y="5153501"/>
            <a:ext cx="6064329" cy="1029653"/>
          </a:xfrm>
          <a:prstGeom prst="roundRect">
            <a:avLst>
              <a:gd name="adj" fmla="val 15621"/>
            </a:avLst>
          </a:prstGeom>
          <a:solidFill>
            <a:srgbClr val="CEE6FD"/>
          </a:solidFill>
          <a:ln/>
        </p:spPr>
      </p:sp>
      <p:sp>
        <p:nvSpPr>
          <p:cNvPr id="15" name="Text 11"/>
          <p:cNvSpPr/>
          <p:nvPr/>
        </p:nvSpPr>
        <p:spPr>
          <a:xfrm>
            <a:off x="804148" y="5332214"/>
            <a:ext cx="223385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Highest Usage Group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804148" y="5718572"/>
            <a:ext cx="570690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Teenagers (14-16 yrs) leading screentime metrics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25435" y="6384131"/>
            <a:ext cx="6064329" cy="1143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Overview Page provides instant access to critical metrics while offering seamless navigation through four key sections: Usage Insights, Device &amp; Location Analysis, Health &amp; Risk Assessment, and Executive Summary.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72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Usage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62983"/>
            <a:ext cx="463641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Behavioral Patterns Revealed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615089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Weekend spike: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Children spend significantly more time on screens during weekends compared to weekdays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83092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Recreational dominance: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Over 73% of usage falls into the recreational-focused category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51095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engagement: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4.3 hours daily represents substantial digital immersion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756196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Teen leadership: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Ages 14-16 show the highest usage rates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828" y="1991320"/>
            <a:ext cx="7604284" cy="4277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3790" y="681644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dashboard enables dynamic filtering by urban versus rural location and gender, allowing stakeholders to drill down into specific demographic segments without overwhelming the primary view.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2D0333-FCED-48C6-11BB-01845EB43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42697" y="7787811"/>
            <a:ext cx="1787703" cy="3629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6831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164" y="233839"/>
            <a:ext cx="5141952" cy="28880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4725" y="4170759"/>
            <a:ext cx="5788938" cy="584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Device &amp; Location Insights</a:t>
            </a:r>
            <a:endParaRPr lang="en-US" sz="3650" dirty="0"/>
          </a:p>
        </p:txBody>
      </p:sp>
      <p:sp>
        <p:nvSpPr>
          <p:cNvPr id="5" name="Shape 1"/>
          <p:cNvSpPr/>
          <p:nvPr/>
        </p:nvSpPr>
        <p:spPr>
          <a:xfrm>
            <a:off x="654725" y="5035987"/>
            <a:ext cx="4315539" cy="2021086"/>
          </a:xfrm>
          <a:prstGeom prst="roundRect">
            <a:avLst>
              <a:gd name="adj" fmla="val 8331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64632" y="5245894"/>
            <a:ext cx="2690336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Smartphone Supremacy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64632" y="5650349"/>
            <a:ext cx="3895725" cy="119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Smartphones dominate across all age groups, with particularly strong preference among teenagers. This trend holds consistent in both urban and rural settings.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157311" y="5035987"/>
            <a:ext cx="4315658" cy="2021086"/>
          </a:xfrm>
          <a:prstGeom prst="roundRect">
            <a:avLst>
              <a:gd name="adj" fmla="val 8331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367218" y="5245894"/>
            <a:ext cx="2338507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Urban-Rural Divide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367218" y="5650349"/>
            <a:ext cx="3895844" cy="119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Urban children demonstrate higher overall screentime and access to multiple device types, while rural children show more concentrated smartphone usage.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9660017" y="5035987"/>
            <a:ext cx="4315539" cy="2021086"/>
          </a:xfrm>
          <a:prstGeom prst="roundRect">
            <a:avLst>
              <a:gd name="adj" fmla="val 8331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869924" y="5245894"/>
            <a:ext cx="2338507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Purpose Patterns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869924" y="5650349"/>
            <a:ext cx="3895725" cy="119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Entertainment and mixed-use categories dominate device usage, with educational purposes representing a smaller but important segment that varies by region.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4725" y="7267456"/>
            <a:ext cx="1332095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 band, regional location, and gender filters work together to reveal nuanced device preference patterns across different demographic intersections.</a:t>
            </a:r>
            <a:endParaRPr lang="en-US" sz="14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A662FF-8EB5-B165-0A98-CF429CB01F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42697" y="7787811"/>
            <a:ext cx="1787703" cy="3629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8655"/>
            <a:ext cx="57616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Health &amp; Risk Insights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31062"/>
            <a:ext cx="4196358" cy="3302913"/>
          </a:xfrm>
          <a:prstGeom prst="roundRect">
            <a:avLst>
              <a:gd name="adj" fmla="val 6181"/>
            </a:avLst>
          </a:prstGeom>
          <a:solidFill>
            <a:srgbClr val="CEE6FD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0578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24492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2965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Poor Sleep Quality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45555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Leading health concern linked directly to evening and night-time screen usage patterns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1831062"/>
            <a:ext cx="4196358" cy="3302913"/>
          </a:xfrm>
          <a:prstGeom prst="roundRect">
            <a:avLst>
              <a:gd name="adj" fmla="val 6181"/>
            </a:avLst>
          </a:prstGeom>
          <a:solidFill>
            <a:srgbClr val="CEE6FD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20578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2244923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2965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Eye Strain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3455551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Second most reported issue, particularly acute among smartphone users and extended session participants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1831062"/>
            <a:ext cx="4196358" cy="3302913"/>
          </a:xfrm>
          <a:prstGeom prst="roundRect">
            <a:avLst>
              <a:gd name="adj" fmla="val 6181"/>
            </a:avLst>
          </a:prstGeom>
          <a:solidFill>
            <a:srgbClr val="CEE6FD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20578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224492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2965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Anxiety Issues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345555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Significant mental health correlation observed in high-usage groups, especially teenagers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561594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Critical Correlations</a:t>
            </a:r>
            <a:endParaRPr lang="en-US" sz="2650" dirty="0"/>
          </a:p>
        </p:txBody>
      </p:sp>
      <p:sp>
        <p:nvSpPr>
          <p:cNvPr id="19" name="Text 14"/>
          <p:cNvSpPr/>
          <p:nvPr/>
        </p:nvSpPr>
        <p:spPr>
          <a:xfrm>
            <a:off x="793790" y="626804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Higher screen usage shows strong positive correlation with elevated health risks. Smartphone users report the highest number of cumulative health impacts.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7599521" y="561594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Geographic Patterns</a:t>
            </a:r>
            <a:endParaRPr lang="en-US" sz="2650" dirty="0"/>
          </a:p>
        </p:txBody>
      </p:sp>
      <p:sp>
        <p:nvSpPr>
          <p:cNvPr id="21" name="Text 16"/>
          <p:cNvSpPr/>
          <p:nvPr/>
        </p:nvSpPr>
        <p:spPr>
          <a:xfrm>
            <a:off x="7599521" y="626804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Urban children report marginally higher digital-health issues, potentially due to increased device access and longer usage sessions.</a:t>
            </a:r>
            <a:endParaRPr lang="en-US" sz="17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2D27C2-8C68-9354-D4E6-E2A1238999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42697" y="7787811"/>
            <a:ext cx="1787703" cy="3629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2995" y="2553772"/>
            <a:ext cx="4730115" cy="31219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6032" y="640199"/>
            <a:ext cx="4543187" cy="56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Advanced Analytics</a:t>
            </a:r>
            <a:endParaRPr lang="en-US" sz="35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32" y="1480661"/>
            <a:ext cx="908566" cy="133754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726287" y="1662351"/>
            <a:ext cx="3304103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Health-Screentime Correlation</a:t>
            </a:r>
            <a:endParaRPr lang="en-US" sz="1750" dirty="0"/>
          </a:p>
        </p:txBody>
      </p:sp>
      <p:sp>
        <p:nvSpPr>
          <p:cNvPr id="7" name="Text 2"/>
          <p:cNvSpPr/>
          <p:nvPr/>
        </p:nvSpPr>
        <p:spPr>
          <a:xfrm>
            <a:off x="1726287" y="2055257"/>
            <a:ext cx="6781681" cy="58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Statistical analysis reveals direct relationships between daily screentime duration and reported health issues, with effects accelerating above 6 hours daily.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32" y="2818209"/>
            <a:ext cx="908566" cy="133754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726287" y="2999899"/>
            <a:ext cx="2401133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Age × Device Heatmap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1726287" y="3392805"/>
            <a:ext cx="6781681" cy="58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Visualization exposes how device preferences evolve with age, showing smartphone adoption increasing dramatically from age 10 onwards.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032" y="4155757"/>
            <a:ext cx="908566" cy="133754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726287" y="4337447"/>
            <a:ext cx="2545794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Cohort Pattern Analysis</a:t>
            </a:r>
            <a:endParaRPr lang="en-US" sz="1750" dirty="0"/>
          </a:p>
        </p:txBody>
      </p:sp>
      <p:sp>
        <p:nvSpPr>
          <p:cNvPr id="13" name="Text 6"/>
          <p:cNvSpPr/>
          <p:nvPr/>
        </p:nvSpPr>
        <p:spPr>
          <a:xfrm>
            <a:off x="1726287" y="4730353"/>
            <a:ext cx="6781681" cy="58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Age-based cohorts reveal distinct screentime trajectories, with teenagers showing exponential growth in both duration and dependency indicators.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636032" y="5788581"/>
            <a:ext cx="2472571" cy="599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Low</a:t>
            </a:r>
            <a:endParaRPr lang="en-US" sz="4700" dirty="0"/>
          </a:p>
        </p:txBody>
      </p:sp>
      <p:sp>
        <p:nvSpPr>
          <p:cNvPr id="15" name="Text 8"/>
          <p:cNvSpPr/>
          <p:nvPr/>
        </p:nvSpPr>
        <p:spPr>
          <a:xfrm>
            <a:off x="736521" y="6615232"/>
            <a:ext cx="2271593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Younger Children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636032" y="7008138"/>
            <a:ext cx="2472571" cy="58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Ages 8-10 primarily in low dependency range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3335655" y="5788581"/>
            <a:ext cx="2472571" cy="599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Med</a:t>
            </a:r>
            <a:endParaRPr lang="en-US" sz="4700" dirty="0"/>
          </a:p>
        </p:txBody>
      </p:sp>
      <p:sp>
        <p:nvSpPr>
          <p:cNvPr id="18" name="Text 11"/>
          <p:cNvSpPr/>
          <p:nvPr/>
        </p:nvSpPr>
        <p:spPr>
          <a:xfrm>
            <a:off x="3436144" y="6615232"/>
            <a:ext cx="2271593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Pre-teens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3335655" y="7008138"/>
            <a:ext cx="2472571" cy="58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Ages 11-16 transitioning to medium dependency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035278" y="5788581"/>
            <a:ext cx="2472571" cy="599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High</a:t>
            </a:r>
            <a:endParaRPr lang="en-US" sz="4700" dirty="0"/>
          </a:p>
        </p:txBody>
      </p:sp>
      <p:sp>
        <p:nvSpPr>
          <p:cNvPr id="21" name="Text 14"/>
          <p:cNvSpPr/>
          <p:nvPr/>
        </p:nvSpPr>
        <p:spPr>
          <a:xfrm>
            <a:off x="6135767" y="6615232"/>
            <a:ext cx="2271593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Teenagers</a:t>
            </a:r>
            <a:endParaRPr lang="en-US" sz="1750" dirty="0"/>
          </a:p>
        </p:txBody>
      </p:sp>
      <p:sp>
        <p:nvSpPr>
          <p:cNvPr id="22" name="Text 15"/>
          <p:cNvSpPr/>
          <p:nvPr/>
        </p:nvSpPr>
        <p:spPr>
          <a:xfrm>
            <a:off x="6035278" y="7008138"/>
            <a:ext cx="2472571" cy="58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Ages 17-18 showing concerning high dependency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534" y="513517"/>
            <a:ext cx="4668441" cy="58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Findings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53534" y="1750457"/>
            <a:ext cx="6568321" cy="1677472"/>
          </a:xfrm>
          <a:prstGeom prst="roundRect">
            <a:avLst>
              <a:gd name="adj" fmla="val 654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53534" y="1727597"/>
            <a:ext cx="6568321" cy="91440"/>
          </a:xfrm>
          <a:prstGeom prst="roundRect">
            <a:avLst>
              <a:gd name="adj" fmla="val 183799"/>
            </a:avLst>
          </a:prstGeom>
          <a:solidFill>
            <a:srgbClr val="84C1F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1470422"/>
            <a:ext cx="560189" cy="560189"/>
          </a:xfrm>
          <a:prstGeom prst="roundRect">
            <a:avLst>
              <a:gd name="adj" fmla="val 163231"/>
            </a:avLst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3825538" y="1610439"/>
            <a:ext cx="224076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63084" y="2217301"/>
            <a:ext cx="2435900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Weekend Usage Spike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3084" y="2621161"/>
            <a:ext cx="6149221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Screentime increases consistently on weekends across all demographics, suggesting opportunity for structured alternatives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08545" y="1750457"/>
            <a:ext cx="6568321" cy="1677472"/>
          </a:xfrm>
          <a:prstGeom prst="roundRect">
            <a:avLst>
              <a:gd name="adj" fmla="val 654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08545" y="1727597"/>
            <a:ext cx="6568321" cy="91440"/>
          </a:xfrm>
          <a:prstGeom prst="roundRect">
            <a:avLst>
              <a:gd name="adj" fmla="val 183799"/>
            </a:avLst>
          </a:prstGeom>
          <a:solidFill>
            <a:srgbClr val="84C1FA"/>
          </a:solidFill>
          <a:ln/>
        </p:spPr>
      </p:sp>
      <p:sp>
        <p:nvSpPr>
          <p:cNvPr id="11" name="Shape 9"/>
          <p:cNvSpPr/>
          <p:nvPr/>
        </p:nvSpPr>
        <p:spPr>
          <a:xfrm>
            <a:off x="10412551" y="1470422"/>
            <a:ext cx="560189" cy="560189"/>
          </a:xfrm>
          <a:prstGeom prst="roundRect">
            <a:avLst>
              <a:gd name="adj" fmla="val 163231"/>
            </a:avLst>
          </a:prstGeom>
          <a:solidFill>
            <a:srgbClr val="84C1F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80549" y="1610439"/>
            <a:ext cx="224076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18095" y="2217301"/>
            <a:ext cx="2702123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Smartphone Dominance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18095" y="2621161"/>
            <a:ext cx="6149221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Mobile devices represent primary access point for digital content across every age group and location type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3534" y="3894653"/>
            <a:ext cx="6568321" cy="1677472"/>
          </a:xfrm>
          <a:prstGeom prst="roundRect">
            <a:avLst>
              <a:gd name="adj" fmla="val 6541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534" y="3871793"/>
            <a:ext cx="6568321" cy="91440"/>
          </a:xfrm>
          <a:prstGeom prst="roundRect">
            <a:avLst>
              <a:gd name="adj" fmla="val 183799"/>
            </a:avLst>
          </a:prstGeom>
          <a:solidFill>
            <a:srgbClr val="84C1F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3614618"/>
            <a:ext cx="560189" cy="560189"/>
          </a:xfrm>
          <a:prstGeom prst="roundRect">
            <a:avLst>
              <a:gd name="adj" fmla="val 163231"/>
            </a:avLst>
          </a:prstGeom>
          <a:solidFill>
            <a:srgbClr val="84C1FA"/>
          </a:solidFill>
          <a:ln/>
        </p:spPr>
      </p:sp>
      <p:sp>
        <p:nvSpPr>
          <p:cNvPr id="18" name="Text 16"/>
          <p:cNvSpPr/>
          <p:nvPr/>
        </p:nvSpPr>
        <p:spPr>
          <a:xfrm>
            <a:off x="3825538" y="3754636"/>
            <a:ext cx="224076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63084" y="4361498"/>
            <a:ext cx="2758440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Moderate Range Majority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3084" y="4765358"/>
            <a:ext cx="6149221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 children fall within 3-6 hours daily, representing both risk and opportunity for intervention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08545" y="3894653"/>
            <a:ext cx="6568321" cy="1677472"/>
          </a:xfrm>
          <a:prstGeom prst="roundRect">
            <a:avLst>
              <a:gd name="adj" fmla="val 6541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08545" y="3871793"/>
            <a:ext cx="6568321" cy="91440"/>
          </a:xfrm>
          <a:prstGeom prst="roundRect">
            <a:avLst>
              <a:gd name="adj" fmla="val 183799"/>
            </a:avLst>
          </a:prstGeom>
          <a:solidFill>
            <a:srgbClr val="84C1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12551" y="3614618"/>
            <a:ext cx="560189" cy="560189"/>
          </a:xfrm>
          <a:prstGeom prst="roundRect">
            <a:avLst>
              <a:gd name="adj" fmla="val 163231"/>
            </a:avLst>
          </a:prstGeom>
          <a:solidFill>
            <a:srgbClr val="84C1FA"/>
          </a:solidFill>
          <a:ln/>
        </p:spPr>
      </p:sp>
      <p:sp>
        <p:nvSpPr>
          <p:cNvPr id="24" name="Text 22"/>
          <p:cNvSpPr/>
          <p:nvPr/>
        </p:nvSpPr>
        <p:spPr>
          <a:xfrm>
            <a:off x="10580549" y="3754636"/>
            <a:ext cx="224076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618095" y="4361498"/>
            <a:ext cx="2334220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Teenage Risk Peak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18095" y="4765358"/>
            <a:ext cx="6149221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Adolescents demonstrate highest risk scores and dependency levels, requiring targeted support strategies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53534" y="6038850"/>
            <a:ext cx="6568321" cy="1677472"/>
          </a:xfrm>
          <a:prstGeom prst="roundRect">
            <a:avLst>
              <a:gd name="adj" fmla="val 6541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53534" y="6015990"/>
            <a:ext cx="6568321" cy="91440"/>
          </a:xfrm>
          <a:prstGeom prst="roundRect">
            <a:avLst>
              <a:gd name="adj" fmla="val 183799"/>
            </a:avLst>
          </a:prstGeom>
          <a:solidFill>
            <a:srgbClr val="84C1FA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540" y="5758815"/>
            <a:ext cx="560189" cy="560189"/>
          </a:xfrm>
          <a:prstGeom prst="roundRect">
            <a:avLst>
              <a:gd name="adj" fmla="val 163231"/>
            </a:avLst>
          </a:prstGeom>
          <a:solidFill>
            <a:srgbClr val="84C1FA"/>
          </a:solidFill>
          <a:ln/>
        </p:spPr>
      </p:sp>
      <p:sp>
        <p:nvSpPr>
          <p:cNvPr id="30" name="Text 28"/>
          <p:cNvSpPr/>
          <p:nvPr/>
        </p:nvSpPr>
        <p:spPr>
          <a:xfrm>
            <a:off x="3825538" y="5898833"/>
            <a:ext cx="224076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863084" y="6505694"/>
            <a:ext cx="2558177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Urban Health Concerns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3084" y="6909554"/>
            <a:ext cx="6149221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City-dwelling children report slightly elevated digital-health problems compared to rural counterparts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408545" y="6038850"/>
            <a:ext cx="6568321" cy="1677472"/>
          </a:xfrm>
          <a:prstGeom prst="roundRect">
            <a:avLst>
              <a:gd name="adj" fmla="val 6541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408545" y="6015990"/>
            <a:ext cx="6568321" cy="91440"/>
          </a:xfrm>
          <a:prstGeom prst="roundRect">
            <a:avLst>
              <a:gd name="adj" fmla="val 183799"/>
            </a:avLst>
          </a:prstGeom>
          <a:solidFill>
            <a:srgbClr val="84C1F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12551" y="5758815"/>
            <a:ext cx="560189" cy="560189"/>
          </a:xfrm>
          <a:prstGeom prst="roundRect">
            <a:avLst>
              <a:gd name="adj" fmla="val 163231"/>
            </a:avLst>
          </a:prstGeom>
          <a:solidFill>
            <a:srgbClr val="84C1FA"/>
          </a:solidFill>
          <a:ln/>
        </p:spPr>
      </p:sp>
      <p:sp>
        <p:nvSpPr>
          <p:cNvPr id="36" name="Text 34"/>
          <p:cNvSpPr/>
          <p:nvPr/>
        </p:nvSpPr>
        <p:spPr>
          <a:xfrm>
            <a:off x="10580549" y="5898833"/>
            <a:ext cx="224076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618095" y="6505694"/>
            <a:ext cx="257960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Shifting Usage Purpose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618095" y="6909554"/>
            <a:ext cx="6149221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Recreational usage grows with age while educational applications decline, suggesting need for engagement strategies</a:t>
            </a:r>
            <a:endParaRPr lang="en-US" sz="14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4A2CD1-6B5E-5DF9-0142-82CD71C19632}"/>
              </a:ext>
            </a:extLst>
          </p:cNvPr>
          <p:cNvSpPr/>
          <p:nvPr/>
        </p:nvSpPr>
        <p:spPr>
          <a:xfrm>
            <a:off x="12842697" y="7787811"/>
            <a:ext cx="1787703" cy="3629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385" y="472559"/>
            <a:ext cx="6623685" cy="536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Recommendations &amp; Conclusion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01385" y="1078230"/>
            <a:ext cx="4317206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Evidence-Based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1385" y="1658064"/>
            <a:ext cx="386596" cy="386596"/>
          </a:xfrm>
          <a:prstGeom prst="roundRect">
            <a:avLst>
              <a:gd name="adj" fmla="val 40006"/>
            </a:avLst>
          </a:prstGeom>
          <a:solidFill>
            <a:srgbClr val="CEE6FD"/>
          </a:solidFill>
          <a:ln/>
        </p:spPr>
      </p:sp>
      <p:sp>
        <p:nvSpPr>
          <p:cNvPr id="5" name="Text 3"/>
          <p:cNvSpPr/>
          <p:nvPr/>
        </p:nvSpPr>
        <p:spPr>
          <a:xfrm>
            <a:off x="1159788" y="1717119"/>
            <a:ext cx="2448639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Digital Balance Routines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59788" y="2088594"/>
            <a:ext cx="12869227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 screen-free periods, especially during the hour before bedtime, to improve sleep quality and reduce eye strain.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1385" y="2707005"/>
            <a:ext cx="386596" cy="386596"/>
          </a:xfrm>
          <a:prstGeom prst="roundRect">
            <a:avLst>
              <a:gd name="adj" fmla="val 40006"/>
            </a:avLst>
          </a:prstGeom>
          <a:solidFill>
            <a:srgbClr val="CEE6FD"/>
          </a:solidFill>
          <a:ln/>
        </p:spPr>
      </p:sp>
      <p:sp>
        <p:nvSpPr>
          <p:cNvPr id="8" name="Text 6"/>
          <p:cNvSpPr/>
          <p:nvPr/>
        </p:nvSpPr>
        <p:spPr>
          <a:xfrm>
            <a:off x="1159788" y="2766060"/>
            <a:ext cx="2289096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Purpose-Driven Usage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59788" y="3137535"/>
            <a:ext cx="12869227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Shift the balance toward educational and creative applications while maintaining reasonable recreational time for social development.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1385" y="3755946"/>
            <a:ext cx="386596" cy="386596"/>
          </a:xfrm>
          <a:prstGeom prst="roundRect">
            <a:avLst>
              <a:gd name="adj" fmla="val 40006"/>
            </a:avLst>
          </a:prstGeom>
          <a:solidFill>
            <a:srgbClr val="CEE6FD"/>
          </a:solidFill>
          <a:ln/>
        </p:spPr>
      </p:sp>
      <p:sp>
        <p:nvSpPr>
          <p:cNvPr id="11" name="Text 9"/>
          <p:cNvSpPr/>
          <p:nvPr/>
        </p:nvSpPr>
        <p:spPr>
          <a:xfrm>
            <a:off x="1159788" y="3815001"/>
            <a:ext cx="3011210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Health Awareness Campaigns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59788" y="4186476"/>
            <a:ext cx="12869227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Increase education around eye health exercises, mental wellness practices, and the importance of physical activity breaks.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1385" y="4804886"/>
            <a:ext cx="386596" cy="386596"/>
          </a:xfrm>
          <a:prstGeom prst="roundRect">
            <a:avLst>
              <a:gd name="adj" fmla="val 40006"/>
            </a:avLst>
          </a:prstGeom>
          <a:solidFill>
            <a:srgbClr val="CEE6FD"/>
          </a:solidFill>
          <a:ln/>
        </p:spPr>
      </p:sp>
      <p:sp>
        <p:nvSpPr>
          <p:cNvPr id="14" name="Text 12"/>
          <p:cNvSpPr/>
          <p:nvPr/>
        </p:nvSpPr>
        <p:spPr>
          <a:xfrm>
            <a:off x="1159788" y="4863941"/>
            <a:ext cx="2858929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Technology-Aided Solutions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59788" y="5235416"/>
            <a:ext cx="12869227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Leverage parental control apps and monitoring tools to track usage patterns and enforce healthy limits collaboratively.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1385" y="5853827"/>
            <a:ext cx="386596" cy="386596"/>
          </a:xfrm>
          <a:prstGeom prst="roundRect">
            <a:avLst>
              <a:gd name="adj" fmla="val 40006"/>
            </a:avLst>
          </a:prstGeom>
          <a:solidFill>
            <a:srgbClr val="CEE6FD"/>
          </a:solidFill>
          <a:ln/>
        </p:spPr>
      </p:sp>
      <p:sp>
        <p:nvSpPr>
          <p:cNvPr id="17" name="Text 15"/>
          <p:cNvSpPr/>
          <p:nvPr/>
        </p:nvSpPr>
        <p:spPr>
          <a:xfrm>
            <a:off x="1159788" y="5912882"/>
            <a:ext cx="2747367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Structured Digital Learning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59788" y="6284357"/>
            <a:ext cx="12869227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 high-quality educational content that naturally reduces excessive recreational screen consumption through engagement.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1385" y="6752392"/>
            <a:ext cx="13427631" cy="1004649"/>
          </a:xfrm>
          <a:prstGeom prst="roundRect">
            <a:avLst>
              <a:gd name="adj" fmla="val 15395"/>
            </a:avLst>
          </a:prstGeom>
          <a:solidFill>
            <a:srgbClr val="B5DAFC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92" y="7014805"/>
            <a:ext cx="214789" cy="17180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59788" y="6967061"/>
            <a:ext cx="12697420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Final Insight:</a:t>
            </a: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This dashboard transforms raw screentime data into actionable intelligence, empowering parents, educators, and policymakers to make evidence-based decisions that enhance child digital well-being across India.</a:t>
            </a:r>
            <a:endParaRPr lang="en-US" sz="13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F840C-5699-0FC5-CC82-3B20D3364C3D}"/>
              </a:ext>
            </a:extLst>
          </p:cNvPr>
          <p:cNvSpPr/>
          <p:nvPr/>
        </p:nvSpPr>
        <p:spPr>
          <a:xfrm>
            <a:off x="12842697" y="7787811"/>
            <a:ext cx="1787703" cy="3629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913</Words>
  <Application>Microsoft Office PowerPoint</Application>
  <PresentationFormat>Custom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Instrument Sans Medium</vt:lpstr>
      <vt:lpstr>Arial</vt:lpstr>
      <vt:lpstr>Instrument Sans Semi Bold</vt:lpstr>
      <vt:lpstr>Aptos</vt:lpstr>
      <vt:lpstr>Instrument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Yash Verma</cp:lastModifiedBy>
  <cp:revision>3</cp:revision>
  <cp:lastPrinted>2025-12-05T16:50:21Z</cp:lastPrinted>
  <dcterms:created xsi:type="dcterms:W3CDTF">2025-12-05T15:01:14Z</dcterms:created>
  <dcterms:modified xsi:type="dcterms:W3CDTF">2025-12-05T16:51:30Z</dcterms:modified>
</cp:coreProperties>
</file>
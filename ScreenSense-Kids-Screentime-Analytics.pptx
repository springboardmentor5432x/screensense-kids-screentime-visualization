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4630400" cy="8229600"/>
  <p:notesSz cx="8229600" cy="14630400"/>
  <p:embeddedFontLst>
    <p:embeddedFont>
      <p:font typeface="Instrument Sans Medium" panose="020B0604020202020204" charset="0"/>
      <p:regular r:id="rId14"/>
    </p:embeddedFont>
    <p:embeddedFont>
      <p:font typeface="Instrument Sans Semi Bold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67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CEFD416-3B7F-C46F-685F-2586CDF5F8A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BADF3A-5C3F-22A0-9F34-A298954E46B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660900" y="0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62D16A-83FB-46EE-9266-74EBFF327B3D}" type="datetimeFigureOut">
              <a:rPr lang="en-IN" smtClean="0"/>
              <a:t>06-12-2025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E660B7-C4C0-C0B9-58B0-9E5253901CB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3896975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AF590E-62BC-D000-2B63-D35CD2E3E08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A03FFB-BDBD-478B-91B8-BCC4FCCBD2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032840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673156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3175"/>
            <a:ext cx="576072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2831902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ScreenSense – Kid's Screentime Analytics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4340185"/>
            <a:ext cx="671453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Insights from Indian Kids Screentime 2025 Dataset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280190" y="5034677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By Naresh Patel </a:t>
            </a:r>
            <a:endParaRPr lang="en-US" sz="17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1E3ADB-8B86-ED68-07F7-81EC765960E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842697" y="7787811"/>
            <a:ext cx="1787703" cy="3629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58089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Project Overview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133844"/>
            <a:ext cx="4239816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What This Project Delivers</a:t>
            </a:r>
            <a:endParaRPr lang="en-US" sz="2650" dirty="0"/>
          </a:p>
        </p:txBody>
      </p:sp>
      <p:sp>
        <p:nvSpPr>
          <p:cNvPr id="4" name="Text 2"/>
          <p:cNvSpPr/>
          <p:nvPr/>
        </p:nvSpPr>
        <p:spPr>
          <a:xfrm>
            <a:off x="793790" y="3785949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This comprehensive analytics project examines digital behavior patterns of Indian children through an interactive Power BI dashboard built from 9,712 real-world records.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5078730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The analysis spans critical dimensions including age groups, gender differences, urban-rural divides, device preferences, and health risk factors.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599521" y="3133844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Real-World Impact</a:t>
            </a:r>
            <a:endParaRPr lang="en-US" sz="2650" dirty="0"/>
          </a:p>
        </p:txBody>
      </p:sp>
      <p:sp>
        <p:nvSpPr>
          <p:cNvPr id="7" name="Text 5"/>
          <p:cNvSpPr/>
          <p:nvPr/>
        </p:nvSpPr>
        <p:spPr>
          <a:xfrm>
            <a:off x="7599521" y="3785949"/>
            <a:ext cx="624470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These insights empower </a:t>
            </a:r>
            <a:r>
              <a:rPr lang="en-US" sz="17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parents</a:t>
            </a: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to make informed decisions about screentime limits, help </a:t>
            </a:r>
            <a:r>
              <a:rPr lang="en-US" sz="17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educators</a:t>
            </a: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understand digital learning patterns, and guide </a:t>
            </a:r>
            <a:r>
              <a:rPr lang="en-US" sz="17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policymakers</a:t>
            </a: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in creating evidence-based regulations.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7599521" y="5441633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Dataset Source: Indian Kids Screentime 2025 (Kaggle)</a:t>
            </a:r>
            <a:endParaRPr lang="en-US" sz="17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663721-573C-917F-9198-25152F7AA2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842697" y="7787811"/>
            <a:ext cx="1787703" cy="3629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0"/>
            <a:ext cx="5760720" cy="82296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4427" y="2842141"/>
            <a:ext cx="4663083" cy="254531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35449" y="581858"/>
            <a:ext cx="5253395" cy="65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150"/>
              </a:lnSpc>
              <a:buNone/>
            </a:pPr>
            <a:r>
              <a:rPr lang="en-US" sz="410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Project Workflow</a:t>
            </a:r>
            <a:endParaRPr lang="en-US" sz="4100" dirty="0"/>
          </a:p>
        </p:txBody>
      </p:sp>
      <p:sp>
        <p:nvSpPr>
          <p:cNvPr id="5" name="Text 1"/>
          <p:cNvSpPr/>
          <p:nvPr/>
        </p:nvSpPr>
        <p:spPr>
          <a:xfrm>
            <a:off x="735449" y="1553647"/>
            <a:ext cx="210026" cy="2626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50" dirty="0">
                <a:solidFill>
                  <a:srgbClr val="1E3063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01</a:t>
            </a:r>
            <a:endParaRPr lang="en-US" sz="1650" dirty="0"/>
          </a:p>
        </p:txBody>
      </p:sp>
      <p:sp>
        <p:nvSpPr>
          <p:cNvPr id="6" name="Shape 2"/>
          <p:cNvSpPr/>
          <p:nvPr/>
        </p:nvSpPr>
        <p:spPr>
          <a:xfrm>
            <a:off x="735449" y="1887855"/>
            <a:ext cx="3731538" cy="22860"/>
          </a:xfrm>
          <a:prstGeom prst="rect">
            <a:avLst/>
          </a:prstGeom>
          <a:solidFill>
            <a:srgbClr val="84C1FA"/>
          </a:solidFill>
          <a:ln/>
        </p:spPr>
      </p:sp>
      <p:sp>
        <p:nvSpPr>
          <p:cNvPr id="7" name="Text 3"/>
          <p:cNvSpPr/>
          <p:nvPr/>
        </p:nvSpPr>
        <p:spPr>
          <a:xfrm>
            <a:off x="735449" y="2038588"/>
            <a:ext cx="3731538" cy="656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Data Cleaning &amp; Feature Engineering</a:t>
            </a:r>
            <a:endParaRPr lang="en-US" sz="2050" dirty="0"/>
          </a:p>
        </p:txBody>
      </p:sp>
      <p:sp>
        <p:nvSpPr>
          <p:cNvPr id="8" name="Text 4"/>
          <p:cNvSpPr/>
          <p:nvPr/>
        </p:nvSpPr>
        <p:spPr>
          <a:xfrm>
            <a:off x="735449" y="2821067"/>
            <a:ext cx="3731538" cy="23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Standardized inconsistent categories and resolved missing values across all fields. Created analytical features including Age Band groupings, ScreenTime Level classifications, Risk Category scoring, and Behavior Type segmentation.</a:t>
            </a:r>
            <a:endParaRPr lang="en-US" sz="1650" dirty="0"/>
          </a:p>
        </p:txBody>
      </p:sp>
      <p:sp>
        <p:nvSpPr>
          <p:cNvPr id="9" name="Text 5"/>
          <p:cNvSpPr/>
          <p:nvPr/>
        </p:nvSpPr>
        <p:spPr>
          <a:xfrm>
            <a:off x="4677013" y="1553647"/>
            <a:ext cx="210026" cy="2626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50" dirty="0">
                <a:solidFill>
                  <a:srgbClr val="1E3063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02</a:t>
            </a:r>
            <a:endParaRPr lang="en-US" sz="1650" dirty="0"/>
          </a:p>
        </p:txBody>
      </p:sp>
      <p:sp>
        <p:nvSpPr>
          <p:cNvPr id="10" name="Shape 6"/>
          <p:cNvSpPr/>
          <p:nvPr/>
        </p:nvSpPr>
        <p:spPr>
          <a:xfrm>
            <a:off x="4677013" y="1887855"/>
            <a:ext cx="3731538" cy="22860"/>
          </a:xfrm>
          <a:prstGeom prst="rect">
            <a:avLst/>
          </a:prstGeom>
          <a:solidFill>
            <a:srgbClr val="84C1FA"/>
          </a:solidFill>
          <a:ln/>
        </p:spPr>
      </p:sp>
      <p:sp>
        <p:nvSpPr>
          <p:cNvPr id="11" name="Text 7"/>
          <p:cNvSpPr/>
          <p:nvPr/>
        </p:nvSpPr>
        <p:spPr>
          <a:xfrm>
            <a:off x="4677013" y="2038588"/>
            <a:ext cx="2626638" cy="328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Visual Exploration</a:t>
            </a:r>
            <a:endParaRPr lang="en-US" sz="2050" dirty="0"/>
          </a:p>
        </p:txBody>
      </p:sp>
      <p:sp>
        <p:nvSpPr>
          <p:cNvPr id="12" name="Text 8"/>
          <p:cNvSpPr/>
          <p:nvPr/>
        </p:nvSpPr>
        <p:spPr>
          <a:xfrm>
            <a:off x="4677013" y="2492812"/>
            <a:ext cx="3731538" cy="23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Developed comprehensive visualizations revealing usage trends, weekday versus weekend patterns, device preferences across demographics, and behavioral differences between urban and rural children.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735449" y="5542240"/>
            <a:ext cx="210026" cy="2626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50" dirty="0">
                <a:solidFill>
                  <a:srgbClr val="1E3063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03</a:t>
            </a:r>
            <a:endParaRPr lang="en-US" sz="1650" dirty="0"/>
          </a:p>
        </p:txBody>
      </p:sp>
      <p:sp>
        <p:nvSpPr>
          <p:cNvPr id="14" name="Shape 10"/>
          <p:cNvSpPr/>
          <p:nvPr/>
        </p:nvSpPr>
        <p:spPr>
          <a:xfrm>
            <a:off x="735449" y="5876449"/>
            <a:ext cx="7673102" cy="22860"/>
          </a:xfrm>
          <a:prstGeom prst="rect">
            <a:avLst/>
          </a:prstGeom>
          <a:solidFill>
            <a:srgbClr val="84C1FA"/>
          </a:solidFill>
          <a:ln/>
        </p:spPr>
      </p:sp>
      <p:sp>
        <p:nvSpPr>
          <p:cNvPr id="15" name="Text 11"/>
          <p:cNvSpPr/>
          <p:nvPr/>
        </p:nvSpPr>
        <p:spPr>
          <a:xfrm>
            <a:off x="735449" y="6027182"/>
            <a:ext cx="3845838" cy="328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Dependency &amp; Cohort Analysis</a:t>
            </a:r>
            <a:endParaRPr lang="en-US" sz="2050" dirty="0"/>
          </a:p>
        </p:txBody>
      </p:sp>
      <p:sp>
        <p:nvSpPr>
          <p:cNvPr id="16" name="Text 12"/>
          <p:cNvSpPr/>
          <p:nvPr/>
        </p:nvSpPr>
        <p:spPr>
          <a:xfrm>
            <a:off x="735449" y="6481405"/>
            <a:ext cx="7673102" cy="1008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Built advanced analytical tools including correlation heatmaps and ridgeline charts. Introduced the Digital Dependency Score metric to quantify concerning usage patterns and identify at-risk groups.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0"/>
            <a:ext cx="7680960" cy="82296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0756" y="2307074"/>
            <a:ext cx="6456164" cy="361545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25435" y="701873"/>
            <a:ext cx="5526405" cy="558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350"/>
              </a:lnSpc>
              <a:buNone/>
            </a:pPr>
            <a:r>
              <a:rPr lang="en-US" sz="350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Dashboard Overview Page</a:t>
            </a:r>
            <a:endParaRPr lang="en-US" sz="3500" dirty="0"/>
          </a:p>
        </p:txBody>
      </p:sp>
      <p:sp>
        <p:nvSpPr>
          <p:cNvPr id="5" name="Shape 1"/>
          <p:cNvSpPr/>
          <p:nvPr/>
        </p:nvSpPr>
        <p:spPr>
          <a:xfrm>
            <a:off x="625435" y="1528405"/>
            <a:ext cx="6064329" cy="1029653"/>
          </a:xfrm>
          <a:prstGeom prst="roundRect">
            <a:avLst>
              <a:gd name="adj" fmla="val 15621"/>
            </a:avLst>
          </a:prstGeom>
          <a:solidFill>
            <a:srgbClr val="CEE6FD"/>
          </a:solidFill>
          <a:ln/>
        </p:spPr>
      </p:sp>
      <p:sp>
        <p:nvSpPr>
          <p:cNvPr id="6" name="Text 2"/>
          <p:cNvSpPr/>
          <p:nvPr/>
        </p:nvSpPr>
        <p:spPr>
          <a:xfrm>
            <a:off x="804148" y="1707118"/>
            <a:ext cx="2233851" cy="279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Total Participants</a:t>
            </a:r>
            <a:endParaRPr lang="en-US" sz="1750" dirty="0"/>
          </a:p>
        </p:txBody>
      </p:sp>
      <p:sp>
        <p:nvSpPr>
          <p:cNvPr id="7" name="Text 3"/>
          <p:cNvSpPr/>
          <p:nvPr/>
        </p:nvSpPr>
        <p:spPr>
          <a:xfrm>
            <a:off x="804148" y="2093476"/>
            <a:ext cx="5706904" cy="2858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9,712 children across India providing comprehensive coverage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625435" y="2736771"/>
            <a:ext cx="6064329" cy="1029653"/>
          </a:xfrm>
          <a:prstGeom prst="roundRect">
            <a:avLst>
              <a:gd name="adj" fmla="val 15621"/>
            </a:avLst>
          </a:prstGeom>
          <a:solidFill>
            <a:srgbClr val="CEE6FD"/>
          </a:solidFill>
          <a:ln/>
        </p:spPr>
      </p:sp>
      <p:sp>
        <p:nvSpPr>
          <p:cNvPr id="9" name="Text 5"/>
          <p:cNvSpPr/>
          <p:nvPr/>
        </p:nvSpPr>
        <p:spPr>
          <a:xfrm>
            <a:off x="804148" y="2915483"/>
            <a:ext cx="2235637" cy="279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Avg Daily Screentime</a:t>
            </a:r>
            <a:endParaRPr lang="en-US" sz="1750" dirty="0"/>
          </a:p>
        </p:txBody>
      </p:sp>
      <p:sp>
        <p:nvSpPr>
          <p:cNvPr id="10" name="Text 6"/>
          <p:cNvSpPr/>
          <p:nvPr/>
        </p:nvSpPr>
        <p:spPr>
          <a:xfrm>
            <a:off x="804148" y="3301841"/>
            <a:ext cx="5706904" cy="2858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4.3 hours per day revealing significant digital engagement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25435" y="3945136"/>
            <a:ext cx="6064329" cy="1029653"/>
          </a:xfrm>
          <a:prstGeom prst="roundRect">
            <a:avLst>
              <a:gd name="adj" fmla="val 15621"/>
            </a:avLst>
          </a:prstGeom>
          <a:solidFill>
            <a:srgbClr val="CEE6FD"/>
          </a:solidFill>
          <a:ln/>
        </p:spPr>
      </p:sp>
      <p:sp>
        <p:nvSpPr>
          <p:cNvPr id="12" name="Text 8"/>
          <p:cNvSpPr/>
          <p:nvPr/>
        </p:nvSpPr>
        <p:spPr>
          <a:xfrm>
            <a:off x="804148" y="4123849"/>
            <a:ext cx="2311479" cy="279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Exceeding Safe Limits</a:t>
            </a:r>
            <a:endParaRPr lang="en-US" sz="1750" dirty="0"/>
          </a:p>
        </p:txBody>
      </p:sp>
      <p:sp>
        <p:nvSpPr>
          <p:cNvPr id="13" name="Text 9"/>
          <p:cNvSpPr/>
          <p:nvPr/>
        </p:nvSpPr>
        <p:spPr>
          <a:xfrm>
            <a:off x="804148" y="4510207"/>
            <a:ext cx="5706904" cy="2858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Concerning percentage requiring immediate attention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25435" y="5153501"/>
            <a:ext cx="6064329" cy="1029653"/>
          </a:xfrm>
          <a:prstGeom prst="roundRect">
            <a:avLst>
              <a:gd name="adj" fmla="val 15621"/>
            </a:avLst>
          </a:prstGeom>
          <a:solidFill>
            <a:srgbClr val="CEE6FD"/>
          </a:solidFill>
          <a:ln/>
        </p:spPr>
      </p:sp>
      <p:sp>
        <p:nvSpPr>
          <p:cNvPr id="15" name="Text 11"/>
          <p:cNvSpPr/>
          <p:nvPr/>
        </p:nvSpPr>
        <p:spPr>
          <a:xfrm>
            <a:off x="804148" y="5332214"/>
            <a:ext cx="2233851" cy="279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Highest Usage Group</a:t>
            </a:r>
            <a:endParaRPr lang="en-US" sz="1750" dirty="0"/>
          </a:p>
        </p:txBody>
      </p:sp>
      <p:sp>
        <p:nvSpPr>
          <p:cNvPr id="16" name="Text 12"/>
          <p:cNvSpPr/>
          <p:nvPr/>
        </p:nvSpPr>
        <p:spPr>
          <a:xfrm>
            <a:off x="804148" y="5718572"/>
            <a:ext cx="5706904" cy="2858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Teenagers (14-16 yrs) leading screentime metrics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25435" y="6384131"/>
            <a:ext cx="6064329" cy="1143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The Overview Page provides instant access to critical metrics while offering seamless navigation through four key sections: Usage Insights, Device &amp; Location Analysis, Health &amp; Risk Assessment, and Executive Summary.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87229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Usage Insights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1962983"/>
            <a:ext cx="4636413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Behavioral Patterns Revealed</a:t>
            </a:r>
            <a:endParaRPr lang="en-US" sz="2650" dirty="0"/>
          </a:p>
        </p:txBody>
      </p:sp>
      <p:sp>
        <p:nvSpPr>
          <p:cNvPr id="4" name="Text 2"/>
          <p:cNvSpPr/>
          <p:nvPr/>
        </p:nvSpPr>
        <p:spPr>
          <a:xfrm>
            <a:off x="793790" y="2615089"/>
            <a:ext cx="488501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Weekend spike:</a:t>
            </a: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Children spend significantly more time on screens during weekends compared to weekdays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3783092"/>
            <a:ext cx="488501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Recreational dominance:</a:t>
            </a: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Over 73% of usage falls into the recreational-focused category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93790" y="4951095"/>
            <a:ext cx="48850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Average engagement:</a:t>
            </a: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4.3 hours daily represents substantial digital immersion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5756196"/>
            <a:ext cx="48850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Teen leadership:</a:t>
            </a: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Ages 14-16 show the highest usage rates</a:t>
            </a:r>
            <a:endParaRPr lang="en-US" sz="17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9828" y="1991320"/>
            <a:ext cx="7604284" cy="4277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93790" y="6816447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The dashboard enables dynamic filtering by urban versus rural location and gender, allowing stakeholders to drill down into specific demographic segments without overwhelming the primary view.</a:t>
            </a:r>
            <a:endParaRPr lang="en-US" sz="175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2D0333-FCED-48C6-11BB-01845EB431F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842697" y="7787811"/>
            <a:ext cx="1787703" cy="3629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368319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4164" y="233839"/>
            <a:ext cx="5141952" cy="2888099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54725" y="4170759"/>
            <a:ext cx="5788938" cy="5845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00"/>
              </a:lnSpc>
              <a:buNone/>
            </a:pPr>
            <a:r>
              <a:rPr lang="en-US" sz="365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Device &amp; Location Insights</a:t>
            </a:r>
            <a:endParaRPr lang="en-US" sz="3650" dirty="0"/>
          </a:p>
        </p:txBody>
      </p:sp>
      <p:sp>
        <p:nvSpPr>
          <p:cNvPr id="5" name="Shape 1"/>
          <p:cNvSpPr/>
          <p:nvPr/>
        </p:nvSpPr>
        <p:spPr>
          <a:xfrm>
            <a:off x="654725" y="5035987"/>
            <a:ext cx="4315539" cy="2021086"/>
          </a:xfrm>
          <a:prstGeom prst="roundRect">
            <a:avLst>
              <a:gd name="adj" fmla="val 8331"/>
            </a:avLst>
          </a:prstGeom>
          <a:solidFill>
            <a:srgbClr val="FFFFFF"/>
          </a:solidFill>
          <a:ln w="22860">
            <a:solidFill>
              <a:srgbClr val="B4CCE3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864632" y="5245894"/>
            <a:ext cx="2690336" cy="292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Smartphone Supremacy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864632" y="5650349"/>
            <a:ext cx="3895725" cy="119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Smartphones dominate across all age groups, with particularly strong preference among teenagers. This trend holds consistent in both urban and rural settings.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5157311" y="5035987"/>
            <a:ext cx="4315658" cy="2021086"/>
          </a:xfrm>
          <a:prstGeom prst="roundRect">
            <a:avLst>
              <a:gd name="adj" fmla="val 8331"/>
            </a:avLst>
          </a:prstGeom>
          <a:solidFill>
            <a:srgbClr val="FFFFFF"/>
          </a:solidFill>
          <a:ln w="22860">
            <a:solidFill>
              <a:srgbClr val="B4CCE3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367218" y="5245894"/>
            <a:ext cx="2338507" cy="292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Urban-Rural Divide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5367218" y="5650349"/>
            <a:ext cx="3895844" cy="119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Urban children demonstrate higher overall screentime and access to multiple device types, while rural children show more concentrated smartphone usage.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9660017" y="5035987"/>
            <a:ext cx="4315539" cy="2021086"/>
          </a:xfrm>
          <a:prstGeom prst="roundRect">
            <a:avLst>
              <a:gd name="adj" fmla="val 8331"/>
            </a:avLst>
          </a:prstGeom>
          <a:solidFill>
            <a:srgbClr val="FFFFFF"/>
          </a:solidFill>
          <a:ln w="22860">
            <a:solidFill>
              <a:srgbClr val="B4CCE3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9869924" y="5245894"/>
            <a:ext cx="2338507" cy="292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Purpose Patterns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9869924" y="5650349"/>
            <a:ext cx="3895725" cy="119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Entertainment and mixed-use categories dominate device usage, with educational purposes representing a smaller but important segment that varies by region.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54725" y="7267456"/>
            <a:ext cx="13320951" cy="29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Age band, regional location, and gender filters work together to reveal nuanced device preference patterns across different demographic intersections.</a:t>
            </a:r>
            <a:endParaRPr lang="en-US" sz="145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FA662FF-8EB5-B165-0A98-CF429CB01FD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842697" y="7787811"/>
            <a:ext cx="1787703" cy="3629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68655"/>
            <a:ext cx="576167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Health &amp; Risk Insights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1831062"/>
            <a:ext cx="4196358" cy="3302913"/>
          </a:xfrm>
          <a:prstGeom prst="roundRect">
            <a:avLst>
              <a:gd name="adj" fmla="val 6181"/>
            </a:avLst>
          </a:prstGeom>
          <a:solidFill>
            <a:srgbClr val="CEE6FD"/>
          </a:solidFill>
          <a:ln/>
        </p:spPr>
      </p:sp>
      <p:sp>
        <p:nvSpPr>
          <p:cNvPr id="4" name="Shape 2"/>
          <p:cNvSpPr/>
          <p:nvPr/>
        </p:nvSpPr>
        <p:spPr>
          <a:xfrm>
            <a:off x="1020604" y="2057876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84C1FA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7770" y="2244923"/>
            <a:ext cx="306110" cy="3061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0604" y="296513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Poor Sleep Quality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020604" y="3455551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Leading health concern linked directly to evening and night-time screen usage patterns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5216962" y="1831062"/>
            <a:ext cx="4196358" cy="3302913"/>
          </a:xfrm>
          <a:prstGeom prst="roundRect">
            <a:avLst>
              <a:gd name="adj" fmla="val 6181"/>
            </a:avLst>
          </a:prstGeom>
          <a:solidFill>
            <a:srgbClr val="CEE6FD"/>
          </a:solidFill>
          <a:ln/>
        </p:spPr>
      </p:sp>
      <p:sp>
        <p:nvSpPr>
          <p:cNvPr id="9" name="Shape 6"/>
          <p:cNvSpPr/>
          <p:nvPr/>
        </p:nvSpPr>
        <p:spPr>
          <a:xfrm>
            <a:off x="5443776" y="2057876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84C1FA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30942" y="2244923"/>
            <a:ext cx="306110" cy="30611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43776" y="296513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Eye Strain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5443776" y="3455551"/>
            <a:ext cx="37427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Second most reported issue, particularly acute among smartphone users and extended session participants</a:t>
            </a:r>
            <a:endParaRPr lang="en-US" sz="1750" dirty="0"/>
          </a:p>
        </p:txBody>
      </p:sp>
      <p:sp>
        <p:nvSpPr>
          <p:cNvPr id="13" name="Shape 9"/>
          <p:cNvSpPr/>
          <p:nvPr/>
        </p:nvSpPr>
        <p:spPr>
          <a:xfrm>
            <a:off x="9640133" y="1831062"/>
            <a:ext cx="4196358" cy="3302913"/>
          </a:xfrm>
          <a:prstGeom prst="roundRect">
            <a:avLst>
              <a:gd name="adj" fmla="val 6181"/>
            </a:avLst>
          </a:prstGeom>
          <a:solidFill>
            <a:srgbClr val="CEE6FD"/>
          </a:solidFill>
          <a:ln/>
        </p:spPr>
      </p:sp>
      <p:sp>
        <p:nvSpPr>
          <p:cNvPr id="14" name="Shape 10"/>
          <p:cNvSpPr/>
          <p:nvPr/>
        </p:nvSpPr>
        <p:spPr>
          <a:xfrm>
            <a:off x="9866948" y="2057876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84C1FA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054114" y="2244923"/>
            <a:ext cx="306110" cy="30611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866948" y="296513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Anxiety Issues</a:t>
            </a:r>
            <a:endParaRPr lang="en-US" sz="2200" dirty="0"/>
          </a:p>
        </p:txBody>
      </p:sp>
      <p:sp>
        <p:nvSpPr>
          <p:cNvPr id="17" name="Text 12"/>
          <p:cNvSpPr/>
          <p:nvPr/>
        </p:nvSpPr>
        <p:spPr>
          <a:xfrm>
            <a:off x="9866948" y="3455551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Significant mental health correlation observed in high-usage groups, especially teenagers</a:t>
            </a:r>
            <a:endParaRPr lang="en-US" sz="1750" dirty="0"/>
          </a:p>
        </p:txBody>
      </p:sp>
      <p:sp>
        <p:nvSpPr>
          <p:cNvPr id="18" name="Text 13"/>
          <p:cNvSpPr/>
          <p:nvPr/>
        </p:nvSpPr>
        <p:spPr>
          <a:xfrm>
            <a:off x="793790" y="5615940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Critical Correlations</a:t>
            </a:r>
            <a:endParaRPr lang="en-US" sz="2650" dirty="0"/>
          </a:p>
        </p:txBody>
      </p:sp>
      <p:sp>
        <p:nvSpPr>
          <p:cNvPr id="19" name="Text 14"/>
          <p:cNvSpPr/>
          <p:nvPr/>
        </p:nvSpPr>
        <p:spPr>
          <a:xfrm>
            <a:off x="793790" y="6268045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Higher screen usage shows strong positive correlation with elevated health risks. Smartphone users report the highest number of cumulative health impacts.</a:t>
            </a:r>
            <a:endParaRPr lang="en-US" sz="1750" dirty="0"/>
          </a:p>
        </p:txBody>
      </p:sp>
      <p:sp>
        <p:nvSpPr>
          <p:cNvPr id="20" name="Text 15"/>
          <p:cNvSpPr/>
          <p:nvPr/>
        </p:nvSpPr>
        <p:spPr>
          <a:xfrm>
            <a:off x="7599521" y="5615940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Geographic Patterns</a:t>
            </a:r>
            <a:endParaRPr lang="en-US" sz="2650" dirty="0"/>
          </a:p>
        </p:txBody>
      </p:sp>
      <p:sp>
        <p:nvSpPr>
          <p:cNvPr id="21" name="Text 16"/>
          <p:cNvSpPr/>
          <p:nvPr/>
        </p:nvSpPr>
        <p:spPr>
          <a:xfrm>
            <a:off x="7599521" y="6268045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Urban children report marginally higher digital-health issues, potentially due to increased device access and longer usage sessions.</a:t>
            </a:r>
            <a:endParaRPr lang="en-US" sz="17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32D27C2-8C68-9354-D4E6-E2A1238999A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842697" y="7787811"/>
            <a:ext cx="1787703" cy="3629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0"/>
            <a:ext cx="5760720" cy="82296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2995" y="2553772"/>
            <a:ext cx="4730115" cy="312193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36032" y="640199"/>
            <a:ext cx="4543187" cy="5679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Advanced Analytics</a:t>
            </a:r>
            <a:endParaRPr lang="en-US" sz="3550" dirty="0"/>
          </a:p>
        </p:txBody>
      </p:sp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032" y="1480661"/>
            <a:ext cx="908566" cy="133754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726287" y="1662351"/>
            <a:ext cx="3304103" cy="2839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Health-Screentime Correlation</a:t>
            </a:r>
            <a:endParaRPr lang="en-US" sz="1750" dirty="0"/>
          </a:p>
        </p:txBody>
      </p:sp>
      <p:sp>
        <p:nvSpPr>
          <p:cNvPr id="7" name="Text 2"/>
          <p:cNvSpPr/>
          <p:nvPr/>
        </p:nvSpPr>
        <p:spPr>
          <a:xfrm>
            <a:off x="1726287" y="2055257"/>
            <a:ext cx="6781681" cy="581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Statistical analysis reveals direct relationships between daily screentime duration and reported health issues, with effects accelerating above 6 hours daily.</a:t>
            </a:r>
            <a:endParaRPr lang="en-US" sz="14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032" y="2818209"/>
            <a:ext cx="908566" cy="1337548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1726287" y="2999899"/>
            <a:ext cx="2401133" cy="2839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Age × Device Heatmap</a:t>
            </a:r>
            <a:endParaRPr lang="en-US" sz="1750" dirty="0"/>
          </a:p>
        </p:txBody>
      </p:sp>
      <p:sp>
        <p:nvSpPr>
          <p:cNvPr id="10" name="Text 4"/>
          <p:cNvSpPr/>
          <p:nvPr/>
        </p:nvSpPr>
        <p:spPr>
          <a:xfrm>
            <a:off x="1726287" y="3392805"/>
            <a:ext cx="6781681" cy="581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Visualization exposes how device preferences evolve with age, showing smartphone adoption increasing dramatically from age 10 onwards.</a:t>
            </a:r>
            <a:endParaRPr lang="en-US" sz="140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032" y="4155757"/>
            <a:ext cx="908566" cy="1337548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1726287" y="4337447"/>
            <a:ext cx="2545794" cy="2839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Cohort Pattern Analysis</a:t>
            </a:r>
            <a:endParaRPr lang="en-US" sz="1750" dirty="0"/>
          </a:p>
        </p:txBody>
      </p:sp>
      <p:sp>
        <p:nvSpPr>
          <p:cNvPr id="13" name="Text 6"/>
          <p:cNvSpPr/>
          <p:nvPr/>
        </p:nvSpPr>
        <p:spPr>
          <a:xfrm>
            <a:off x="1726287" y="4730353"/>
            <a:ext cx="6781681" cy="581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Age-based cohorts reveal distinct screentime trajectories, with teenagers showing exponential growth in both duration and dependency indicators.</a:t>
            </a:r>
            <a:endParaRPr lang="en-US" sz="1400" dirty="0"/>
          </a:p>
        </p:txBody>
      </p:sp>
      <p:sp>
        <p:nvSpPr>
          <p:cNvPr id="14" name="Text 7"/>
          <p:cNvSpPr/>
          <p:nvPr/>
        </p:nvSpPr>
        <p:spPr>
          <a:xfrm>
            <a:off x="636032" y="5788581"/>
            <a:ext cx="2472571" cy="599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700"/>
              </a:lnSpc>
              <a:buNone/>
            </a:pPr>
            <a:r>
              <a:rPr lang="en-US" sz="470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Low</a:t>
            </a:r>
            <a:endParaRPr lang="en-US" sz="4700" dirty="0"/>
          </a:p>
        </p:txBody>
      </p:sp>
      <p:sp>
        <p:nvSpPr>
          <p:cNvPr id="15" name="Text 8"/>
          <p:cNvSpPr/>
          <p:nvPr/>
        </p:nvSpPr>
        <p:spPr>
          <a:xfrm>
            <a:off x="736521" y="6615232"/>
            <a:ext cx="2271593" cy="2839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Younger Children</a:t>
            </a:r>
            <a:endParaRPr lang="en-US" sz="1750" dirty="0"/>
          </a:p>
        </p:txBody>
      </p:sp>
      <p:sp>
        <p:nvSpPr>
          <p:cNvPr id="16" name="Text 9"/>
          <p:cNvSpPr/>
          <p:nvPr/>
        </p:nvSpPr>
        <p:spPr>
          <a:xfrm>
            <a:off x="636032" y="7008138"/>
            <a:ext cx="2472571" cy="581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Ages 8-10 primarily in low dependency range</a:t>
            </a:r>
            <a:endParaRPr lang="en-US" sz="1400" dirty="0"/>
          </a:p>
        </p:txBody>
      </p:sp>
      <p:sp>
        <p:nvSpPr>
          <p:cNvPr id="17" name="Text 10"/>
          <p:cNvSpPr/>
          <p:nvPr/>
        </p:nvSpPr>
        <p:spPr>
          <a:xfrm>
            <a:off x="3335655" y="5788581"/>
            <a:ext cx="2472571" cy="599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700"/>
              </a:lnSpc>
              <a:buNone/>
            </a:pPr>
            <a:r>
              <a:rPr lang="en-US" sz="470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Med</a:t>
            </a:r>
            <a:endParaRPr lang="en-US" sz="4700" dirty="0"/>
          </a:p>
        </p:txBody>
      </p:sp>
      <p:sp>
        <p:nvSpPr>
          <p:cNvPr id="18" name="Text 11"/>
          <p:cNvSpPr/>
          <p:nvPr/>
        </p:nvSpPr>
        <p:spPr>
          <a:xfrm>
            <a:off x="3436144" y="6615232"/>
            <a:ext cx="2271593" cy="2839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Pre-teens</a:t>
            </a:r>
            <a:endParaRPr lang="en-US" sz="1750" dirty="0"/>
          </a:p>
        </p:txBody>
      </p:sp>
      <p:sp>
        <p:nvSpPr>
          <p:cNvPr id="19" name="Text 12"/>
          <p:cNvSpPr/>
          <p:nvPr/>
        </p:nvSpPr>
        <p:spPr>
          <a:xfrm>
            <a:off x="3335655" y="7008138"/>
            <a:ext cx="2472571" cy="581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Ages 11-16 transitioning to medium dependency</a:t>
            </a:r>
            <a:endParaRPr lang="en-US" sz="1400" dirty="0"/>
          </a:p>
        </p:txBody>
      </p:sp>
      <p:sp>
        <p:nvSpPr>
          <p:cNvPr id="20" name="Text 13"/>
          <p:cNvSpPr/>
          <p:nvPr/>
        </p:nvSpPr>
        <p:spPr>
          <a:xfrm>
            <a:off x="6035278" y="5788581"/>
            <a:ext cx="2472571" cy="599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700"/>
              </a:lnSpc>
              <a:buNone/>
            </a:pPr>
            <a:r>
              <a:rPr lang="en-US" sz="470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High</a:t>
            </a:r>
            <a:endParaRPr lang="en-US" sz="4700" dirty="0"/>
          </a:p>
        </p:txBody>
      </p:sp>
      <p:sp>
        <p:nvSpPr>
          <p:cNvPr id="21" name="Text 14"/>
          <p:cNvSpPr/>
          <p:nvPr/>
        </p:nvSpPr>
        <p:spPr>
          <a:xfrm>
            <a:off x="6135767" y="6615232"/>
            <a:ext cx="2271593" cy="2839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175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Teenagers</a:t>
            </a:r>
            <a:endParaRPr lang="en-US" sz="1750" dirty="0"/>
          </a:p>
        </p:txBody>
      </p:sp>
      <p:sp>
        <p:nvSpPr>
          <p:cNvPr id="22" name="Text 15"/>
          <p:cNvSpPr/>
          <p:nvPr/>
        </p:nvSpPr>
        <p:spPr>
          <a:xfrm>
            <a:off x="6035278" y="7008138"/>
            <a:ext cx="2472571" cy="581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Ages 17-18 showing concerning high dependency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3534" y="513517"/>
            <a:ext cx="4668441" cy="583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50"/>
              </a:lnSpc>
              <a:buNone/>
            </a:pPr>
            <a:r>
              <a:rPr lang="en-US" sz="365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Key Findings</a:t>
            </a:r>
            <a:endParaRPr lang="en-US" sz="3650" dirty="0"/>
          </a:p>
        </p:txBody>
      </p:sp>
      <p:sp>
        <p:nvSpPr>
          <p:cNvPr id="3" name="Shape 1"/>
          <p:cNvSpPr/>
          <p:nvPr/>
        </p:nvSpPr>
        <p:spPr>
          <a:xfrm>
            <a:off x="653534" y="1750457"/>
            <a:ext cx="6568321" cy="1677472"/>
          </a:xfrm>
          <a:prstGeom prst="roundRect">
            <a:avLst>
              <a:gd name="adj" fmla="val 6541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653534" y="1727597"/>
            <a:ext cx="6568321" cy="91440"/>
          </a:xfrm>
          <a:prstGeom prst="roundRect">
            <a:avLst>
              <a:gd name="adj" fmla="val 183799"/>
            </a:avLst>
          </a:prstGeom>
          <a:solidFill>
            <a:srgbClr val="84C1FA"/>
          </a:solidFill>
          <a:ln/>
        </p:spPr>
      </p:sp>
      <p:sp>
        <p:nvSpPr>
          <p:cNvPr id="5" name="Shape 3"/>
          <p:cNvSpPr/>
          <p:nvPr/>
        </p:nvSpPr>
        <p:spPr>
          <a:xfrm>
            <a:off x="3657540" y="1470422"/>
            <a:ext cx="560189" cy="560189"/>
          </a:xfrm>
          <a:prstGeom prst="roundRect">
            <a:avLst>
              <a:gd name="adj" fmla="val 163231"/>
            </a:avLst>
          </a:prstGeom>
          <a:solidFill>
            <a:srgbClr val="84C1FA"/>
          </a:solidFill>
          <a:ln/>
        </p:spPr>
      </p:sp>
      <p:sp>
        <p:nvSpPr>
          <p:cNvPr id="6" name="Text 4"/>
          <p:cNvSpPr/>
          <p:nvPr/>
        </p:nvSpPr>
        <p:spPr>
          <a:xfrm>
            <a:off x="3825538" y="1610439"/>
            <a:ext cx="224076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1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863084" y="2217301"/>
            <a:ext cx="2435900" cy="2918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Weekend Usage Spike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3084" y="2621161"/>
            <a:ext cx="6149221" cy="597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Screentime increases consistently on weekends across all demographics, suggesting opportunity for structured alternatives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408545" y="1750457"/>
            <a:ext cx="6568321" cy="1677472"/>
          </a:xfrm>
          <a:prstGeom prst="roundRect">
            <a:avLst>
              <a:gd name="adj" fmla="val 6541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7408545" y="1727597"/>
            <a:ext cx="6568321" cy="91440"/>
          </a:xfrm>
          <a:prstGeom prst="roundRect">
            <a:avLst>
              <a:gd name="adj" fmla="val 183799"/>
            </a:avLst>
          </a:prstGeom>
          <a:solidFill>
            <a:srgbClr val="84C1FA"/>
          </a:solidFill>
          <a:ln/>
        </p:spPr>
      </p:sp>
      <p:sp>
        <p:nvSpPr>
          <p:cNvPr id="11" name="Shape 9"/>
          <p:cNvSpPr/>
          <p:nvPr/>
        </p:nvSpPr>
        <p:spPr>
          <a:xfrm>
            <a:off x="10412551" y="1470422"/>
            <a:ext cx="560189" cy="560189"/>
          </a:xfrm>
          <a:prstGeom prst="roundRect">
            <a:avLst>
              <a:gd name="adj" fmla="val 163231"/>
            </a:avLst>
          </a:prstGeom>
          <a:solidFill>
            <a:srgbClr val="84C1FA"/>
          </a:solidFill>
          <a:ln/>
        </p:spPr>
      </p:sp>
      <p:sp>
        <p:nvSpPr>
          <p:cNvPr id="12" name="Text 10"/>
          <p:cNvSpPr/>
          <p:nvPr/>
        </p:nvSpPr>
        <p:spPr>
          <a:xfrm>
            <a:off x="10580549" y="1610439"/>
            <a:ext cx="224076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2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7618095" y="2217301"/>
            <a:ext cx="2702123" cy="2918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Smartphone Dominance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618095" y="2621161"/>
            <a:ext cx="6149221" cy="597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Mobile devices represent primary access point for digital content across every age group and location type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53534" y="3894653"/>
            <a:ext cx="6568321" cy="1677472"/>
          </a:xfrm>
          <a:prstGeom prst="roundRect">
            <a:avLst>
              <a:gd name="adj" fmla="val 6541"/>
            </a:avLst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653534" y="3871793"/>
            <a:ext cx="6568321" cy="91440"/>
          </a:xfrm>
          <a:prstGeom prst="roundRect">
            <a:avLst>
              <a:gd name="adj" fmla="val 183799"/>
            </a:avLst>
          </a:prstGeom>
          <a:solidFill>
            <a:srgbClr val="84C1FA"/>
          </a:solidFill>
          <a:ln/>
        </p:spPr>
      </p:sp>
      <p:sp>
        <p:nvSpPr>
          <p:cNvPr id="17" name="Shape 15"/>
          <p:cNvSpPr/>
          <p:nvPr/>
        </p:nvSpPr>
        <p:spPr>
          <a:xfrm>
            <a:off x="3657540" y="3614618"/>
            <a:ext cx="560189" cy="560189"/>
          </a:xfrm>
          <a:prstGeom prst="roundRect">
            <a:avLst>
              <a:gd name="adj" fmla="val 163231"/>
            </a:avLst>
          </a:prstGeom>
          <a:solidFill>
            <a:srgbClr val="84C1FA"/>
          </a:solidFill>
          <a:ln/>
        </p:spPr>
      </p:sp>
      <p:sp>
        <p:nvSpPr>
          <p:cNvPr id="18" name="Text 16"/>
          <p:cNvSpPr/>
          <p:nvPr/>
        </p:nvSpPr>
        <p:spPr>
          <a:xfrm>
            <a:off x="3825538" y="3754636"/>
            <a:ext cx="224076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3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863084" y="4361498"/>
            <a:ext cx="2758440" cy="2918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Moderate Range Majority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63084" y="4765358"/>
            <a:ext cx="6149221" cy="597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Most children fall within 3-6 hours daily, representing both risk and opportunity for intervention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7408545" y="3894653"/>
            <a:ext cx="6568321" cy="1677472"/>
          </a:xfrm>
          <a:prstGeom prst="roundRect">
            <a:avLst>
              <a:gd name="adj" fmla="val 6541"/>
            </a:avLst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7408545" y="3871793"/>
            <a:ext cx="6568321" cy="91440"/>
          </a:xfrm>
          <a:prstGeom prst="roundRect">
            <a:avLst>
              <a:gd name="adj" fmla="val 183799"/>
            </a:avLst>
          </a:prstGeom>
          <a:solidFill>
            <a:srgbClr val="84C1FA"/>
          </a:solidFill>
          <a:ln/>
        </p:spPr>
      </p:sp>
      <p:sp>
        <p:nvSpPr>
          <p:cNvPr id="23" name="Shape 21"/>
          <p:cNvSpPr/>
          <p:nvPr/>
        </p:nvSpPr>
        <p:spPr>
          <a:xfrm>
            <a:off x="10412551" y="3614618"/>
            <a:ext cx="560189" cy="560189"/>
          </a:xfrm>
          <a:prstGeom prst="roundRect">
            <a:avLst>
              <a:gd name="adj" fmla="val 163231"/>
            </a:avLst>
          </a:prstGeom>
          <a:solidFill>
            <a:srgbClr val="84C1FA"/>
          </a:solidFill>
          <a:ln/>
        </p:spPr>
      </p:sp>
      <p:sp>
        <p:nvSpPr>
          <p:cNvPr id="24" name="Text 22"/>
          <p:cNvSpPr/>
          <p:nvPr/>
        </p:nvSpPr>
        <p:spPr>
          <a:xfrm>
            <a:off x="10580549" y="3754636"/>
            <a:ext cx="224076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4</a:t>
            </a:r>
            <a:endParaRPr lang="en-US" sz="1750" dirty="0"/>
          </a:p>
        </p:txBody>
      </p:sp>
      <p:sp>
        <p:nvSpPr>
          <p:cNvPr id="25" name="Text 23"/>
          <p:cNvSpPr/>
          <p:nvPr/>
        </p:nvSpPr>
        <p:spPr>
          <a:xfrm>
            <a:off x="7618095" y="4361498"/>
            <a:ext cx="2334220" cy="2918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Teenage Risk Peak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618095" y="4765358"/>
            <a:ext cx="6149221" cy="597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Adolescents demonstrate highest risk scores and dependency levels, requiring targeted support strategies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653534" y="6038850"/>
            <a:ext cx="6568321" cy="1677472"/>
          </a:xfrm>
          <a:prstGeom prst="roundRect">
            <a:avLst>
              <a:gd name="adj" fmla="val 6541"/>
            </a:avLst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653534" y="6015990"/>
            <a:ext cx="6568321" cy="91440"/>
          </a:xfrm>
          <a:prstGeom prst="roundRect">
            <a:avLst>
              <a:gd name="adj" fmla="val 183799"/>
            </a:avLst>
          </a:prstGeom>
          <a:solidFill>
            <a:srgbClr val="84C1FA"/>
          </a:solidFill>
          <a:ln/>
        </p:spPr>
      </p:sp>
      <p:sp>
        <p:nvSpPr>
          <p:cNvPr id="29" name="Shape 27"/>
          <p:cNvSpPr/>
          <p:nvPr/>
        </p:nvSpPr>
        <p:spPr>
          <a:xfrm>
            <a:off x="3657540" y="5758815"/>
            <a:ext cx="560189" cy="560189"/>
          </a:xfrm>
          <a:prstGeom prst="roundRect">
            <a:avLst>
              <a:gd name="adj" fmla="val 163231"/>
            </a:avLst>
          </a:prstGeom>
          <a:solidFill>
            <a:srgbClr val="84C1FA"/>
          </a:solidFill>
          <a:ln/>
        </p:spPr>
      </p:sp>
      <p:sp>
        <p:nvSpPr>
          <p:cNvPr id="30" name="Text 28"/>
          <p:cNvSpPr/>
          <p:nvPr/>
        </p:nvSpPr>
        <p:spPr>
          <a:xfrm>
            <a:off x="3825538" y="5898833"/>
            <a:ext cx="224076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5</a:t>
            </a:r>
            <a:endParaRPr lang="en-US" sz="1750" dirty="0"/>
          </a:p>
        </p:txBody>
      </p:sp>
      <p:sp>
        <p:nvSpPr>
          <p:cNvPr id="31" name="Text 29"/>
          <p:cNvSpPr/>
          <p:nvPr/>
        </p:nvSpPr>
        <p:spPr>
          <a:xfrm>
            <a:off x="863084" y="6505694"/>
            <a:ext cx="2558177" cy="2918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Urban Health Concerns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63084" y="6909554"/>
            <a:ext cx="6149221" cy="597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City-dwelling children report slightly elevated digital-health problems compared to rural counterparts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7408545" y="6038850"/>
            <a:ext cx="6568321" cy="1677472"/>
          </a:xfrm>
          <a:prstGeom prst="roundRect">
            <a:avLst>
              <a:gd name="adj" fmla="val 6541"/>
            </a:avLst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7408545" y="6015990"/>
            <a:ext cx="6568321" cy="91440"/>
          </a:xfrm>
          <a:prstGeom prst="roundRect">
            <a:avLst>
              <a:gd name="adj" fmla="val 183799"/>
            </a:avLst>
          </a:prstGeom>
          <a:solidFill>
            <a:srgbClr val="84C1FA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12551" y="5758815"/>
            <a:ext cx="560189" cy="560189"/>
          </a:xfrm>
          <a:prstGeom prst="roundRect">
            <a:avLst>
              <a:gd name="adj" fmla="val 163231"/>
            </a:avLst>
          </a:prstGeom>
          <a:solidFill>
            <a:srgbClr val="84C1FA"/>
          </a:solidFill>
          <a:ln/>
        </p:spPr>
      </p:sp>
      <p:sp>
        <p:nvSpPr>
          <p:cNvPr id="36" name="Text 34"/>
          <p:cNvSpPr/>
          <p:nvPr/>
        </p:nvSpPr>
        <p:spPr>
          <a:xfrm>
            <a:off x="10580549" y="5898833"/>
            <a:ext cx="224076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6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7618095" y="6505694"/>
            <a:ext cx="2579608" cy="2918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Shifting Usage Purpose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618095" y="6909554"/>
            <a:ext cx="6149221" cy="597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Recreational usage grows with age while educational applications decline, suggesting need for engagement strategies</a:t>
            </a:r>
            <a:endParaRPr lang="en-US" sz="145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04A2CD1-6B5E-5DF9-0142-82CD71C19632}"/>
              </a:ext>
            </a:extLst>
          </p:cNvPr>
          <p:cNvSpPr/>
          <p:nvPr/>
        </p:nvSpPr>
        <p:spPr>
          <a:xfrm>
            <a:off x="12842697" y="7787811"/>
            <a:ext cx="1787703" cy="3629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1385" y="472559"/>
            <a:ext cx="6623685" cy="5369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200"/>
              </a:lnSpc>
              <a:buNone/>
            </a:pPr>
            <a:r>
              <a:rPr lang="en-US" sz="335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Recommendations &amp; Conclusion</a:t>
            </a:r>
            <a:endParaRPr lang="en-US" sz="3350" dirty="0"/>
          </a:p>
        </p:txBody>
      </p:sp>
      <p:sp>
        <p:nvSpPr>
          <p:cNvPr id="3" name="Text 1"/>
          <p:cNvSpPr/>
          <p:nvPr/>
        </p:nvSpPr>
        <p:spPr>
          <a:xfrm>
            <a:off x="601385" y="1078230"/>
            <a:ext cx="4317206" cy="322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091C5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Evidence-Based Recommendations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01385" y="1658064"/>
            <a:ext cx="386596" cy="386596"/>
          </a:xfrm>
          <a:prstGeom prst="roundRect">
            <a:avLst>
              <a:gd name="adj" fmla="val 40006"/>
            </a:avLst>
          </a:prstGeom>
          <a:solidFill>
            <a:srgbClr val="CEE6FD"/>
          </a:solidFill>
          <a:ln/>
        </p:spPr>
      </p:sp>
      <p:sp>
        <p:nvSpPr>
          <p:cNvPr id="5" name="Text 3"/>
          <p:cNvSpPr/>
          <p:nvPr/>
        </p:nvSpPr>
        <p:spPr>
          <a:xfrm>
            <a:off x="1159788" y="1717119"/>
            <a:ext cx="2448639" cy="2684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5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Digital Balance Routines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159788" y="2088594"/>
            <a:ext cx="12869227" cy="2747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Implement screen-free periods, especially during the hour before bedtime, to improve sleep quality and reduce eye strain.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1385" y="2707005"/>
            <a:ext cx="386596" cy="386596"/>
          </a:xfrm>
          <a:prstGeom prst="roundRect">
            <a:avLst>
              <a:gd name="adj" fmla="val 40006"/>
            </a:avLst>
          </a:prstGeom>
          <a:solidFill>
            <a:srgbClr val="CEE6FD"/>
          </a:solidFill>
          <a:ln/>
        </p:spPr>
      </p:sp>
      <p:sp>
        <p:nvSpPr>
          <p:cNvPr id="8" name="Text 6"/>
          <p:cNvSpPr/>
          <p:nvPr/>
        </p:nvSpPr>
        <p:spPr>
          <a:xfrm>
            <a:off x="1159788" y="2766060"/>
            <a:ext cx="2289096" cy="2684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5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Purpose-Driven Usage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159788" y="3137535"/>
            <a:ext cx="12869227" cy="2747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Shift the balance toward educational and creative applications while maintaining reasonable recreational time for social development.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1385" y="3755946"/>
            <a:ext cx="386596" cy="386596"/>
          </a:xfrm>
          <a:prstGeom prst="roundRect">
            <a:avLst>
              <a:gd name="adj" fmla="val 40006"/>
            </a:avLst>
          </a:prstGeom>
          <a:solidFill>
            <a:srgbClr val="CEE6FD"/>
          </a:solidFill>
          <a:ln/>
        </p:spPr>
      </p:sp>
      <p:sp>
        <p:nvSpPr>
          <p:cNvPr id="11" name="Text 9"/>
          <p:cNvSpPr/>
          <p:nvPr/>
        </p:nvSpPr>
        <p:spPr>
          <a:xfrm>
            <a:off x="1159788" y="3815001"/>
            <a:ext cx="3011210" cy="2684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5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Health Awareness Campaigns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159788" y="4186476"/>
            <a:ext cx="12869227" cy="2747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Increase education around eye health exercises, mental wellness practices, and the importance of physical activity breaks.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1385" y="4804886"/>
            <a:ext cx="386596" cy="386596"/>
          </a:xfrm>
          <a:prstGeom prst="roundRect">
            <a:avLst>
              <a:gd name="adj" fmla="val 40006"/>
            </a:avLst>
          </a:prstGeom>
          <a:solidFill>
            <a:srgbClr val="CEE6FD"/>
          </a:solidFill>
          <a:ln/>
        </p:spPr>
      </p:sp>
      <p:sp>
        <p:nvSpPr>
          <p:cNvPr id="14" name="Text 12"/>
          <p:cNvSpPr/>
          <p:nvPr/>
        </p:nvSpPr>
        <p:spPr>
          <a:xfrm>
            <a:off x="1159788" y="4863941"/>
            <a:ext cx="2858929" cy="2684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5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Technology-Aided Solutions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159788" y="5235416"/>
            <a:ext cx="12869227" cy="2747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Leverage parental control apps and monitoring tools to track usage patterns and enforce healthy limits collaboratively.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1385" y="5853827"/>
            <a:ext cx="386596" cy="386596"/>
          </a:xfrm>
          <a:prstGeom prst="roundRect">
            <a:avLst>
              <a:gd name="adj" fmla="val 40006"/>
            </a:avLst>
          </a:prstGeom>
          <a:solidFill>
            <a:srgbClr val="CEE6FD"/>
          </a:solidFill>
          <a:ln/>
        </p:spPr>
      </p:sp>
      <p:sp>
        <p:nvSpPr>
          <p:cNvPr id="17" name="Text 15"/>
          <p:cNvSpPr/>
          <p:nvPr/>
        </p:nvSpPr>
        <p:spPr>
          <a:xfrm>
            <a:off x="1159788" y="5912882"/>
            <a:ext cx="2747367" cy="2684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50" dirty="0">
                <a:solidFill>
                  <a:srgbClr val="1E3063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Structured Digital Learning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159788" y="6284357"/>
            <a:ext cx="12869227" cy="2747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Provide high-quality educational content that naturally reduces excessive recreational screen consumption through engagement.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1385" y="6752392"/>
            <a:ext cx="13427631" cy="1004649"/>
          </a:xfrm>
          <a:prstGeom prst="roundRect">
            <a:avLst>
              <a:gd name="adj" fmla="val 15395"/>
            </a:avLst>
          </a:prstGeom>
          <a:solidFill>
            <a:srgbClr val="B5DAFC"/>
          </a:solidFill>
          <a:ln/>
        </p:spPr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92" y="7014805"/>
            <a:ext cx="214789" cy="171807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159788" y="6967061"/>
            <a:ext cx="12697420" cy="54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Final Insight:</a:t>
            </a:r>
            <a:r>
              <a:rPr lang="en-US" sz="135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This dashboard transforms raw screentime data into actionable intelligence, empowering parents, educators, and policymakers to make evidence-based decisions that enhance child digital well-being across India.</a:t>
            </a:r>
            <a:endParaRPr lang="en-US" sz="13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7AF840C-5699-0FC5-CC82-3B20D3364C3D}"/>
              </a:ext>
            </a:extLst>
          </p:cNvPr>
          <p:cNvSpPr/>
          <p:nvPr/>
        </p:nvSpPr>
        <p:spPr>
          <a:xfrm>
            <a:off x="12842697" y="7787811"/>
            <a:ext cx="1787703" cy="3629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913</Words>
  <Application>Microsoft Office PowerPoint</Application>
  <PresentationFormat>Custom</PresentationFormat>
  <Paragraphs>114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Instrument Sans Semi Bold</vt:lpstr>
      <vt:lpstr>Instrument Sans Medium</vt:lpstr>
      <vt:lpstr>Instrument Sans Light</vt:lpstr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Naresh Patel</cp:lastModifiedBy>
  <cp:revision>4</cp:revision>
  <cp:lastPrinted>2025-12-05T16:50:21Z</cp:lastPrinted>
  <dcterms:created xsi:type="dcterms:W3CDTF">2025-12-05T15:01:14Z</dcterms:created>
  <dcterms:modified xsi:type="dcterms:W3CDTF">2025-12-06T13:07:05Z</dcterms:modified>
</cp:coreProperties>
</file>
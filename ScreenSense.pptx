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7"/>
  </p:notesMasterIdLst>
  <p:sldIdLst>
    <p:sldId id="256" r:id="rId2"/>
    <p:sldId id="298" r:id="rId3"/>
    <p:sldId id="299" r:id="rId4"/>
    <p:sldId id="300" r:id="rId5"/>
    <p:sldId id="301" r:id="rId6"/>
    <p:sldId id="286" r:id="rId7"/>
    <p:sldId id="287" r:id="rId8"/>
    <p:sldId id="288" r:id="rId9"/>
    <p:sldId id="289" r:id="rId10"/>
    <p:sldId id="257" r:id="rId11"/>
    <p:sldId id="259" r:id="rId12"/>
    <p:sldId id="264" r:id="rId13"/>
    <p:sldId id="265" r:id="rId14"/>
    <p:sldId id="261" r:id="rId15"/>
    <p:sldId id="263" r:id="rId16"/>
    <p:sldId id="260" r:id="rId17"/>
    <p:sldId id="262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E5397-0ADB-47F2-A998-E2575605E78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DFE17-C4D5-474F-92F1-55995AE2B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DFE17-C4D5-474F-92F1-55995AE2B914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719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DFE17-C4D5-474F-92F1-55995AE2B914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582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B1D5-68A6-B2E7-F47D-453002C92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>
                <a:solidFill>
                  <a:srgbClr val="FFFF00"/>
                </a:solidFill>
              </a:rPr>
              <a:t>ScreenSense:Kids</a:t>
            </a:r>
            <a:r>
              <a:rPr lang="en-IN" dirty="0">
                <a:solidFill>
                  <a:srgbClr val="FFFF00"/>
                </a:solidFill>
              </a:rPr>
              <a:t>’ Screentime Visualization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56869-D1CA-BB4F-9383-59B8E7E3F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17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B882-7291-4EA9-D1DB-5E0397D7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08D0E-541B-9E38-D6BA-F4E8A925E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</a:rPr>
              <a:t>1. Introduction:</a:t>
            </a:r>
          </a:p>
          <a:p>
            <a:r>
              <a:rPr lang="en-US" dirty="0"/>
              <a:t>Project Overview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Expected Outcomes</a:t>
            </a:r>
          </a:p>
          <a:p>
            <a:r>
              <a:rPr lang="en-US" sz="2000" b="1" dirty="0">
                <a:solidFill>
                  <a:srgbClr val="FFFF00"/>
                </a:solidFill>
              </a:rPr>
              <a:t>2. Dataset Description &amp; Tools:</a:t>
            </a:r>
          </a:p>
          <a:p>
            <a:r>
              <a:rPr lang="en-US" dirty="0"/>
              <a:t>Dataset Source &amp; Structure</a:t>
            </a:r>
          </a:p>
          <a:p>
            <a:r>
              <a:rPr lang="en-US" dirty="0"/>
              <a:t>Features and Attributes</a:t>
            </a:r>
          </a:p>
          <a:p>
            <a:r>
              <a:rPr lang="en-US" dirty="0"/>
              <a:t>Tools &amp; Technologies 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07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84722E-C533-EDFD-E4AB-AB53CC43D3E5}"/>
              </a:ext>
            </a:extLst>
          </p:cNvPr>
          <p:cNvSpPr txBox="1"/>
          <p:nvPr/>
        </p:nvSpPr>
        <p:spPr>
          <a:xfrm>
            <a:off x="705678" y="606288"/>
            <a:ext cx="91440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FF00"/>
                </a:solidFill>
              </a:rPr>
              <a:t>3. Project Workflow: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1–7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Acquisition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Cleaning &amp;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Exploratory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Visualization &amp;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Dashboard / Report Preparation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solidFill>
                  <a:srgbClr val="FFFF00"/>
                </a:solidFill>
              </a:rPr>
              <a:t>4. Week-wise Process 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1: Dataset Setup &amp; Initial 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2: Preprocessing &amp;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3: Univariate and Bivariate Visual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4: Device, Activity &amp; Weekday/Weekend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5: Cohort and Segment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6: Seasonal / Calendar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 7: Final Dashboard &amp; Presentation Report</a:t>
            </a:r>
          </a:p>
        </p:txBody>
      </p:sp>
    </p:spTree>
    <p:extLst>
      <p:ext uri="{BB962C8B-B14F-4D97-AF65-F5344CB8AC3E}">
        <p14:creationId xmlns:p14="http://schemas.microsoft.com/office/powerpoint/2010/main" val="330979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3ED6A-A2F3-F9A3-BEFD-E2500BAD73E0}"/>
              </a:ext>
            </a:extLst>
          </p:cNvPr>
          <p:cNvSpPr txBox="1"/>
          <p:nvPr/>
        </p:nvSpPr>
        <p:spPr>
          <a:xfrm>
            <a:off x="453887" y="188844"/>
            <a:ext cx="1173811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FF00"/>
                </a:solidFill>
              </a:rPr>
              <a:t>5. Key Graphs &amp; Charts: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Screentime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Screentime by Age Band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Gender-wise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Device Usage Mix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Activity Category Breakdown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Weekday vs Weekend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Heatmaps &amp; Hourly Usage Trends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solidFill>
                  <a:srgbClr val="FFFF00"/>
                </a:solidFill>
              </a:rPr>
              <a:t>6. Insights &amp;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Demographic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Device &amp; Activity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Behavioral</a:t>
            </a:r>
            <a:r>
              <a:rPr lang="en-IN" dirty="0"/>
              <a:t>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High-Usage Cohorts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Behavioral</a:t>
            </a:r>
            <a:r>
              <a:rPr lang="en-IN" dirty="0"/>
              <a:t>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Dataset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Mobile/Parental App Opportunity</a:t>
            </a:r>
          </a:p>
        </p:txBody>
      </p:sp>
    </p:spTree>
    <p:extLst>
      <p:ext uri="{BB962C8B-B14F-4D97-AF65-F5344CB8AC3E}">
        <p14:creationId xmlns:p14="http://schemas.microsoft.com/office/powerpoint/2010/main" val="5925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2D522-8ADE-92B0-B69E-DCA833118BEE}"/>
              </a:ext>
            </a:extLst>
          </p:cNvPr>
          <p:cNvSpPr txBox="1"/>
          <p:nvPr/>
        </p:nvSpPr>
        <p:spPr>
          <a:xfrm>
            <a:off x="288235" y="487017"/>
            <a:ext cx="6860484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000" b="1" dirty="0">
                <a:solidFill>
                  <a:srgbClr val="FFFF00"/>
                </a:solidFill>
              </a:rPr>
              <a:t>7. Statistical Summary: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Descriptive Statistics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Correlation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Segment Comparisons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solidFill>
                  <a:srgbClr val="FFFF00"/>
                </a:solidFill>
              </a:rPr>
              <a:t>8. Final 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Summary of Key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Major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Actionable Takeaways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solidFill>
                  <a:srgbClr val="FFFF00"/>
                </a:solidFill>
              </a:rPr>
              <a:t>9. Future Scope: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Predictive </a:t>
            </a:r>
            <a:r>
              <a:rPr lang="en-IN" dirty="0" err="1"/>
              <a:t>Modeling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Real-Time Dashboards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Recommendation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Behavioral</a:t>
            </a:r>
            <a:r>
              <a:rPr lang="en-IN" dirty="0"/>
              <a:t>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Dataset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Mobile/Parental App Opportunity</a:t>
            </a:r>
          </a:p>
        </p:txBody>
      </p:sp>
    </p:spTree>
    <p:extLst>
      <p:ext uri="{BB962C8B-B14F-4D97-AF65-F5344CB8AC3E}">
        <p14:creationId xmlns:p14="http://schemas.microsoft.com/office/powerpoint/2010/main" val="2129281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0DF5-5537-872D-0800-C171D47A8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PROBLEM STATEMENT</a:t>
            </a:r>
            <a:endParaRPr lang="en-IN" sz="5400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4A18-FCCD-BC7C-A22B-F412511CD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Analyze kids’ screentime patterns to uncover trends by age, gender, location type (urban/rural), device type, day-of-week, and activity category using data visualization. The goal is to present clear, actionable insights for parents, educators, and policymakers.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9143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E35B-8FC4-ABE6-3B13-2B3761C8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solidFill>
                  <a:srgbClr val="FFFF00"/>
                </a:solidFill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52415-E1F9-8B33-80A3-CFCB694A9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• Understand and preprocess the screentime dataset for analysis      • Explore trends across weekdays/weekends, devices, and activities</a:t>
            </a:r>
          </a:p>
          <a:p>
            <a:pPr marL="0" indent="0">
              <a:buNone/>
            </a:pPr>
            <a:r>
              <a:rPr lang="en-US" sz="2800" dirty="0"/>
              <a:t>• Visualize key metrics using bar charts, distributions, heatmaps,        and comparisons </a:t>
            </a:r>
          </a:p>
          <a:p>
            <a:pPr marL="0" indent="0">
              <a:buNone/>
            </a:pPr>
            <a:r>
              <a:rPr lang="en-US" sz="2800" dirty="0"/>
              <a:t>• Summarize insights for non-technical stakeholders via a visual report/dashboard • Provide a final presentation with the key findings and visuals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4289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3036-28F4-58AC-750B-F8D00E4C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</a:rPr>
              <a:t>Modules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D03F-83D3-5CE8-81CB-C1BB64AE7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Data Acquisition and Understanding </a:t>
            </a:r>
          </a:p>
          <a:p>
            <a:r>
              <a:rPr lang="en-US" sz="2400" dirty="0"/>
              <a:t>2. Data Cleaning and Feature Engineering </a:t>
            </a:r>
          </a:p>
          <a:p>
            <a:r>
              <a:rPr lang="en-US" sz="2400" dirty="0"/>
              <a:t>3. Univariate and Bivariate Analysis</a:t>
            </a:r>
          </a:p>
          <a:p>
            <a:r>
              <a:rPr lang="en-US" sz="2400" dirty="0"/>
              <a:t> 4. Device &amp; Activity Mix Analysis </a:t>
            </a:r>
          </a:p>
          <a:p>
            <a:r>
              <a:rPr lang="en-US" sz="2400" dirty="0"/>
              <a:t>5. Weekday vs Weekend Trends </a:t>
            </a:r>
          </a:p>
          <a:p>
            <a:r>
              <a:rPr lang="en-US" sz="2400" dirty="0"/>
              <a:t>6. Demographic and Location Insights </a:t>
            </a:r>
          </a:p>
          <a:p>
            <a:r>
              <a:rPr lang="en-US" sz="2400" dirty="0"/>
              <a:t>7. Final Dashboard or Report 8. Documentation and Presentation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1954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611E-5331-B884-1BE1-CB5DAE65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</a:rPr>
              <a:t>Project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4F132F-06FD-E252-6DB7-43C691722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918" y="2065867"/>
            <a:ext cx="11097966" cy="411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7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5658-1DFA-0E87-5A30-9024E453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Milestone 1: Data Foundation and Cleaning 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Week 1: Project Initialization and Dataset Setup 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83461-6863-9FC4-3E0D-F9E9CE474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00"/>
                </a:solidFill>
              </a:rPr>
              <a:t>Slide: Project Goals</a:t>
            </a:r>
          </a:p>
          <a:p>
            <a:r>
              <a:rPr lang="en-US" sz="2800" dirty="0"/>
              <a:t>Establish a clear understanding of the dataset and its structure</a:t>
            </a:r>
          </a:p>
          <a:p>
            <a:r>
              <a:rPr lang="en-US" sz="2800" dirty="0"/>
              <a:t>Identify potential data quality issues early</a:t>
            </a:r>
          </a:p>
          <a:p>
            <a:r>
              <a:rPr lang="en-US" sz="2800" dirty="0"/>
              <a:t>Document assumptions that may influence analysis or modeling</a:t>
            </a:r>
          </a:p>
          <a:p>
            <a:r>
              <a:rPr lang="en-US" sz="2800" dirty="0"/>
              <a:t>Prepare the dataset for downstream exploratory and predictive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746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8CEF6E-EFF9-162C-B2AF-70E2D03EC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71" y="138810"/>
            <a:ext cx="1110671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FF00"/>
                </a:solidFill>
                <a:latin typeface="Arial" panose="020B0604020202020204" pitchFamily="34" charset="0"/>
              </a:rPr>
              <a:t>WORKFLOW: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1.Load the Dataset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required libraries (Pandas, NumPy,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data from source (CSV, database, API,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successful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2.Explore Dataset Structure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Inspect schema and column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dataset size (rows, columns, memory usage)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descriptive summaries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3.Check for Missing &amp; Invalid Data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null values per column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inconsistent formats or outliers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 categorical values for unexpected entries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4.Capture Initial Observations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 any quality concerns (duplicates, imbalance, anomalies)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assumptions (e.g., handling of missing data, expected ranges)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 potential next steps for cleaning</a:t>
            </a:r>
          </a:p>
        </p:txBody>
      </p:sp>
    </p:spTree>
    <p:extLst>
      <p:ext uri="{BB962C8B-B14F-4D97-AF65-F5344CB8AC3E}">
        <p14:creationId xmlns:p14="http://schemas.microsoft.com/office/powerpoint/2010/main" val="2225712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4E87A9-341F-ECE6-9346-89511D167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7" y="1057502"/>
            <a:ext cx="9779536" cy="541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2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79119-BF70-3EF2-C8A7-094A8092A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023" y="751717"/>
            <a:ext cx="8003412" cy="535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99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AAA5-31F8-67A9-2C7E-8EB4BA12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Milestone 1: Data Foundation and Cleaning Week 2: Preprocessing and Feature Engineering 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BB947-0852-27DC-2CA9-544C2FAFE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Goals</a:t>
            </a:r>
          </a:p>
          <a:p>
            <a:r>
              <a:rPr lang="en-US" dirty="0"/>
              <a:t>Produce a clean, analysis-ready dataset suitable for modeling and reporting</a:t>
            </a:r>
          </a:p>
          <a:p>
            <a:r>
              <a:rPr lang="en-US" dirty="0"/>
              <a:t>Resolve missing values, inconsistent categories, and formatting issues</a:t>
            </a:r>
          </a:p>
          <a:p>
            <a:r>
              <a:rPr lang="en-US" dirty="0"/>
              <a:t>Engineer meaningful features (age bands, time-based flags, device/activity proportions)</a:t>
            </a:r>
          </a:p>
          <a:p>
            <a:r>
              <a:rPr lang="en-US" dirty="0"/>
              <a:t>Standardize date/time fields for consistent downstream use</a:t>
            </a:r>
          </a:p>
          <a:p>
            <a:r>
              <a:rPr lang="en-US" dirty="0"/>
              <a:t>Document all preprocessing rules, assumptions, and transformations</a:t>
            </a:r>
          </a:p>
          <a:p>
            <a:r>
              <a:rPr lang="en-US" dirty="0"/>
              <a:t>Deliver final processed data and clear metadata for reuse across the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390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CC592-D72D-7DB8-FB91-6F53DFAEA6BF}"/>
              </a:ext>
            </a:extLst>
          </p:cNvPr>
          <p:cNvSpPr txBox="1"/>
          <p:nvPr/>
        </p:nvSpPr>
        <p:spPr>
          <a:xfrm>
            <a:off x="383458" y="353961"/>
            <a:ext cx="876054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Workflow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Load Raw Dataset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Import raw source data and validate the load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Confirm structure, data types, and expected fields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Initial Exploration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Review schema, distributions, memory footprint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missing values, inconsistent categories, outliers, and anomalies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Capture assumptions and initial data quality notes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Data Cleaning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Resolve missing values using appropriate strategies (imputation, removal, defaults)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Normalize and correct inconsistent categorical labels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Reformat date/time fields into standardized formats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Feature Engineering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 age bands or demographic groupings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Generate weekday/weekend or time-of-day indicators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Compute device usage shares, activity ratios, or other derived metrics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Verification &amp; Documentation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Re-check final column types, ranges, and summary statistics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Document transformation logic and assumptions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Assemble a feature dictionary defining each field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Save &amp; Deliver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Export cleaned, processed dataset for analysis/modeling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Provide preprocessing summary and feature dictionary as deliverables</a:t>
            </a:r>
          </a:p>
        </p:txBody>
      </p:sp>
    </p:spTree>
    <p:extLst>
      <p:ext uri="{BB962C8B-B14F-4D97-AF65-F5344CB8AC3E}">
        <p14:creationId xmlns:p14="http://schemas.microsoft.com/office/powerpoint/2010/main" val="2292696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C5130-FF5E-FAA6-B728-4E306E949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04" y="258805"/>
            <a:ext cx="7521592" cy="63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1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C6AFB0-83B4-A96C-E0CA-8DCC8C25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36" y="462115"/>
            <a:ext cx="10962182" cy="55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88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7342-D0BB-4C66-2032-6D174288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Milestone 2: Visual Exploration and Topic Trends Week 3: Univariate and Bivariate Visual Analysis 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A20F-1F2C-703F-9FFF-3D14C557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Project Goals</a:t>
            </a:r>
          </a:p>
          <a:p>
            <a:r>
              <a:rPr lang="en-US" dirty="0"/>
              <a:t>Understand key behavioral patterns through distributions of daily screen-time hours, age groups, and device usage</a:t>
            </a:r>
          </a:p>
          <a:p>
            <a:r>
              <a:rPr lang="en-US" dirty="0"/>
              <a:t>Compare screen-time across demographic segments such as gender, age bands, and location types</a:t>
            </a:r>
          </a:p>
          <a:p>
            <a:r>
              <a:rPr lang="en-US" dirty="0"/>
              <a:t>Visualize usage trends using appropriate chart types (bar charts, histograms, boxplots, line plots)</a:t>
            </a:r>
          </a:p>
          <a:p>
            <a:r>
              <a:rPr lang="en-US" dirty="0"/>
              <a:t>Identify potential correlations, disparities, or notable patterns across segments</a:t>
            </a:r>
          </a:p>
          <a:p>
            <a:r>
              <a:rPr lang="en-US" dirty="0"/>
              <a:t>Generate clear visuals to support insights and storytelling for stakeholders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360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D711D1-8C5C-F8A9-1AFF-5714F7152580}"/>
              </a:ext>
            </a:extLst>
          </p:cNvPr>
          <p:cNvSpPr txBox="1"/>
          <p:nvPr/>
        </p:nvSpPr>
        <p:spPr>
          <a:xfrm>
            <a:off x="281354" y="251209"/>
            <a:ext cx="886013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Workflow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Prepare the Dataset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Load cleaned/preprocessed dataset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Confirm that age bands, gender, device usage, and location fields are ready for analysis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Univariate Analysis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Plot distributions of daily screen-time hours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Visualize age band counts and device usage patterns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histograms, density plots, and bar charts as appropriate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Segmented Comparisons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Compare screen-time across gender, age bands, and location types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grouped bar charts, boxplots, and summary tables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significant differences or trends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Time/Behavior Trend Visuals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line plots (if temporal data exists) to show patterns over time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Highlight peaks, troughs, or habitual patterns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Insight Compilation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Summarize findings with key observations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Highlight correlations, anomalies, or drivers of high/low usage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Deliverables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Visualizations (bar charts, histograms, boxplots, line plots)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Analytical summary of comparisons across segments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Slide-ready insights for reporting or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813027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764C9-6DC0-5B08-40EE-7F1DBBCFA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59" y="106392"/>
            <a:ext cx="7712108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89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04F69-DFF2-4FE7-3F1A-7B8FD131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78" y="125443"/>
            <a:ext cx="6957663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62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61A2E-CF8E-F4A5-4EBD-8D8CE939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841" y="140685"/>
            <a:ext cx="6904318" cy="65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31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3828-807E-BC2C-BF49-F150B172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Milestone 2: Visual Exploration and Topic Trends  Week 4: Device/Activity and Weekday/Weekend Analysis 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7D2DB-8D98-AEC5-6933-7987F52B8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Project Goals</a:t>
            </a:r>
          </a:p>
          <a:p>
            <a:r>
              <a:rPr lang="en-US" dirty="0"/>
              <a:t>Analyze how device mix and activity categories vary across demographic segments</a:t>
            </a:r>
          </a:p>
          <a:p>
            <a:r>
              <a:rPr lang="en-US" dirty="0"/>
              <a:t>Identify behavioral differences between weekday and weekend usage patterns</a:t>
            </a:r>
          </a:p>
          <a:p>
            <a:r>
              <a:rPr lang="en-US" dirty="0"/>
              <a:t>Visualize time-based patterns to uncover peak usage hours and high-engagement cohorts</a:t>
            </a:r>
          </a:p>
          <a:p>
            <a:r>
              <a:rPr lang="en-US" dirty="0"/>
              <a:t>Produce at least 8 high-quality visuals that communicate key usage insights</a:t>
            </a:r>
          </a:p>
          <a:p>
            <a:r>
              <a:rPr lang="en-US" dirty="0"/>
              <a:t>Summarize major observations, with emphasis on segments showing peak or unusual behavior</a:t>
            </a:r>
          </a:p>
          <a:p>
            <a:r>
              <a:rPr lang="en-US" dirty="0"/>
              <a:t>Support strategic decisions with evidence-based insights derived from screen-time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575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C98ADD-4C08-0B5D-B405-A79DEC3CF013}"/>
              </a:ext>
            </a:extLst>
          </p:cNvPr>
          <p:cNvSpPr txBox="1"/>
          <p:nvPr/>
        </p:nvSpPr>
        <p:spPr>
          <a:xfrm>
            <a:off x="255639" y="167150"/>
            <a:ext cx="974376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Workflow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Dataset Preparation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Load the cleaned dataset with demographic, device, activity, and timestamp features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Validate data types, date/time formatting, and derived fields (e.g., weekday/weekend flags)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Exploratory Analysis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Review distributions for device usage, activity categories, and demographic splits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Analyze variation in device mix and activities by gender, age band, and location type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Weekday vs Weekend Comparison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Segment data by weekday/weekend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Visualize differences in total screen-time, device preferences, and activity types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Time-Pattern Visualization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Plot hourly or time-of-day trends to identify peak usage patterns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Highlight cohorts with consistently high or spiking usage (age groups, genders, locations)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Visualization Development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Produce at least 8 visuals using bar charts, stacked bars, heatmaps, line plots, or boxplots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Ensure each chart answers a specific analytical question and supports the findings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Insight Synthesis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Document observations from each visual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high-usage cohorts and peak behavior windows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Summarize implications for product, policy, or behavioral interventions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Deliverables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Minimum of 8 visuals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Observation summary focused on peak usage cohorts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Analysis text suitable for presentation or reporting</a:t>
            </a:r>
          </a:p>
        </p:txBody>
      </p:sp>
    </p:spTree>
    <p:extLst>
      <p:ext uri="{BB962C8B-B14F-4D97-AF65-F5344CB8AC3E}">
        <p14:creationId xmlns:p14="http://schemas.microsoft.com/office/powerpoint/2010/main" val="3502777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456654-7392-4857-F3BF-CE0650FF2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35" y="182598"/>
            <a:ext cx="7719729" cy="64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81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46B5A-C3B7-CB10-D747-3C8383FF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84" y="106392"/>
            <a:ext cx="7757832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50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72E88-F491-8A90-0264-474226205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997" y="140685"/>
            <a:ext cx="7674005" cy="65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77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1404-8526-A35E-E961-0D428E19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Milestone 3: Segment &amp; Insight Deep-Dives Week 5: Cohort and Segment Analysis 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A48E-F267-29BC-30E8-25BFBDD70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Project Goals</a:t>
            </a:r>
          </a:p>
          <a:p>
            <a:r>
              <a:rPr lang="en-US" dirty="0"/>
              <a:t>Identify top-performing or high-usage cohorts by combining demographic attributes (e.g., age band × device type)</a:t>
            </a:r>
          </a:p>
          <a:p>
            <a:r>
              <a:rPr lang="en-US" dirty="0"/>
              <a:t>Compare behavior across demographic and location-based segments to uncover meaningful differences</a:t>
            </a:r>
          </a:p>
          <a:p>
            <a:r>
              <a:rPr lang="en-US" dirty="0"/>
              <a:t>Use heatmaps and stacked visual comparisons to highlight contrasts in usage intensity and device/activity mix</a:t>
            </a:r>
          </a:p>
          <a:p>
            <a:r>
              <a:rPr lang="en-US" dirty="0"/>
              <a:t>Surface patterns that can guide deeper analysis or targeted interventions in later phases</a:t>
            </a:r>
          </a:p>
          <a:p>
            <a:r>
              <a:rPr lang="en-US" dirty="0"/>
              <a:t>Produce clear, visual insights that communicate which segments drive the highest engagement or show unique behavior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350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840A3-CACB-DDEF-7425-8EDA01A4DAB7}"/>
              </a:ext>
            </a:extLst>
          </p:cNvPr>
          <p:cNvSpPr txBox="1"/>
          <p:nvPr/>
        </p:nvSpPr>
        <p:spPr>
          <a:xfrm>
            <a:off x="334298" y="245806"/>
            <a:ext cx="1071716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Workflow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Dataset Preparation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Load the processed dataset containing demographics, device type, usage metrics, and location segments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Verify the availability of age bands, device categories, and any needed derived fields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Cohort Definition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 combined cohort groups (e.g., age band × device type, gender × location)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Aggregate key metrics such as total hours, frequency, or activity shares for each cohort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Cohort Ranking &amp; Identification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Rank cohorts based on usage intensity, frequency, or any defined KPI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top cohorts for deeper inspection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Segment-Level Comparisons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Compare metrics across demographic groups (age, gender) and location types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stacked bar charts to illustrate mix (device usage, activity categories, etc.)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Heatmap Development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Build heatmaps to show intensity patterns across cohorts (e.g., age band × device type, location × time)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Highlight high- and low-usage clusters visually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Insight Extraction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Summarize key takeaways from cohort rankings and segment patterns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Note standout cohorts, anomalies, or groups with contrasting behavior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Deliverables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Heatmaps and stacked comparison visuals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Ranked cohort tables or charts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Summary of insights on top cohorts and notable segment differences</a:t>
            </a:r>
          </a:p>
        </p:txBody>
      </p:sp>
    </p:spTree>
    <p:extLst>
      <p:ext uri="{BB962C8B-B14F-4D97-AF65-F5344CB8AC3E}">
        <p14:creationId xmlns:p14="http://schemas.microsoft.com/office/powerpoint/2010/main" val="2004884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AA1182-2D30-05AE-98DE-8B7AF4591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419140"/>
            <a:ext cx="11656901" cy="575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61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0453-F015-E32F-DAD8-2A28F603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Milestone 3: Segment &amp; Insight Deep-</a:t>
            </a:r>
            <a:r>
              <a:rPr lang="en-US" dirty="0" err="1">
                <a:solidFill>
                  <a:srgbClr val="FFFF00"/>
                </a:solidFill>
              </a:rPr>
              <a:t>DivesWeek</a:t>
            </a:r>
            <a:r>
              <a:rPr lang="en-US" dirty="0">
                <a:solidFill>
                  <a:srgbClr val="FFFF00"/>
                </a:solidFill>
              </a:rPr>
              <a:t> 6: Seasonal/Calendar or Habit Patterns 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306B-38FD-51AF-2A51-DB2F41D50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Project Goals</a:t>
            </a:r>
          </a:p>
          <a:p>
            <a:r>
              <a:rPr lang="en-US" dirty="0"/>
              <a:t>Analyze how screen-time behavior changes across months or term-time periods (if date data is available)</a:t>
            </a:r>
          </a:p>
          <a:p>
            <a:r>
              <a:rPr lang="en-US" dirty="0"/>
              <a:t>Identify segment-specific seasonal patterns across demographics, locations, or device types</a:t>
            </a:r>
          </a:p>
          <a:p>
            <a:r>
              <a:rPr lang="en-US" dirty="0"/>
              <a:t>Summarize key drivers that explain differences in monthly or term-time usage</a:t>
            </a:r>
          </a:p>
          <a:p>
            <a:r>
              <a:rPr lang="en-US" dirty="0"/>
              <a:t>Highlight cohorts that show notable seasonal shifts, spikes, or declines</a:t>
            </a:r>
          </a:p>
          <a:p>
            <a:r>
              <a:rPr lang="en-US" dirty="0"/>
              <a:t>Deliver clear summaries and insights that support understanding of seasonal and segment-based behavior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08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A3EA4-24CC-D779-E9D3-E4988E69E22A}"/>
              </a:ext>
            </a:extLst>
          </p:cNvPr>
          <p:cNvSpPr txBox="1"/>
          <p:nvPr/>
        </p:nvSpPr>
        <p:spPr>
          <a:xfrm>
            <a:off x="186813" y="137652"/>
            <a:ext cx="1062867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Workflow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Data Preparation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Confirm availability of date/time fields for monthly or term-time segmentation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 derived fields (month, term period, season, etc.)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Validate demographic and cohort features for comparison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Monthly / Term-Time Aggregation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Aggregate usage metrics by month or term period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Calculate averages, totals, or growth/decline indicators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Compare metrics across time windows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Segment-Wise Analysis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Break down monthly/term-time usage by age band, gender, location type, or device category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which segments show strong seasonal variation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Compare segment performance across time periods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Cohort Trend Identification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Explore how specific cohorts (e.g., age band × device type) shift month-to-month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Detect peaks, dips, or consistent behavioral patterns over time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Visualization Development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 line plots for monthly trends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Build stacked charts or grouped bars for segment comparisons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heatmaps for seasonal intensity across segments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Insight Synthesis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Summarize key seasonal/term-time observations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Highlight segments driving changes or exhibiting unique patterns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Note possible drivers (e.g., school terms, holidays, exam periods, weather changes)</a:t>
            </a:r>
          </a:p>
        </p:txBody>
      </p:sp>
    </p:spTree>
    <p:extLst>
      <p:ext uri="{BB962C8B-B14F-4D97-AF65-F5344CB8AC3E}">
        <p14:creationId xmlns:p14="http://schemas.microsoft.com/office/powerpoint/2010/main" val="2848618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C0CD7-EA02-84D5-F4B7-B64D672BF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7" y="593809"/>
            <a:ext cx="11305681" cy="553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60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3F9A-3EC1-52DD-A572-0FA8B6D3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Milestone 4: Report and Presentation Week 7: Visual Report or Dashboard Preparation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0C42-DEA1-41F8-2E24-9BF68F9C3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Project Goals</a:t>
            </a:r>
          </a:p>
          <a:p>
            <a:r>
              <a:rPr lang="en-US" dirty="0"/>
              <a:t>Develop a clear, coherent analytical storyline using previously created visuals</a:t>
            </a:r>
          </a:p>
          <a:p>
            <a:r>
              <a:rPr lang="en-US" dirty="0"/>
              <a:t>Build an interactive dashboard (Tableau or Power BI) enabling users to filter by key demographics (age band, gender, location type)</a:t>
            </a:r>
          </a:p>
          <a:p>
            <a:r>
              <a:rPr lang="en-US" dirty="0"/>
              <a:t>Ensure all visuals meet communication standards with consistent titles, labels, legends, and axis formatting</a:t>
            </a:r>
          </a:p>
          <a:p>
            <a:r>
              <a:rPr lang="en-US" dirty="0"/>
              <a:t>Present insights in an intuitive, user-friendly format suitable for stakeholders</a:t>
            </a:r>
          </a:p>
          <a:p>
            <a:r>
              <a:rPr lang="en-US" dirty="0"/>
              <a:t>Deliver a polished visual report or dashboard that supports data-driven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561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D1DB56-1A59-F6FC-62EC-01EF61923140}"/>
              </a:ext>
            </a:extLst>
          </p:cNvPr>
          <p:cNvSpPr txBox="1"/>
          <p:nvPr/>
        </p:nvSpPr>
        <p:spPr>
          <a:xfrm>
            <a:off x="103909" y="176646"/>
            <a:ext cx="1151312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Workflow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Storyline Development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Review insights and visuals from prior weeks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Organize charts into a logical narrative (overview → segments → cohorts → trends)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key messages and transitions between sections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Dashboard Structure Planning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Define dashboard pages or sections (summary, segments, cohorts, trends, filters)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Select the most important visuals for inclusion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Determine required filters such as age band, gender, and location type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Dashboard Construction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Import cleaned dataset into Tableau/Power BI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Build interactive charts and layout dashboard components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filter controls, tooltips, and interactivity features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Design &amp; Clarity Enhancements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Apply consistent formatting (titles, axis labels, legends, color scheme)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Optimize layouts for readability and stakeholder interpretation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Ensure responsive behavior across screens or presentation modes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Quality Review</a:t>
            </a: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Validate functionality of filters and drill-downs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Check data accuracy, visual consistency, and alignment with the storyline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Get feedback and make revisions if necessary</a:t>
            </a:r>
          </a:p>
        </p:txBody>
      </p:sp>
    </p:spTree>
    <p:extLst>
      <p:ext uri="{BB962C8B-B14F-4D97-AF65-F5344CB8AC3E}">
        <p14:creationId xmlns:p14="http://schemas.microsoft.com/office/powerpoint/2010/main" val="3786387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83CE11-5B9F-6FCD-48BD-802EEB9A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" y="250057"/>
            <a:ext cx="11389360" cy="639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72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885969-A084-8764-F597-81BA77EF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13" y="343667"/>
            <a:ext cx="10953348" cy="617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26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D9D66-EA96-667D-D1B2-23D6D4AF4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67" y="624597"/>
            <a:ext cx="9983065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43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C4E3-2C10-D647-F4E9-414AC1F4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</a:rPr>
              <a:t>KEY GRAPHS &amp; CHARTS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234272-0C03-908B-3AA1-A78B85B9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1. Daily Screentime Distribution (Histogram / Density Plot)</a:t>
            </a:r>
          </a:p>
          <a:p>
            <a:r>
              <a:rPr lang="en-US" dirty="0"/>
              <a:t>Shows how many hours kids spend daily on screens.</a:t>
            </a:r>
          </a:p>
          <a:p>
            <a:r>
              <a:rPr lang="en-US" dirty="0"/>
              <a:t>Helps identify typical vs extreme usage patterns.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2. Screentime by Age Band (Bar Chart)</a:t>
            </a:r>
          </a:p>
          <a:p>
            <a:r>
              <a:rPr lang="en-US" dirty="0"/>
              <a:t>Compares usage across age groups (e.g., 6–8, 9–11, 12–14).</a:t>
            </a:r>
          </a:p>
          <a:p>
            <a:r>
              <a:rPr lang="en-US" dirty="0"/>
              <a:t>Highlights which age category is the highest consumer.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3. Screentime: Boys vs Girls (Grouped Bar / Box Plot)</a:t>
            </a:r>
          </a:p>
          <a:p>
            <a:r>
              <a:rPr lang="en-US" dirty="0"/>
              <a:t>Shows differences between genders.</a:t>
            </a:r>
          </a:p>
          <a:p>
            <a:r>
              <a:rPr lang="en-US" dirty="0"/>
              <a:t>Useful for understanding behavioral variations.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398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DE4316-8C42-CC3D-700E-DD993D21B0E9}"/>
              </a:ext>
            </a:extLst>
          </p:cNvPr>
          <p:cNvSpPr txBox="1"/>
          <p:nvPr/>
        </p:nvSpPr>
        <p:spPr>
          <a:xfrm>
            <a:off x="354495" y="685801"/>
            <a:ext cx="1183750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4. Device Usage Mix (Pie Chart / Stacked Bar)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the percentage of time spent on:</a:t>
            </a:r>
            <a:br>
              <a:rPr lang="en-US" dirty="0"/>
            </a:br>
            <a:r>
              <a:rPr lang="en-US" dirty="0"/>
              <a:t> Mobile , Laptop, Gaming Device AND TV.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device preference patterns.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5. Activity Category Breakdown (Bar / Donut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time spent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Entertainment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Social 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Others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6. Weekday vs Weekend Comparison (Bar/Line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Indicates changes in usage during weekends.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peak usage days.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7. Heatmap: Age Band × Device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intensity of usage for each age group and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find very high-usage clusters.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8. Hourly Usage Trend (Line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peak hours of the 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understanding habits and routine.</a:t>
            </a:r>
          </a:p>
        </p:txBody>
      </p:sp>
    </p:spTree>
    <p:extLst>
      <p:ext uri="{BB962C8B-B14F-4D97-AF65-F5344CB8AC3E}">
        <p14:creationId xmlns:p14="http://schemas.microsoft.com/office/powerpoint/2010/main" val="3725297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3FA2-3798-159C-DC71-AC0826CB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</a:rPr>
              <a:t>INSIGHTS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041F-B15A-249E-078F-2BB6CAF89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Key Findings &amp; Insights:</a:t>
            </a:r>
          </a:p>
          <a:p>
            <a:r>
              <a:rPr lang="en-US" dirty="0"/>
              <a:t>✔ </a:t>
            </a:r>
            <a:r>
              <a:rPr lang="en-US" b="1" dirty="0"/>
              <a:t>Kids aged 12–14 show the highest screentime usage</a:t>
            </a:r>
            <a:r>
              <a:rPr lang="en-US" dirty="0"/>
              <a:t>, especially during weekends.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Mobile phones are the most preferred device</a:t>
            </a:r>
            <a:r>
              <a:rPr lang="en-US" dirty="0"/>
              <a:t>, followed by tablets and laptops.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Urban kids spend significantly more time on screens</a:t>
            </a:r>
            <a:r>
              <a:rPr lang="en-US" dirty="0"/>
              <a:t> compared to rural kids due to device availability.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Weekends show a 25–40% jump in total screentime</a:t>
            </a:r>
            <a:r>
              <a:rPr lang="en-US" dirty="0"/>
              <a:t>, mostly driven by entertainment and gaming.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Educational content peaks during weekdays</a:t>
            </a:r>
            <a:r>
              <a:rPr lang="en-US" dirty="0"/>
              <a:t>, indicating school-related usage.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Heatmap analysis shows strong correlation between age and device preference</a:t>
            </a:r>
            <a:r>
              <a:rPr lang="en-US" dirty="0"/>
              <a:t>—older kids prefer mobile/laptop while younger kids prefer tablets.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Peak screen usage occurs between 7 PM – 10 PM</a:t>
            </a:r>
            <a:r>
              <a:rPr lang="en-US" dirty="0"/>
              <a:t>, mostly for entertainment/gaming activities.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0803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67B0-AC7A-C930-FD0E-A5A8A0C7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</a:rPr>
              <a:t>STATISTICAL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AF89E-A135-7BF2-8F06-BF5500D71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Descriptive Statistics</a:t>
            </a:r>
          </a:p>
          <a:p>
            <a:r>
              <a:rPr lang="en-IN" b="1" dirty="0"/>
              <a:t>Mean daily screentime:</a:t>
            </a:r>
            <a:r>
              <a:rPr lang="en-IN" dirty="0"/>
              <a:t> ~3–4 hours</a:t>
            </a:r>
          </a:p>
          <a:p>
            <a:r>
              <a:rPr lang="en-IN" b="1" dirty="0"/>
              <a:t>Median screentime:</a:t>
            </a:r>
            <a:r>
              <a:rPr lang="en-IN" dirty="0"/>
              <a:t> Slightly lower than mean → suggests some high-usage outliers</a:t>
            </a:r>
          </a:p>
          <a:p>
            <a:r>
              <a:rPr lang="en-IN" b="1" dirty="0"/>
              <a:t>Standard Deviation:</a:t>
            </a:r>
            <a:r>
              <a:rPr lang="en-IN" dirty="0"/>
              <a:t> High → kids’ usage varies widely</a:t>
            </a:r>
          </a:p>
          <a:p>
            <a:r>
              <a:rPr lang="en-IN" b="1" dirty="0"/>
              <a:t>Minimum usage:</a:t>
            </a:r>
            <a:r>
              <a:rPr lang="en-IN" dirty="0"/>
              <a:t> &lt;1 hour</a:t>
            </a:r>
          </a:p>
          <a:p>
            <a:r>
              <a:rPr lang="en-IN" b="1" dirty="0"/>
              <a:t>Maximum usage:</a:t>
            </a:r>
            <a:r>
              <a:rPr lang="en-IN" dirty="0"/>
              <a:t> 7–9 hours (heavy users)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092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650E8-F875-B72C-A317-2AD6C3927369}"/>
              </a:ext>
            </a:extLst>
          </p:cNvPr>
          <p:cNvSpPr txBox="1"/>
          <p:nvPr/>
        </p:nvSpPr>
        <p:spPr>
          <a:xfrm>
            <a:off x="596348" y="526774"/>
            <a:ext cx="85501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00"/>
                </a:solidFill>
              </a:rPr>
              <a:t>Correlation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Age vs Screentime:</a:t>
            </a:r>
            <a:r>
              <a:rPr lang="en-IN" dirty="0"/>
              <a:t> Moderately positive correlation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Weekday/Weekend Flag vs Screentime:</a:t>
            </a:r>
            <a:r>
              <a:rPr lang="en-IN" dirty="0"/>
              <a:t> Strong weekend rise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Device Type vs Activity Category: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Mobile → social media, gaming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Laptop → 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Tablet → entertainment/learning apps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FFFF00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rgbClr val="FFFF00"/>
                </a:solidFill>
              </a:rPr>
              <a:t>Segment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Top usage segment:</a:t>
            </a:r>
            <a:r>
              <a:rPr lang="en-IN" dirty="0"/>
              <a:t> Urban boys aged 12–14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Lowest usage segment:</a:t>
            </a:r>
            <a:r>
              <a:rPr lang="en-IN" dirty="0"/>
              <a:t> Rural kids aged 6–8</a:t>
            </a:r>
          </a:p>
        </p:txBody>
      </p:sp>
    </p:spTree>
    <p:extLst>
      <p:ext uri="{BB962C8B-B14F-4D97-AF65-F5344CB8AC3E}">
        <p14:creationId xmlns:p14="http://schemas.microsoft.com/office/powerpoint/2010/main" val="51340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D95C-DBB1-B056-5EBF-0A098311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</a:rPr>
              <a:t>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47A9C-D5BA-89AE-BDA9-FFFA659CE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1. Predictive Modeling</a:t>
            </a:r>
          </a:p>
          <a:p>
            <a:r>
              <a:rPr lang="en-US" dirty="0"/>
              <a:t>Use ML models to predict high-risk screentime users.</a:t>
            </a:r>
          </a:p>
          <a:p>
            <a:r>
              <a:rPr lang="en-US" dirty="0"/>
              <a:t>Forecast future screentime trends based on seasonal patterns.</a:t>
            </a:r>
          </a:p>
          <a:p>
            <a:r>
              <a:rPr lang="en-US" b="1" dirty="0">
                <a:solidFill>
                  <a:srgbClr val="FFFF00"/>
                </a:solidFill>
              </a:rPr>
              <a:t>2. Real-Time Dashboards</a:t>
            </a:r>
          </a:p>
          <a:p>
            <a:r>
              <a:rPr lang="en-US" dirty="0"/>
              <a:t>Integrate live data to track daily or weekly screentime behavior.</a:t>
            </a:r>
          </a:p>
          <a:p>
            <a:r>
              <a:rPr lang="en-US" dirty="0"/>
              <a:t>Allow filtering by age, gender, location, or device type.</a:t>
            </a:r>
          </a:p>
          <a:p>
            <a:r>
              <a:rPr lang="en-US" b="1" dirty="0">
                <a:solidFill>
                  <a:srgbClr val="FFFF00"/>
                </a:solidFill>
              </a:rPr>
              <a:t>3. Recommendation System</a:t>
            </a:r>
          </a:p>
          <a:p>
            <a:r>
              <a:rPr lang="en-US" dirty="0"/>
              <a:t>Suggest healthy screentime limits for different age groups.</a:t>
            </a:r>
          </a:p>
          <a:p>
            <a:r>
              <a:rPr lang="en-US" dirty="0"/>
              <a:t>Recommend alternative learning/gaming activities.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7089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3238A9-8B8B-0608-1BCD-AA72048C9160}"/>
              </a:ext>
            </a:extLst>
          </p:cNvPr>
          <p:cNvSpPr txBox="1"/>
          <p:nvPr/>
        </p:nvSpPr>
        <p:spPr>
          <a:xfrm>
            <a:off x="447261" y="477078"/>
            <a:ext cx="78941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4. Behavioral Intervention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Notify parents when screentime crosses safe limits.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Personalized alerts for night-time or continuous usage spikes.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5. Expanded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 sleep patterns, academic performance, physical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usage across countries or regions.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6. Mobile App / Parental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an interactive app that shows analytics and insights directly to parents.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5DAA2-528E-744C-59D1-27ABD485542E}"/>
              </a:ext>
            </a:extLst>
          </p:cNvPr>
          <p:cNvSpPr txBox="1"/>
          <p:nvPr/>
        </p:nvSpPr>
        <p:spPr>
          <a:xfrm>
            <a:off x="447261" y="3886200"/>
            <a:ext cx="106149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Kids’ screentime patterns reveal clear trends influenced by age, location, device type, and daily routines.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Visual insights highlight that mobile usage, weekend spikes, and evening peaks dominate overall screen engagement.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The analysis helps parents and educators make informed decisions to promote healthier and more balanced digital habits.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CB80D-FCB1-F477-1EFD-E23D39F16B3C}"/>
              </a:ext>
            </a:extLst>
          </p:cNvPr>
          <p:cNvSpPr txBox="1"/>
          <p:nvPr/>
        </p:nvSpPr>
        <p:spPr>
          <a:xfrm>
            <a:off x="447261" y="3428134"/>
            <a:ext cx="5707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End Conclusions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52808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</TotalTime>
  <Words>2785</Words>
  <Application>Microsoft Office PowerPoint</Application>
  <PresentationFormat>Widescreen</PresentationFormat>
  <Paragraphs>362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Arial</vt:lpstr>
      <vt:lpstr>Calibri</vt:lpstr>
      <vt:lpstr>Calibri Light</vt:lpstr>
      <vt:lpstr>Celestial</vt:lpstr>
      <vt:lpstr>ScreenSense:Kids’ Screentime Visualization </vt:lpstr>
      <vt:lpstr>TABLE OF CONTENTS</vt:lpstr>
      <vt:lpstr>PowerPoint Presentation</vt:lpstr>
      <vt:lpstr>PowerPoint Presentation</vt:lpstr>
      <vt:lpstr>PowerPoint Presentation</vt:lpstr>
      <vt:lpstr>PROBLEM STATEMENT</vt:lpstr>
      <vt:lpstr>Expected Outcomes</vt:lpstr>
      <vt:lpstr>Modules to be Implemented</vt:lpstr>
      <vt:lpstr>Project Flow</vt:lpstr>
      <vt:lpstr>Milestone 1: Data Foundation and Cleaning  Week 1: Project Initialization and Dataset Setup </vt:lpstr>
      <vt:lpstr>PowerPoint Presentation</vt:lpstr>
      <vt:lpstr>PowerPoint Presentation</vt:lpstr>
      <vt:lpstr>PowerPoint Presentation</vt:lpstr>
      <vt:lpstr>Milestone 1: Data Foundation and Cleaning Week 2: Preprocessing and Feature Engineering </vt:lpstr>
      <vt:lpstr>PowerPoint Presentation</vt:lpstr>
      <vt:lpstr>PowerPoint Presentation</vt:lpstr>
      <vt:lpstr>PowerPoint Presentation</vt:lpstr>
      <vt:lpstr>Milestone 2: Visual Exploration and Topic Trends Week 3: Univariate and Bivariate Visual Analysis </vt:lpstr>
      <vt:lpstr>PowerPoint Presentation</vt:lpstr>
      <vt:lpstr>PowerPoint Presentation</vt:lpstr>
      <vt:lpstr>PowerPoint Presentation</vt:lpstr>
      <vt:lpstr>PowerPoint Presentation</vt:lpstr>
      <vt:lpstr>Milestone 2: Visual Exploration and Topic Trends  Week 4: Device/Activity and Weekday/Weekend Analysis </vt:lpstr>
      <vt:lpstr>PowerPoint Presentation</vt:lpstr>
      <vt:lpstr>PowerPoint Presentation</vt:lpstr>
      <vt:lpstr>PowerPoint Presentation</vt:lpstr>
      <vt:lpstr>PowerPoint Presentation</vt:lpstr>
      <vt:lpstr>Milestone 3: Segment &amp; Insight Deep-Dives Week 5: Cohort and Segment Analysis </vt:lpstr>
      <vt:lpstr>PowerPoint Presentation</vt:lpstr>
      <vt:lpstr>PowerPoint Presentation</vt:lpstr>
      <vt:lpstr>Milestone 3: Segment &amp; Insight Deep-DivesWeek 6: Seasonal/Calendar or Habit Patterns </vt:lpstr>
      <vt:lpstr>PowerPoint Presentation</vt:lpstr>
      <vt:lpstr>PowerPoint Presentation</vt:lpstr>
      <vt:lpstr>Milestone 4: Report and Presentation Week 7: Visual Report or Dashboard Preparation</vt:lpstr>
      <vt:lpstr>PowerPoint Presentation</vt:lpstr>
      <vt:lpstr>PowerPoint Presentation</vt:lpstr>
      <vt:lpstr>PowerPoint Presentation</vt:lpstr>
      <vt:lpstr>PowerPoint Presentation</vt:lpstr>
      <vt:lpstr>KEY GRAPHS &amp; CHARTS</vt:lpstr>
      <vt:lpstr>PowerPoint Presentation</vt:lpstr>
      <vt:lpstr>INSIGHTS SLIDE</vt:lpstr>
      <vt:lpstr>STATISTICAL SUMMARY</vt:lpstr>
      <vt:lpstr>PowerPoint Presentation</vt:lpstr>
      <vt:lpstr>FUTURE SCOPE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Megeeswaran N</dc:creator>
  <cp:lastModifiedBy>Megeeswaran N</cp:lastModifiedBy>
  <cp:revision>5</cp:revision>
  <dcterms:created xsi:type="dcterms:W3CDTF">2025-12-02T16:54:57Z</dcterms:created>
  <dcterms:modified xsi:type="dcterms:W3CDTF">2025-12-09T08:38:11Z</dcterms:modified>
</cp:coreProperties>
</file>
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00" r:id="rId5"/>
    <p:sldId id="308" r:id="rId6"/>
    <p:sldId id="309" r:id="rId7"/>
    <p:sldId id="310" r:id="rId8"/>
    <p:sldId id="311" r:id="rId9"/>
    <p:sldId id="312" r:id="rId10"/>
    <p:sldId id="313" r:id="rId11"/>
    <p:sldId id="314" r:id="rId12"/>
    <p:sldId id="315" r:id="rId13"/>
    <p:sldId id="316" r:id="rId14"/>
    <p:sldId id="317" r:id="rId15"/>
    <p:sldId id="318" r:id="rId16"/>
    <p:sldId id="31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42DF35-1F33-493C-9F9B-A78A7F26782E}" v="328" dt="2025-12-05T13:55:37.364"/>
  </p1510:revLst>
</p1510:revInfo>
</file>

<file path=ppt/tableStyles.xml><?xml version="1.0" encoding="utf-8"?>
<a:tblStyleLst xmlns:a="http://schemas.openxmlformats.org/drawingml/2006/main" def="{16D9F66E-5EB9-4882-86FB-DCBF35E3C3E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26" autoAdjust="0"/>
    <p:restoredTop sz="94672"/>
  </p:normalViewPr>
  <p:slideViewPr>
    <p:cSldViewPr snapToGrid="0">
      <p:cViewPr>
        <p:scale>
          <a:sx n="100" d="100"/>
          <a:sy n="100" d="100"/>
        </p:scale>
        <p:origin x="58" y="-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6C669D0-F8F9-909F-F36A-221EAC7424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61AC27-49A0-3B4C-5F49-D6641499EF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2F45D-55D9-47BA-9640-E7EB1024F606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7AD1BD-C6AD-D1DF-596E-659165024C3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BA659A-33FC-973A-2DD5-89A959CA8C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4A2DCA-E9F6-4345-9316-BF42F09A2C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6691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99C6F8-5F98-E04A-B725-72D1A5FE8444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A9608-B288-5444-9C81-49B56A597B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778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2161BAA5-48F7-7727-F9D9-CE83907FF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64ED4F-0011-0734-A8CE-F357C9B3C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23776" y="0"/>
            <a:ext cx="16715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C40BC2-4799-E79D-1CFD-4A82C90A1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96936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7662E9-6C4B-1DCF-4FA0-9D0E52069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5232" y="463974"/>
            <a:ext cx="4217424" cy="3709195"/>
          </a:xfrm>
        </p:spPr>
        <p:txBody>
          <a:bodyPr anchor="b">
            <a:normAutofit/>
          </a:bodyPr>
          <a:lstStyle>
            <a:lvl1pPr algn="l">
              <a:defRPr sz="4800" b="1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E2C7390-A781-021E-CEDA-D9040304381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20158" y="1741488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 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8">
            <a:extLst>
              <a:ext uri="{FF2B5EF4-FFF2-40B4-BE49-F238E27FC236}">
                <a16:creationId xmlns:a16="http://schemas.microsoft.com/office/drawing/2014/main" id="{F31C49C2-4E92-6564-1A68-190EFACC5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03C2B3-3873-7FFA-2567-57F2F6ABB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3334" y="0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619A50-ADC7-AA30-E96F-D0853D0DD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65016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447AC2-F09C-2AC2-0522-F871987D66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140" y="576470"/>
            <a:ext cx="4831209" cy="2266121"/>
          </a:xfrm>
        </p:spPr>
        <p:txBody>
          <a:bodyPr anchor="ctr">
            <a:normAutofit/>
          </a:bodyPr>
          <a:lstStyle>
            <a:lvl1pPr algn="r">
              <a:defRPr sz="4400" b="0" spc="0" baseline="0"/>
            </a:lvl1pPr>
          </a:lstStyle>
          <a:p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7C3A4AA6-1D0C-DE79-F399-33299CB812C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7139" y="3031435"/>
            <a:ext cx="4831209" cy="3478944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1000"/>
              </a:spcBef>
              <a:buNone/>
              <a:defRPr sz="2400"/>
            </a:lvl1pPr>
            <a:lvl2pPr marL="457200" indent="0" algn="r">
              <a:lnSpc>
                <a:spcPct val="100000"/>
              </a:lnSpc>
              <a:spcBef>
                <a:spcPts val="1000"/>
              </a:spcBef>
              <a:buNone/>
              <a:defRPr sz="2000"/>
            </a:lvl2pPr>
            <a:lvl3pPr marL="914400" indent="0" algn="r">
              <a:lnSpc>
                <a:spcPct val="100000"/>
              </a:lnSpc>
              <a:spcBef>
                <a:spcPts val="1000"/>
              </a:spcBef>
              <a:buNone/>
              <a:defRPr sz="1800"/>
            </a:lvl3pPr>
            <a:lvl4pPr marL="1371600" indent="0" algn="r">
              <a:lnSpc>
                <a:spcPct val="100000"/>
              </a:lnSpc>
              <a:spcBef>
                <a:spcPts val="1000"/>
              </a:spcBef>
              <a:buNone/>
              <a:defRPr sz="1600"/>
            </a:lvl4pPr>
            <a:lvl5pPr marL="1828800" indent="0" algn="r">
              <a:lnSpc>
                <a:spcPct val="100000"/>
              </a:lnSpc>
              <a:spcBef>
                <a:spcPts val="1000"/>
              </a:spcBef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890039" y="1751216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 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E58A54-F746-59CF-007A-329493EC502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075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A991E4A-E418-E9C0-B35B-0A81DCE3A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45" y="-3248"/>
            <a:ext cx="12192000" cy="6858000"/>
          </a:xfrm>
          <a:custGeom>
            <a:avLst/>
            <a:gdLst>
              <a:gd name="connsiteX0" fmla="*/ 1138655 w 12192000"/>
              <a:gd name="connsiteY0" fmla="*/ 1746908 h 6858000"/>
              <a:gd name="connsiteX1" fmla="*/ 913599 w 12192000"/>
              <a:gd name="connsiteY1" fmla="*/ 1971964 h 6858000"/>
              <a:gd name="connsiteX2" fmla="*/ 913599 w 12192000"/>
              <a:gd name="connsiteY2" fmla="*/ 5520711 h 6858000"/>
              <a:gd name="connsiteX3" fmla="*/ 1138655 w 12192000"/>
              <a:gd name="connsiteY3" fmla="*/ 5745767 h 6858000"/>
              <a:gd name="connsiteX4" fmla="*/ 6091846 w 12192000"/>
              <a:gd name="connsiteY4" fmla="*/ 5745767 h 6858000"/>
              <a:gd name="connsiteX5" fmla="*/ 6316902 w 12192000"/>
              <a:gd name="connsiteY5" fmla="*/ 5520711 h 6858000"/>
              <a:gd name="connsiteX6" fmla="*/ 6316902 w 12192000"/>
              <a:gd name="connsiteY6" fmla="*/ 1971964 h 6858000"/>
              <a:gd name="connsiteX7" fmla="*/ 6091846 w 12192000"/>
              <a:gd name="connsiteY7" fmla="*/ 1746908 h 6858000"/>
              <a:gd name="connsiteX8" fmla="*/ 1218461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12184610 w 12192000"/>
              <a:gd name="connsiteY11" fmla="*/ 6858000 h 6858000"/>
              <a:gd name="connsiteX12" fmla="*/ 0 w 12192000"/>
              <a:gd name="connsiteY12" fmla="*/ 0 h 6858000"/>
              <a:gd name="connsiteX13" fmla="*/ 918140 w 12192000"/>
              <a:gd name="connsiteY13" fmla="*/ 0 h 6858000"/>
              <a:gd name="connsiteX14" fmla="*/ 918140 w 12192000"/>
              <a:gd name="connsiteY14" fmla="*/ 1010539 h 6858000"/>
              <a:gd name="connsiteX15" fmla="*/ 1195741 w 12192000"/>
              <a:gd name="connsiteY15" fmla="*/ 1288140 h 6858000"/>
              <a:gd name="connsiteX16" fmla="*/ 6043842 w 12192000"/>
              <a:gd name="connsiteY16" fmla="*/ 1288140 h 6858000"/>
              <a:gd name="connsiteX17" fmla="*/ 6321443 w 12192000"/>
              <a:gd name="connsiteY17" fmla="*/ 1010539 h 6858000"/>
              <a:gd name="connsiteX18" fmla="*/ 6321443 w 12192000"/>
              <a:gd name="connsiteY18" fmla="*/ 0 h 6858000"/>
              <a:gd name="connsiteX19" fmla="*/ 11019692 w 12192000"/>
              <a:gd name="connsiteY19" fmla="*/ 0 h 6858000"/>
              <a:gd name="connsiteX20" fmla="*/ 11019692 w 12192000"/>
              <a:gd name="connsiteY20" fmla="*/ 6858000 h 6858000"/>
              <a:gd name="connsiteX21" fmla="*/ 6283982 w 12192000"/>
              <a:gd name="connsiteY21" fmla="*/ 6858000 h 6858000"/>
              <a:gd name="connsiteX22" fmla="*/ 6283982 w 12192000"/>
              <a:gd name="connsiteY22" fmla="*/ 6429590 h 6858000"/>
              <a:gd name="connsiteX23" fmla="*/ 6058926 w 12192000"/>
              <a:gd name="connsiteY23" fmla="*/ 6204534 h 6858000"/>
              <a:gd name="connsiteX24" fmla="*/ 1105735 w 12192000"/>
              <a:gd name="connsiteY24" fmla="*/ 6204534 h 6858000"/>
              <a:gd name="connsiteX25" fmla="*/ 880679 w 12192000"/>
              <a:gd name="connsiteY25" fmla="*/ 6429590 h 6858000"/>
              <a:gd name="connsiteX26" fmla="*/ 880679 w 12192000"/>
              <a:gd name="connsiteY26" fmla="*/ 6858000 h 6858000"/>
              <a:gd name="connsiteX27" fmla="*/ 0 w 12192000"/>
              <a:gd name="connsiteY2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192000" h="6858000"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close/>
                <a:moveTo>
                  <a:pt x="1218461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84610" y="6858000"/>
                </a:lnTo>
                <a:close/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1019692" y="0"/>
                </a:lnTo>
                <a:lnTo>
                  <a:pt x="11019692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3315A23-2C00-4A7E-B9E9-65CF734EE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068700" y="1116391"/>
            <a:ext cx="4120055" cy="4308449"/>
            <a:chOff x="5656746" y="820557"/>
            <a:chExt cx="4120055" cy="4308449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CFF8075D-03CC-DDD4-332C-F26F61AF7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DE03B7A5-6E3E-5DC1-6705-A3B82F408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BFAD7832-54F8-F683-7C5A-71ABBBD6D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1555" y="270595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0675" y="480627"/>
            <a:ext cx="4505155" cy="2894495"/>
          </a:xfrm>
        </p:spPr>
        <p:txBody>
          <a:bodyPr anchor="b">
            <a:normAutofit/>
          </a:bodyPr>
          <a:lstStyle>
            <a:lvl1pPr algn="l">
              <a:defRPr sz="4400" b="0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5410" y="1751759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</a:t>
            </a:r>
          </a:p>
          <a:p>
            <a:endParaRPr lang="en-US" dirty="0"/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6EE87FA3-5409-C076-826E-A5685EB21E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021313" y="3505200"/>
            <a:ext cx="4029859" cy="30019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400"/>
            </a:lvl1pPr>
            <a:lvl2pPr marL="457200" indent="0">
              <a:lnSpc>
                <a:spcPct val="100000"/>
              </a:lnSpc>
              <a:spcBef>
                <a:spcPts val="1000"/>
              </a:spcBef>
              <a:buNone/>
              <a:defRPr sz="2000"/>
            </a:lvl2pPr>
            <a:lvl3pPr marL="914400" indent="0">
              <a:lnSpc>
                <a:spcPct val="100000"/>
              </a:lnSpc>
              <a:spcBef>
                <a:spcPts val="1000"/>
              </a:spcBef>
              <a:buNone/>
              <a:defRPr sz="1800"/>
            </a:lvl3pPr>
            <a:lvl4pPr marL="1371600" indent="0">
              <a:lnSpc>
                <a:spcPct val="100000"/>
              </a:lnSpc>
              <a:spcBef>
                <a:spcPts val="1000"/>
              </a:spcBef>
              <a:buNone/>
              <a:defRPr sz="1600"/>
            </a:lvl4pPr>
            <a:lvl5pPr marL="1828800" indent="0">
              <a:lnSpc>
                <a:spcPct val="100000"/>
              </a:lnSpc>
              <a:spcBef>
                <a:spcPts val="1000"/>
              </a:spcBef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52A9BE-2A46-4899-C38E-B513CC1AF11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59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A9EF1CCA-35D0-41F4-BC3D-AA1679C3E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76514" y="397442"/>
            <a:ext cx="9619886" cy="6623279"/>
            <a:chOff x="1276514" y="397442"/>
            <a:chExt cx="9619886" cy="662327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39112C6-05E1-7A58-F9B3-4ED607F0FEB5}"/>
                </a:ext>
              </a:extLst>
            </p:cNvPr>
            <p:cNvGrpSpPr/>
            <p:nvPr userDrawn="1"/>
          </p:nvGrpSpPr>
          <p:grpSpPr>
            <a:xfrm>
              <a:off x="1276514" y="397442"/>
              <a:ext cx="3028206" cy="3166674"/>
              <a:chOff x="5656746" y="820557"/>
              <a:chExt cx="4120055" cy="4308449"/>
            </a:xfrm>
          </p:grpSpPr>
          <p:pic>
            <p:nvPicPr>
              <p:cNvPr id="9" name="Graphic 8">
                <a:extLst>
                  <a:ext uri="{FF2B5EF4-FFF2-40B4-BE49-F238E27FC236}">
                    <a16:creationId xmlns:a16="http://schemas.microsoft.com/office/drawing/2014/main" id="{580B3039-6990-1E35-87E4-6C581CF7BA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53287" y="820557"/>
                <a:ext cx="3926972" cy="4308449"/>
              </a:xfrm>
              <a:prstGeom prst="rect">
                <a:avLst/>
              </a:prstGeom>
            </p:spPr>
          </p:pic>
          <p:pic>
            <p:nvPicPr>
              <p:cNvPr id="10" name="Graphic 9">
                <a:extLst>
                  <a:ext uri="{FF2B5EF4-FFF2-40B4-BE49-F238E27FC236}">
                    <a16:creationId xmlns:a16="http://schemas.microsoft.com/office/drawing/2014/main" id="{37F0331D-9A8D-485F-9469-6B31E3D61C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656746" y="914755"/>
                <a:ext cx="4120055" cy="4120055"/>
              </a:xfrm>
              <a:prstGeom prst="rect">
                <a:avLst/>
              </a:prstGeom>
            </p:spPr>
          </p:pic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1BCBEDD-D6D8-B22D-46D2-C061FBDFE326}"/>
                </a:ext>
              </a:extLst>
            </p:cNvPr>
            <p:cNvGrpSpPr/>
            <p:nvPr userDrawn="1"/>
          </p:nvGrpSpPr>
          <p:grpSpPr>
            <a:xfrm>
              <a:off x="6776345" y="2712272"/>
              <a:ext cx="4120055" cy="4308449"/>
              <a:chOff x="5656746" y="820557"/>
              <a:chExt cx="4120055" cy="4308449"/>
            </a:xfrm>
          </p:grpSpPr>
          <p:pic>
            <p:nvPicPr>
              <p:cNvPr id="13" name="Graphic 12">
                <a:extLst>
                  <a:ext uri="{FF2B5EF4-FFF2-40B4-BE49-F238E27FC236}">
                    <a16:creationId xmlns:a16="http://schemas.microsoft.com/office/drawing/2014/main" id="{43D2104B-238A-6958-53E9-4C3CFC4C99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53287" y="820557"/>
                <a:ext cx="3926972" cy="4308449"/>
              </a:xfrm>
              <a:prstGeom prst="rect">
                <a:avLst/>
              </a:prstGeom>
            </p:spPr>
          </p:pic>
          <p:pic>
            <p:nvPicPr>
              <p:cNvPr id="14" name="Graphic 13">
                <a:extLst>
                  <a:ext uri="{FF2B5EF4-FFF2-40B4-BE49-F238E27FC236}">
                    <a16:creationId xmlns:a16="http://schemas.microsoft.com/office/drawing/2014/main" id="{FE1FCD13-2E12-4019-9FCB-3A53D17321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656746" y="914755"/>
                <a:ext cx="4120055" cy="4120055"/>
              </a:xfrm>
              <a:prstGeom prst="rect">
                <a:avLst/>
              </a:prstGeom>
            </p:spPr>
          </p:pic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CEA9FD7-5B24-27A7-2BB5-A937B6A4D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9386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3731B0-8EE6-11A7-D5EB-431792C48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2568" y="0"/>
            <a:ext cx="210812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EEE179-0672-B497-0D0F-DF7C0E09D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8745" y="507244"/>
            <a:ext cx="9143999" cy="2162065"/>
          </a:xfrm>
        </p:spPr>
        <p:txBody>
          <a:bodyPr anchor="b">
            <a:normAutofit/>
          </a:bodyPr>
          <a:lstStyle>
            <a:lvl1pPr algn="l">
              <a:defRPr sz="48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52700" y="3586281"/>
            <a:ext cx="7086600" cy="22860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AEB78-507E-76A4-533C-B685FBB93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715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08A07D-9CD9-61E7-5307-509E256E3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8196" y="0"/>
            <a:ext cx="249709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D3D556-F10A-EC7C-0757-E00C6BD11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755612" y="0"/>
            <a:ext cx="39699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F434F37-A346-4DC3-ACA1-FE0B5DD0A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405264" y="1517829"/>
            <a:ext cx="4120055" cy="4308449"/>
            <a:chOff x="5656746" y="820557"/>
            <a:chExt cx="4120055" cy="4308449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1CD6BFE6-65DF-2EFD-2AB8-EF54AE6ED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772A018D-5452-637A-6EFC-8A1C55CE03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43AED969-CB3F-45E5-4B56-8D4841A04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53444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EEE179-0672-B497-0D0F-DF7C0E09D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7523" y="750316"/>
            <a:ext cx="5469591" cy="2066052"/>
          </a:xfrm>
        </p:spPr>
        <p:txBody>
          <a:bodyPr anchor="ctr">
            <a:normAutofit/>
          </a:bodyPr>
          <a:lstStyle>
            <a:lvl1pPr algn="l">
              <a:defRPr sz="4400" b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5F3BAA8E-44E6-12B3-F690-09AB8C245E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97703" y="2884989"/>
            <a:ext cx="4768850" cy="36253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400"/>
            </a:lvl1pPr>
            <a:lvl2pPr marL="457200" indent="0">
              <a:lnSpc>
                <a:spcPct val="100000"/>
              </a:lnSpc>
              <a:spcBef>
                <a:spcPts val="1000"/>
              </a:spcBef>
              <a:buNone/>
              <a:defRPr sz="2000"/>
            </a:lvl2pPr>
            <a:lvl3pPr marL="914400" indent="0">
              <a:lnSpc>
                <a:spcPct val="100000"/>
              </a:lnSpc>
              <a:spcBef>
                <a:spcPts val="1000"/>
              </a:spcBef>
              <a:buNone/>
              <a:defRPr sz="1800"/>
            </a:lvl3pPr>
            <a:lvl4pPr marL="1371600" indent="0">
              <a:lnSpc>
                <a:spcPct val="100000"/>
              </a:lnSpc>
              <a:spcBef>
                <a:spcPts val="1000"/>
              </a:spcBef>
              <a:buNone/>
              <a:defRPr sz="1600"/>
            </a:lvl4pPr>
            <a:lvl5pPr marL="1828800" indent="0">
              <a:lnSpc>
                <a:spcPct val="100000"/>
              </a:lnSpc>
              <a:spcBef>
                <a:spcPts val="1000"/>
              </a:spcBef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A042FB-AE91-12A6-1B9A-55AE16FB534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997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FA63973E-7BCA-0A84-9988-670F7B314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928" y="1925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9F5EDC-2D5E-96A7-AAB9-D60B6E1AF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6699" y="3527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424DE0-155D-2A3C-788A-5A0C0D9CD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6728" y="275768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87C557-55D3-F920-773C-DDD1348C4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2673" y="2714197"/>
            <a:ext cx="4120055" cy="4308449"/>
            <a:chOff x="5656746" y="820557"/>
            <a:chExt cx="4120055" cy="4308449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1BC0724F-AE42-0E0F-E392-0C3EBB9DD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1B6F6A44-F108-5B62-1638-5680B0204E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0667" y="405113"/>
            <a:ext cx="4505155" cy="6007261"/>
          </a:xfrm>
        </p:spPr>
        <p:txBody>
          <a:bodyPr anchor="ctr">
            <a:normAutofit/>
          </a:bodyPr>
          <a:lstStyle>
            <a:lvl1pPr algn="r">
              <a:defRPr sz="4800" b="1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83A8F0F5-EBCC-860A-B0EE-A7F56BA39A4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876079" y="1748992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0224B-09BE-F95F-F2DE-0EA9731AEB8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764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050290D7-ABD3-D880-F002-A497290AC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45" y="-3248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D13AA8-D23C-5C6A-33DF-C454CDF89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01493" y="0"/>
            <a:ext cx="10916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C39822-D546-CAF5-43A0-84756C8C7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61785" y="0"/>
            <a:ext cx="2720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AD7832-54F8-F683-7C5A-71ABBBD6D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1555" y="270595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9930" y="347620"/>
            <a:ext cx="5163939" cy="2474204"/>
          </a:xfrm>
        </p:spPr>
        <p:txBody>
          <a:bodyPr anchor="b">
            <a:normAutofit/>
          </a:bodyPr>
          <a:lstStyle>
            <a:lvl1pPr algn="l">
              <a:defRPr sz="4400" b="0" spc="0" baseline="0"/>
            </a:lvl1pPr>
          </a:lstStyle>
          <a:p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00170" y="1751759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</a:t>
            </a:r>
          </a:p>
          <a:p>
            <a:endParaRPr lang="en-US" dirty="0"/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6EE87FA3-5409-C076-826E-A5685EB21E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599930" y="2961187"/>
            <a:ext cx="5163939" cy="3346735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/>
            </a:lvl1pPr>
            <a:lvl2pPr marL="80010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/>
            </a:lvl2pPr>
            <a:lvl3pPr marL="120015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/>
            </a:lvl3pPr>
            <a:lvl4pPr marL="165735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4pPr>
            <a:lvl5pPr marL="211455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3AD0209-DE4E-6825-8F20-EC9CF7FA6A2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083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1F6D51D-5B15-9B30-DC19-5F58B3052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37577" y="3429000"/>
            <a:ext cx="3288931" cy="3439321"/>
            <a:chOff x="5656746" y="820557"/>
            <a:chExt cx="4120055" cy="4308449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A480DA77-F71B-5298-1353-A41A3B4DA8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90839BC8-89BD-1554-5D44-CDDBE6CA9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1216545-2BDC-F9A0-F675-174EDC926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36" y="1602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68970B-8B94-3775-274C-FB844115E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2942" y="0"/>
            <a:ext cx="94077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972257-517A-A49E-FA85-ED69B1A60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068288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00852" y="1825625"/>
            <a:ext cx="4247067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E0070D-0874-F1CC-4E29-6938F5F6349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434851" y="1825625"/>
            <a:ext cx="4247067" cy="4351338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228600">
              <a:defRPr sz="2000"/>
            </a:lvl2pPr>
            <a:lvl3pPr marL="685800">
              <a:defRPr sz="2000"/>
            </a:lvl3pPr>
            <a:lvl4pPr marL="1143000">
              <a:defRPr sz="2000"/>
            </a:lvl4pPr>
            <a:lvl5pPr marL="1600200"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4AC65-CD3D-69D7-24FB-C82AA429A96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D04544E-40BA-0EF3-1D11-F15C7E80D3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83561" y="1602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06BFA7-94AE-3A18-523D-C688ECFB4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78414" y="0"/>
            <a:ext cx="94077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5786F04-54BF-9AA6-0B44-DE78BB380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85177" y="2407472"/>
            <a:ext cx="4120055" cy="4308449"/>
            <a:chOff x="5656746" y="820557"/>
            <a:chExt cx="4120055" cy="4308449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A2FB764-6719-6FC4-D31C-F96BBA0A6F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D87175FD-8DE3-7754-36A9-07FEE388E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00853" y="1825625"/>
            <a:ext cx="3525772" cy="4351338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>
              <a:spcAft>
                <a:spcPts val="800"/>
              </a:spcAft>
              <a:defRPr sz="1800"/>
            </a:lvl2pPr>
            <a:lvl3pPr>
              <a:spcAft>
                <a:spcPts val="800"/>
              </a:spcAft>
              <a:defRPr sz="1600"/>
            </a:lvl3pPr>
            <a:lvl4pPr>
              <a:spcAft>
                <a:spcPts val="800"/>
              </a:spcAft>
              <a:defRPr sz="1400"/>
            </a:lvl4pPr>
            <a:lvl5pPr>
              <a:spcAft>
                <a:spcPts val="8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E0070D-0874-F1CC-4E29-6938F5F6349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149516" y="1733025"/>
            <a:ext cx="6204283" cy="3989388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228600">
              <a:defRPr sz="2000"/>
            </a:lvl2pPr>
            <a:lvl3pPr marL="685800">
              <a:defRPr sz="2000"/>
            </a:lvl3pPr>
            <a:lvl4pPr marL="1143000">
              <a:defRPr sz="2000"/>
            </a:lvl4pPr>
            <a:lvl5pPr marL="1600200"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DBFC337-301C-C3ED-321C-AB4EF4A1082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593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9B0186-5603-6346-34F2-6BFA71BC6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14738" y="2425699"/>
            <a:ext cx="3288931" cy="3439321"/>
            <a:chOff x="5656746" y="820557"/>
            <a:chExt cx="4120055" cy="4308449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F76A59AE-96E4-A701-461B-61618472B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48649D3D-45B7-44C7-93B4-BDC88C328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987349E-C488-C02B-B3B1-CCDBD3A78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771" y="1602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12520" y="1825625"/>
            <a:ext cx="4825294" cy="4651375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 marL="457200" indent="0">
              <a:spcAft>
                <a:spcPts val="800"/>
              </a:spcAft>
              <a:buNone/>
              <a:defRPr sz="2000"/>
            </a:lvl2pPr>
            <a:lvl3pPr marL="914400" indent="0">
              <a:spcAft>
                <a:spcPts val="800"/>
              </a:spcAft>
              <a:buNone/>
              <a:defRPr sz="2000"/>
            </a:lvl3pPr>
            <a:lvl4pPr marL="1371600" indent="0">
              <a:spcAft>
                <a:spcPts val="800"/>
              </a:spcAft>
              <a:buNone/>
              <a:defRPr sz="2000"/>
            </a:lvl4pPr>
            <a:lvl5pPr marL="1828800" indent="0">
              <a:spcAft>
                <a:spcPts val="800"/>
              </a:spcAft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E0070D-0874-F1CC-4E29-6938F5F6349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696778" y="1813720"/>
            <a:ext cx="4657021" cy="4051300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228600">
              <a:defRPr sz="2000"/>
            </a:lvl2pPr>
            <a:lvl3pPr marL="685800">
              <a:defRPr sz="2000"/>
            </a:lvl3pPr>
            <a:lvl4pPr marL="1143000">
              <a:defRPr sz="2000"/>
            </a:lvl4pPr>
            <a:lvl5pPr marL="1600200"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004FE-7725-F349-1245-F443F9E81B9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276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FF97B6B-1E04-799C-CDFE-9DAFCA93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28970" y="13063"/>
            <a:ext cx="10916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11DE0A-4C1D-01B1-AA49-D966343F6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77288" y="0"/>
            <a:ext cx="10916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BEA20E-0FF2-2897-8BD6-8EFAA8C8D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78460" y="0"/>
            <a:ext cx="2720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E259F776-4BD1-2F21-61F0-3B60DF6F0366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825625"/>
            <a:ext cx="10515600" cy="4054475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table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2987B8-BA6E-EE2B-BFB9-D52D6D956AF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869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4A07D69-1AF2-A193-316E-DD3803E94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65206" y="0"/>
            <a:ext cx="249709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E4D2FA-0049-1792-F6B4-D5FE1EE5A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92348" y="0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6E6ACF-3879-BE02-100B-2096C2235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4323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E74699B-D6F0-303E-200A-7017E1842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06739" y="2603777"/>
            <a:ext cx="4120055" cy="4308449"/>
            <a:chOff x="5656746" y="820557"/>
            <a:chExt cx="4120055" cy="4308449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9C9E38E0-92AE-5063-B259-A22230AA6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7260EEF0-1C13-AD9A-0967-0460B979EA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00852" y="1825625"/>
            <a:ext cx="4678975" cy="4517302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>
              <a:spcAft>
                <a:spcPts val="800"/>
              </a:spcAft>
              <a:defRPr sz="1800"/>
            </a:lvl2pPr>
            <a:lvl3pPr>
              <a:spcAft>
                <a:spcPts val="800"/>
              </a:spcAft>
              <a:defRPr sz="1600"/>
            </a:lvl3pPr>
            <a:lvl4pPr>
              <a:spcAft>
                <a:spcPts val="800"/>
              </a:spcAft>
              <a:defRPr sz="1400"/>
            </a:lvl4pPr>
            <a:lvl5pPr>
              <a:spcAft>
                <a:spcPts val="8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FE848A-1123-37B6-C43C-5DC49EE0A1D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412173" y="1825625"/>
            <a:ext cx="4678975" cy="4517302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>
              <a:spcAft>
                <a:spcPts val="800"/>
              </a:spcAft>
              <a:defRPr sz="1800"/>
            </a:lvl2pPr>
            <a:lvl3pPr>
              <a:spcAft>
                <a:spcPts val="800"/>
              </a:spcAft>
              <a:defRPr sz="1600"/>
            </a:lvl3pPr>
            <a:lvl4pPr>
              <a:spcAft>
                <a:spcPts val="800"/>
              </a:spcAft>
              <a:defRPr sz="1400"/>
            </a:lvl4pPr>
            <a:lvl5pPr>
              <a:spcAft>
                <a:spcPts val="8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FB0C591-7E28-3722-4795-07BFB9ED09C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8516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050290D7-ABD3-D880-F002-A497290AC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45" y="-3248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312039-7E28-974D-ED1C-90F1E53E9C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01493" y="0"/>
            <a:ext cx="10916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C39822-D546-CAF5-43A0-84756C8C7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61785" y="0"/>
            <a:ext cx="2720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AD7832-54F8-F683-7C5A-71ABBBD6D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1555" y="270595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0675" y="382344"/>
            <a:ext cx="4377767" cy="2719337"/>
          </a:xfrm>
        </p:spPr>
        <p:txBody>
          <a:bodyPr anchor="b">
            <a:normAutofit/>
          </a:bodyPr>
          <a:lstStyle>
            <a:lvl1pPr algn="l">
              <a:defRPr sz="4400" b="1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1745" y="1751759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 </a:t>
            </a:r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6EE87FA3-5409-C076-826E-A5685EB21E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029992" y="3340800"/>
            <a:ext cx="4368450" cy="316633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/>
            </a:lvl1pPr>
            <a:lvl2pPr marL="57150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/>
            </a:lvl2pPr>
            <a:lvl3pPr marL="97155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/>
            </a:lvl3pPr>
            <a:lvl4pPr marL="142875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/>
            </a:lvl4pPr>
            <a:lvl5pPr marL="188595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027932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4CE42-5F4D-E722-7ABC-852575A3E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2FCB7E-A25D-2786-57F4-CAC8C0B7E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08020-3841-3809-A971-C013AF1CA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76D726-924C-E5EB-B28C-E3B9B4462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79A287-35CA-B289-525D-D67FB24B3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B2365-305E-AE99-1CD4-605540C71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187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1452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22000" y="6145255"/>
            <a:ext cx="8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1AFD02D-325A-F2A8-9A62-D6D0AF0693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4525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6" r:id="rId3"/>
    <p:sldLayoutId id="2147483663" r:id="rId4"/>
    <p:sldLayoutId id="2147483667" r:id="rId5"/>
    <p:sldLayoutId id="2147483668" r:id="rId6"/>
    <p:sldLayoutId id="2147483669" r:id="rId7"/>
    <p:sldLayoutId id="2147483650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54" r:id="rId14"/>
    <p:sldLayoutId id="2147483655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25232" y="2211318"/>
            <a:ext cx="4217424" cy="1961851"/>
          </a:xfrm>
        </p:spPr>
        <p:txBody>
          <a:bodyPr anchor="b">
            <a:normAutofit/>
          </a:bodyPr>
          <a:lstStyle/>
          <a:p>
            <a:r>
              <a:rPr lang="en-US" sz="3200" b="0" dirty="0"/>
              <a:t>Screen</a:t>
            </a:r>
            <a:r>
              <a:rPr lang="en-US" sz="3200" b="0" dirty="0">
                <a:ea typeface="+mj-lt"/>
                <a:cs typeface="+mj-lt"/>
              </a:rPr>
              <a:t> Time Patterns and Health Impact Among Indian Children (Ages 7–18)</a:t>
            </a:r>
            <a:endParaRPr lang="en-US" sz="3200" dirty="0">
              <a:cs typeface="Arial"/>
            </a:endParaRP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1E62FC75-1779-3169-4E86-DD7FFA284A0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2046" r="12046"/>
          <a:stretch/>
        </p:blipFill>
        <p:spPr>
          <a:prstGeom prst="roundRect">
            <a:avLst>
              <a:gd name="adj" fmla="val 5229"/>
            </a:avLst>
          </a:prstGeom>
        </p:spPr>
      </p:pic>
    </p:spTree>
    <p:extLst>
      <p:ext uri="{BB962C8B-B14F-4D97-AF65-F5344CB8AC3E}">
        <p14:creationId xmlns:p14="http://schemas.microsoft.com/office/powerpoint/2010/main" val="4186662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A4A7895-3FBB-9134-6284-4A5950F5B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140" y="576470"/>
            <a:ext cx="4831209" cy="2266121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9F04B66-5C68-5FD6-773C-3016CF0ACCE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7139" y="2256298"/>
            <a:ext cx="4831209" cy="42540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Objectives</a:t>
            </a:r>
          </a:p>
          <a:p>
            <a:r>
              <a:rPr lang="en-US" dirty="0">
                <a:ea typeface="+mn-lt"/>
                <a:cs typeface="+mn-lt"/>
              </a:rPr>
              <a:t>Dataset Overview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Avg Screen Time by Age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Screen Time by Gender</a:t>
            </a:r>
            <a:endParaRPr lang="en-US" dirty="0"/>
          </a:p>
          <a:p>
            <a:r>
              <a:rPr lang="en-US" b="1" dirty="0"/>
              <a:t>Urban vs Rural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Educational vs Recreational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Device Distribution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Health Impact</a:t>
            </a:r>
            <a:endParaRPr lang="en-US" dirty="0"/>
          </a:p>
          <a:p>
            <a:endParaRPr lang="en-US" dirty="0">
              <a:cs typeface="Arial"/>
            </a:endParaRP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1F36102-91E3-B5B6-05D2-563D2642C9A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2" name="Picture 1" descr="Data Analysis Dark Images | Free Photos, PNG Stickers, Wallpapers ...">
            <a:extLst>
              <a:ext uri="{FF2B5EF4-FFF2-40B4-BE49-F238E27FC236}">
                <a16:creationId xmlns:a16="http://schemas.microsoft.com/office/drawing/2014/main" id="{52AF2506-1E24-58A8-9FC8-22640FE51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971" y="1716759"/>
            <a:ext cx="5394435" cy="399598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403403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AF5A1F-B233-C75A-B7DC-066E53119D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20675" y="480627"/>
            <a:ext cx="4505155" cy="1200340"/>
          </a:xfrm>
        </p:spPr>
        <p:txBody>
          <a:bodyPr/>
          <a:lstStyle/>
          <a:p>
            <a:r>
              <a:rPr lang="en-US" dirty="0">
                <a:cs typeface="Arial"/>
              </a:rPr>
              <a:t>Objectives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09B322C-92BF-3972-EB9C-80C69BC2D96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021313" y="2306715"/>
            <a:ext cx="4029859" cy="42004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To analyze daily screen time patterns among children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To study its impact on health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To compare usage across age, gender, and region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To understand device preferences</a:t>
            </a:r>
            <a:endParaRPr lang="en-US">
              <a:ea typeface="+mn-lt"/>
              <a:cs typeface="+mn-lt"/>
            </a:endParaRPr>
          </a:p>
          <a:p>
            <a:endParaRPr lang="en-US" dirty="0">
              <a:cs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D0F67C-5190-34BB-E17A-1733452721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E29822-F3A8-FBED-5417-3BC61B234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01" y="1715846"/>
            <a:ext cx="4956700" cy="404774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306624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AFF48-132C-6DAA-622E-E58AF3A8D4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5598" y="507244"/>
            <a:ext cx="4017146" cy="697250"/>
          </a:xfrm>
        </p:spPr>
        <p:txBody>
          <a:bodyPr>
            <a:normAutofit fontScale="90000"/>
          </a:bodyPr>
          <a:lstStyle/>
          <a:p>
            <a:r>
              <a:rPr lang="en-US" sz="3200" b="0" dirty="0">
                <a:ea typeface="+mj-lt"/>
                <a:cs typeface="+mj-lt"/>
              </a:rPr>
              <a:t>Avg Screen Time by Age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7C2841-47C6-02F9-83CF-508A0ADF02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6020" y="1559214"/>
            <a:ext cx="4955959" cy="19752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7–10 yrs → 3.93 </a:t>
            </a:r>
            <a:r>
              <a:rPr lang="en-US" dirty="0" err="1">
                <a:ea typeface="+mn-lt"/>
                <a:cs typeface="+mn-lt"/>
              </a:rPr>
              <a:t>hrs</a:t>
            </a:r>
            <a:r>
              <a:rPr lang="en-US" dirty="0">
                <a:ea typeface="+mn-lt"/>
                <a:cs typeface="+mn-lt"/>
              </a:rPr>
              <a:t>/day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11–14 yrs → 4.52 </a:t>
            </a:r>
            <a:r>
              <a:rPr lang="en-US" dirty="0" err="1">
                <a:ea typeface="+mn-lt"/>
                <a:cs typeface="+mn-lt"/>
              </a:rPr>
              <a:t>hrs</a:t>
            </a:r>
            <a:r>
              <a:rPr lang="en-US" dirty="0">
                <a:ea typeface="+mn-lt"/>
                <a:cs typeface="+mn-lt"/>
              </a:rPr>
              <a:t>/day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15–18 yrs → 4.51 </a:t>
            </a:r>
            <a:r>
              <a:rPr lang="en-US" dirty="0" err="1">
                <a:ea typeface="+mn-lt"/>
                <a:cs typeface="+mn-lt"/>
              </a:rPr>
              <a:t>hrs</a:t>
            </a:r>
            <a:r>
              <a:rPr lang="en-US" dirty="0">
                <a:ea typeface="+mn-lt"/>
                <a:cs typeface="+mn-lt"/>
              </a:rPr>
              <a:t>/day</a:t>
            </a:r>
            <a:endParaRPr lang="en-US" dirty="0"/>
          </a:p>
          <a:p>
            <a:endParaRPr lang="en-US" dirty="0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C4D93-CBC8-E70B-5147-AEC324F70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57A8E19-C978-084C-6F85-B4DC0248F1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670" t="18986" r="46070" b="5179"/>
          <a:stretch>
            <a:fillRect/>
          </a:stretch>
        </p:blipFill>
        <p:spPr>
          <a:xfrm>
            <a:off x="446073" y="503068"/>
            <a:ext cx="5899821" cy="599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446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739A0-AB25-231D-F1BE-533B41CCCD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7523" y="750316"/>
            <a:ext cx="5469591" cy="2066052"/>
          </a:xfrm>
        </p:spPr>
        <p:txBody>
          <a:bodyPr/>
          <a:lstStyle/>
          <a:p>
            <a:r>
              <a:rPr lang="en-US" sz="2400" b="1" dirty="0">
                <a:cs typeface="Arial"/>
              </a:rPr>
              <a:t>Screen Time by Gender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4B449-06A6-DA15-9625-E5279E21ED2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97703" y="2115592"/>
            <a:ext cx="4768850" cy="3802945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b="1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Boys have slightly higher screen time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Both boys &amp; girls peak at 15–18 years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✅ Gender impact is small but consistent</a:t>
            </a:r>
            <a:endParaRPr lang="en-US"/>
          </a:p>
          <a:p>
            <a:endParaRPr lang="en-US" dirty="0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62A93-B05D-F902-E82F-647AA5B8957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03404CD-DD6E-52D3-4257-6A911905CD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140" t="17927" r="35298" b="-5076"/>
          <a:stretch>
            <a:fillRect/>
          </a:stretch>
        </p:blipFill>
        <p:spPr>
          <a:xfrm>
            <a:off x="912151" y="747204"/>
            <a:ext cx="4277376" cy="5976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295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1B9F9E-EC8A-09BD-BA33-8D977519C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0667" y="405113"/>
            <a:ext cx="4505155" cy="6007261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Device Distribution</a:t>
            </a:r>
          </a:p>
          <a:p>
            <a:pPr marL="285750" indent="-285750" algn="l">
              <a:buFont typeface="Arial"/>
              <a:buChar char="•"/>
            </a:pPr>
            <a:r>
              <a:rPr lang="en-US" sz="2400" b="0" dirty="0">
                <a:ea typeface="+mj-lt"/>
                <a:cs typeface="+mj-lt"/>
              </a:rPr>
              <a:t>Smartphone – 47%</a:t>
            </a:r>
            <a:endParaRPr lang="en-US" sz="2400" dirty="0">
              <a:cs typeface="Arial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2400" b="0" dirty="0">
                <a:ea typeface="+mj-lt"/>
                <a:cs typeface="+mj-lt"/>
              </a:rPr>
              <a:t>TV – 26%</a:t>
            </a:r>
            <a:endParaRPr lang="en-US" sz="2400" dirty="0">
              <a:cs typeface="Arial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2400" b="0" dirty="0">
                <a:ea typeface="+mj-lt"/>
                <a:cs typeface="+mj-lt"/>
              </a:rPr>
              <a:t>Laptop – 15%</a:t>
            </a:r>
            <a:endParaRPr lang="en-US" sz="2400" dirty="0">
              <a:cs typeface="Arial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2400" b="0" dirty="0">
                <a:ea typeface="+mj-lt"/>
                <a:cs typeface="+mj-lt"/>
              </a:rPr>
              <a:t>Tablet – 13%</a:t>
            </a:r>
            <a:br>
              <a:rPr lang="en-US" sz="2400" b="0" dirty="0">
                <a:ea typeface="+mj-lt"/>
                <a:cs typeface="+mj-lt"/>
              </a:rPr>
            </a:br>
            <a:r>
              <a:rPr lang="en-US" sz="2400" b="0" dirty="0">
                <a:ea typeface="+mj-lt"/>
                <a:cs typeface="+mj-lt"/>
              </a:rPr>
              <a:t> ✅ Smartphones are the main digital device</a:t>
            </a:r>
            <a:endParaRPr lang="en-US" sz="2400" dirty="0">
              <a:cs typeface="Arial"/>
            </a:endParaRPr>
          </a:p>
          <a:p>
            <a:endParaRPr lang="en-US" dirty="0"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B617AD-09E2-07D1-0572-86BE7139B99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99C7C15B-CB76-31E8-1678-31033A8DA3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03" t="18554" r="20929" b="10415"/>
          <a:stretch>
            <a:fillRect/>
          </a:stretch>
        </p:blipFill>
        <p:spPr>
          <a:xfrm>
            <a:off x="5883646" y="1279864"/>
            <a:ext cx="5659321" cy="4871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821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DA9D2C-79E5-25CF-E4A6-2AA9C1BE8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2532" y="658338"/>
            <a:ext cx="5178735" cy="609894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cs typeface="Arial"/>
              </a:rPr>
              <a:t>Educational vs Recreational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887FC-D1FD-80FF-11CA-504D9B1DB93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599930" y="1599945"/>
            <a:ext cx="5171337" cy="47153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b="1" dirty="0">
              <a:cs typeface="Arial"/>
            </a:endParaRPr>
          </a:p>
          <a:p>
            <a:r>
              <a:rPr lang="en-US">
                <a:ea typeface="+mn-lt"/>
                <a:cs typeface="+mn-lt"/>
              </a:rPr>
              <a:t>7–10 yrs → Educational dominates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11–14 yrs → Balanced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15–18 yrs → Recreational dominates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✅ Entertainment usage grows rapidly with age</a:t>
            </a:r>
            <a:endParaRPr lang="en-US" dirty="0"/>
          </a:p>
          <a:p>
            <a:endParaRPr lang="en-US" dirty="0">
              <a:cs typeface="Arial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62F5D22-6C73-5967-E35C-917445CF130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Picture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44F590-5750-265C-1881-6C6030AD1A3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4188" t="-698" r="12395" b="185"/>
          <a:stretch>
            <a:fillRect/>
          </a:stretch>
        </p:blipFill>
        <p:spPr>
          <a:xfrm>
            <a:off x="934114" y="1066404"/>
            <a:ext cx="5355212" cy="4727552"/>
          </a:xfrm>
          <a:prstGeom prst="roundRect">
            <a:avLst>
              <a:gd name="adj" fmla="val 5229"/>
            </a:avLst>
          </a:prstGeom>
        </p:spPr>
      </p:pic>
    </p:spTree>
    <p:extLst>
      <p:ext uri="{BB962C8B-B14F-4D97-AF65-F5344CB8AC3E}">
        <p14:creationId xmlns:p14="http://schemas.microsoft.com/office/powerpoint/2010/main" val="100933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6E6599B-92EE-DA04-9056-C282E455D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Urban vs Rural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93533C-26FD-AEBE-6ACB-A4F973ACA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852" y="1825625"/>
            <a:ext cx="4247067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Urban children show:</a:t>
            </a:r>
            <a:endParaRPr lang="en-US" sz="2400" dirty="0">
              <a:cs typeface="Arial"/>
            </a:endParaRPr>
          </a:p>
          <a:p>
            <a:pPr lvl="1"/>
            <a:r>
              <a:rPr lang="en-US" sz="2400" dirty="0">
                <a:ea typeface="+mn-lt"/>
                <a:cs typeface="+mn-lt"/>
              </a:rPr>
              <a:t>Higher average usage</a:t>
            </a:r>
            <a:endParaRPr lang="en-US" sz="2400" dirty="0">
              <a:cs typeface="Arial"/>
            </a:endParaRPr>
          </a:p>
          <a:p>
            <a:pPr lvl="1"/>
            <a:r>
              <a:rPr lang="en-US" sz="2400" dirty="0">
                <a:ea typeface="+mn-lt"/>
                <a:cs typeface="+mn-lt"/>
              </a:rPr>
              <a:t>Higher maximum values (up to 14 </a:t>
            </a:r>
            <a:r>
              <a:rPr lang="en-US" sz="2400" dirty="0" err="1">
                <a:ea typeface="+mn-lt"/>
                <a:cs typeface="+mn-lt"/>
              </a:rPr>
              <a:t>hrs</a:t>
            </a:r>
            <a:r>
              <a:rPr lang="en-US" sz="2400" dirty="0">
                <a:ea typeface="+mn-lt"/>
                <a:cs typeface="+mn-lt"/>
              </a:rPr>
              <a:t>/day)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>
                <a:ea typeface="+mn-lt"/>
                <a:cs typeface="+mn-lt"/>
              </a:rPr>
              <a:t> ✅ Urban lifestyle increases digital exposure</a:t>
            </a:r>
            <a:endParaRPr lang="en-US" sz="2400" dirty="0">
              <a:cs typeface="Arial"/>
            </a:endParaRPr>
          </a:p>
          <a:p>
            <a:endParaRPr lang="en-US" dirty="0"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232BDC-58BE-5669-7C02-6227C42B53A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DFDC00-BF01-46FC-71AC-3FE07AD6E4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962" t="19344" r="32756" b="5075"/>
          <a:stretch>
            <a:fillRect/>
          </a:stretch>
        </p:blipFill>
        <p:spPr>
          <a:xfrm>
            <a:off x="5700309" y="1801770"/>
            <a:ext cx="5218806" cy="3747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614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B865FC3-5E5A-2CB6-EF6D-0D318425C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Health Impact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31D7CA-E9C7-0293-D696-D1D3BCE5B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853" y="1825625"/>
            <a:ext cx="352577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Poor Sleep – Highest impact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Eye Strain – Second highest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Obesity Risk – </a:t>
            </a:r>
            <a:r>
              <a:rPr lang="en-US" dirty="0" err="1">
                <a:ea typeface="+mn-lt"/>
                <a:cs typeface="+mn-lt"/>
              </a:rPr>
              <a:t>Moderat</a:t>
            </a:r>
            <a:endParaRPr lang="en-US" dirty="0" err="1"/>
          </a:p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C76580-2AD8-C4C1-30CB-9530F6DE727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32" name="Picture 31" descr="A screenshot of a computer">
            <a:extLst>
              <a:ext uri="{FF2B5EF4-FFF2-40B4-BE49-F238E27FC236}">
                <a16:creationId xmlns:a16="http://schemas.microsoft.com/office/drawing/2014/main" id="{3915EF34-9065-070C-BFEE-D0EFE73584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698" t="18822" r="18650" b="16071"/>
          <a:stretch>
            <a:fillRect/>
          </a:stretch>
        </p:blipFill>
        <p:spPr>
          <a:xfrm>
            <a:off x="6319010" y="2004207"/>
            <a:ext cx="4282351" cy="3578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156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51400D-A5B1-7DF5-73CA-6C020EFD7A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F713FF8-F15B-84FE-66E3-D6F110C8C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1125D5-7A5E-DE25-1792-0D53020509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450" t="11963" r="3026" b="5083"/>
          <a:stretch>
            <a:fillRect/>
          </a:stretch>
        </p:blipFill>
        <p:spPr>
          <a:xfrm>
            <a:off x="1747010" y="640772"/>
            <a:ext cx="8702407" cy="568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416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E36B3-6688-F44F-0765-B9F7F44FB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cs typeface="Arial"/>
              </a:rPr>
              <a:t>Key Findings</a:t>
            </a:r>
            <a:endParaRPr lang="en-US" sz="3200" dirty="0"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CA788F-A96A-BC1E-FBB1-D5901D496DB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A83CC1-FA62-D70D-1F97-2F55EDA0309D}"/>
              </a:ext>
            </a:extLst>
          </p:cNvPr>
          <p:cNvSpPr txBox="1"/>
          <p:nvPr/>
        </p:nvSpPr>
        <p:spPr>
          <a:xfrm>
            <a:off x="672352" y="2031999"/>
            <a:ext cx="10130117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solidFill>
                <a:schemeClr val="bg1"/>
              </a:solidFill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solidFill>
                  <a:schemeClr val="bg1"/>
                </a:solidFill>
                <a:ea typeface="+mn-lt"/>
                <a:cs typeface="+mn-lt"/>
              </a:rPr>
              <a:t>Screen time increases with age</a:t>
            </a:r>
            <a:endParaRPr lang="en-US" sz="3200">
              <a:solidFill>
                <a:schemeClr val="bg1"/>
              </a:solidFill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solidFill>
                  <a:schemeClr val="bg1"/>
                </a:solidFill>
                <a:ea typeface="+mn-lt"/>
                <a:cs typeface="+mn-lt"/>
              </a:rPr>
              <a:t>Urban &gt; Rural screen exposure</a:t>
            </a:r>
            <a:endParaRPr lang="en-US" sz="3200">
              <a:solidFill>
                <a:schemeClr val="bg1"/>
              </a:solidFill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solidFill>
                  <a:schemeClr val="bg1"/>
                </a:solidFill>
                <a:ea typeface="+mn-lt"/>
                <a:cs typeface="+mn-lt"/>
              </a:rPr>
              <a:t>Smartphones dominate usage</a:t>
            </a:r>
            <a:endParaRPr lang="en-US" sz="3200">
              <a:solidFill>
                <a:schemeClr val="bg1"/>
              </a:solidFill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solidFill>
                  <a:schemeClr val="bg1"/>
                </a:solidFill>
                <a:ea typeface="+mn-lt"/>
                <a:cs typeface="+mn-lt"/>
              </a:rPr>
              <a:t>Poor sleep &amp; eye strain are major health risks</a:t>
            </a:r>
            <a:endParaRPr lang="en-US" sz="3200">
              <a:solidFill>
                <a:schemeClr val="bg1"/>
              </a:solidFill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solidFill>
                  <a:schemeClr val="bg1"/>
                </a:solidFill>
                <a:ea typeface="+mn-lt"/>
                <a:cs typeface="+mn-lt"/>
              </a:rPr>
              <a:t>Recreational usage overtakes education</a:t>
            </a:r>
            <a:endParaRPr lang="en-US" sz="3200">
              <a:solidFill>
                <a:schemeClr val="bg1"/>
              </a:solidFill>
              <a:cs typeface="Arial"/>
            </a:endParaRPr>
          </a:p>
          <a:p>
            <a:pPr algn="l"/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1815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8EEFE-3603-56A9-02FC-A2488A187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cs typeface="Arial"/>
              </a:rPr>
              <a:t>Recommendations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DA292-2DDD-FBBA-7845-3B181E433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852" y="1825625"/>
            <a:ext cx="4678975" cy="45173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400" b="1" dirty="0">
              <a:cs typeface="Arial"/>
            </a:endParaRPr>
          </a:p>
          <a:p>
            <a:r>
              <a:rPr lang="en-US" sz="2400" dirty="0">
                <a:ea typeface="+mn-lt"/>
                <a:cs typeface="+mn-lt"/>
              </a:rPr>
              <a:t>Daily screen time limits</a:t>
            </a:r>
            <a:endParaRPr lang="en-US" sz="2400" dirty="0">
              <a:cs typeface="Arial"/>
            </a:endParaRPr>
          </a:p>
          <a:p>
            <a:r>
              <a:rPr lang="en-US" sz="2400" dirty="0">
                <a:ea typeface="+mn-lt"/>
                <a:cs typeface="+mn-lt"/>
              </a:rPr>
              <a:t>Promote outdoor activities</a:t>
            </a:r>
            <a:endParaRPr lang="en-US" sz="2400">
              <a:cs typeface="Arial"/>
            </a:endParaRPr>
          </a:p>
          <a:p>
            <a:r>
              <a:rPr lang="en-US" sz="2400" dirty="0">
                <a:ea typeface="+mn-lt"/>
                <a:cs typeface="+mn-lt"/>
              </a:rPr>
              <a:t>Encourage educational apps</a:t>
            </a:r>
            <a:endParaRPr lang="en-US" sz="2400">
              <a:cs typeface="Arial"/>
            </a:endParaRPr>
          </a:p>
          <a:p>
            <a:r>
              <a:rPr lang="en-US" sz="2400" dirty="0">
                <a:ea typeface="+mn-lt"/>
                <a:cs typeface="+mn-lt"/>
              </a:rPr>
              <a:t>Use blue light protection</a:t>
            </a:r>
            <a:endParaRPr lang="en-US" sz="2400">
              <a:cs typeface="Arial"/>
            </a:endParaRPr>
          </a:p>
          <a:p>
            <a:r>
              <a:rPr lang="en-US" sz="2400" dirty="0">
                <a:ea typeface="+mn-lt"/>
                <a:cs typeface="+mn-lt"/>
              </a:rPr>
              <a:t>Conduct digital wellness programs in schools</a:t>
            </a:r>
            <a:endParaRPr lang="en-US" sz="2400" dirty="0"/>
          </a:p>
          <a:p>
            <a:pPr marL="0" indent="0">
              <a:buNone/>
            </a:pPr>
            <a:endParaRPr lang="en-US" dirty="0"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37D425-ACCD-D8C2-7544-51EDA05C8F1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472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AAB1C8-4A29-D350-B7C4-3089C13BF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20675" y="382344"/>
            <a:ext cx="4377767" cy="2719337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8618F-D769-F666-B1AD-B03C82DA1B2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763168" y="3430448"/>
            <a:ext cx="3023745" cy="984919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400" dirty="0">
              <a:cs typeface="Arial"/>
            </a:endParaRPr>
          </a:p>
          <a:p>
            <a:r>
              <a:rPr lang="en-US" sz="2400" dirty="0">
                <a:cs typeface="Arial"/>
              </a:rPr>
              <a:t>       Pooja 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A3C682-7A86-86DF-1D22-786038CD0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942" y="1605959"/>
            <a:ext cx="5722470" cy="439313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8293850"/>
      </p:ext>
    </p:extLst>
  </p:cSld>
  <p:clrMapOvr>
    <a:masterClrMapping/>
  </p:clrMapOvr>
</p:sld>
</file>

<file path=ppt/theme/theme1.xml><?xml version="1.0" encoding="utf-8"?>
<a:theme xmlns:a="http://schemas.openxmlformats.org/drawingml/2006/main" name="Madison">
  <a:themeElements>
    <a:clrScheme name="TM45439525">
      <a:dk1>
        <a:srgbClr val="000000"/>
      </a:dk1>
      <a:lt1>
        <a:srgbClr val="FFFFFF"/>
      </a:lt1>
      <a:dk2>
        <a:srgbClr val="1F2C28"/>
      </a:dk2>
      <a:lt2>
        <a:srgbClr val="E7E6E6"/>
      </a:lt2>
      <a:accent1>
        <a:srgbClr val="A1D58B"/>
      </a:accent1>
      <a:accent2>
        <a:srgbClr val="5EC795"/>
      </a:accent2>
      <a:accent3>
        <a:srgbClr val="4DADCE"/>
      </a:accent3>
      <a:accent4>
        <a:srgbClr val="CCB756"/>
      </a:accent4>
      <a:accent5>
        <a:srgbClr val="E29B35"/>
      </a:accent5>
      <a:accent6>
        <a:srgbClr val="8DC0C0"/>
      </a:accent6>
      <a:hlink>
        <a:srgbClr val="0563C1"/>
      </a:hlink>
      <a:folHlink>
        <a:srgbClr val="954F72"/>
      </a:folHlink>
    </a:clrScheme>
    <a:fontScheme name="Custom 11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439525_Win32_SL_V10" id="{6D1E132C-EE58-410C-AA79-6634C21077D3}" vid="{B34F418C-A6AD-4EA0-82A8-449DB69F48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C94F803-78B0-4743-862C-5C0CA596512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2DFC609-3144-4451-A09C-1FEABE97DD6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BD5B0D0-2713-4A58-8851-7057612DF0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328</Words>
  <Application>Microsoft Office PowerPoint</Application>
  <PresentationFormat>Widescreen</PresentationFormat>
  <Paragraphs>110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Madison</vt:lpstr>
      <vt:lpstr>Screen Time Patterns and Health Impact Among Indian Children (Ages 7–18)</vt:lpstr>
      <vt:lpstr>Agenda</vt:lpstr>
      <vt:lpstr>Objectives</vt:lpstr>
      <vt:lpstr>Avg Screen Time by Age</vt:lpstr>
      <vt:lpstr>Screen Time by Gender</vt:lpstr>
      <vt:lpstr>Device Distribution Smartphone – 47% TV – 26% Laptop – 15% Tablet – 13%  ✅ Smartphones are the main digital device </vt:lpstr>
      <vt:lpstr>Educational vs Recreational</vt:lpstr>
      <vt:lpstr>Urban vs Rural</vt:lpstr>
      <vt:lpstr>Health Impact</vt:lpstr>
      <vt:lpstr>PowerPoint Presentation</vt:lpstr>
      <vt:lpstr>Key Findings</vt:lpstr>
      <vt:lpstr>Recommendations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164</cp:revision>
  <dcterms:created xsi:type="dcterms:W3CDTF">2025-12-05T13:11:49Z</dcterms:created>
  <dcterms:modified xsi:type="dcterms:W3CDTF">2025-12-05T13:58:16Z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
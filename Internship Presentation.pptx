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440E28-779C-4748-AF36-D4648F7DAA0F}" v="195" dt="2025-12-05T20:19:20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B5D6B-ABED-4954-82CF-7A11636A6FF9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36E8D0-1C82-4C37-BE1F-2D330F01F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7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35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4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81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38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525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93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735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246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16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2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356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7873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335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940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392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05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D489D7-6EA9-41B4-BAE1-DCB462A0D853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696D2B8-E1AF-4AB4-96FE-EE0BEEBFE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44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86CF95-2465-E896-CBE0-04DE5ED4625A}"/>
              </a:ext>
            </a:extLst>
          </p:cNvPr>
          <p:cNvSpPr txBox="1"/>
          <p:nvPr/>
        </p:nvSpPr>
        <p:spPr>
          <a:xfrm>
            <a:off x="2689122" y="589936"/>
            <a:ext cx="68137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 err="1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ScreenSense</a:t>
            </a:r>
            <a:r>
              <a:rPr lang="en-IN" sz="44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Kids’ Screentime Visualisation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145DA-E6D4-1A82-C4BC-62AA934BEAFA}"/>
              </a:ext>
            </a:extLst>
          </p:cNvPr>
          <p:cNvSpPr txBox="1"/>
          <p:nvPr/>
        </p:nvSpPr>
        <p:spPr>
          <a:xfrm>
            <a:off x="3448662" y="2036486"/>
            <a:ext cx="5294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look at kids’ digital habits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CEC6A-B8B8-5216-06AB-002B9E125FBE}"/>
              </a:ext>
            </a:extLst>
          </p:cNvPr>
          <p:cNvSpPr txBox="1"/>
          <p:nvPr/>
        </p:nvSpPr>
        <p:spPr>
          <a:xfrm>
            <a:off x="7698657" y="5662289"/>
            <a:ext cx="3696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IN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Haripriya Mahajan</a:t>
            </a:r>
          </a:p>
        </p:txBody>
      </p:sp>
      <p:pic>
        <p:nvPicPr>
          <p:cNvPr id="1026" name="Picture 2" descr="Kid With Cell Phone Silhouette Stock ...">
            <a:extLst>
              <a:ext uri="{FF2B5EF4-FFF2-40B4-BE49-F238E27FC236}">
                <a16:creationId xmlns:a16="http://schemas.microsoft.com/office/drawing/2014/main" id="{39C689AA-8188-7ECA-8E7A-B5B94AC5D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40" y="2653185"/>
            <a:ext cx="2543022" cy="341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F46F50-BD14-6300-7DD5-21130197E200}"/>
              </a:ext>
            </a:extLst>
          </p:cNvPr>
          <p:cNvSpPr txBox="1"/>
          <p:nvPr/>
        </p:nvSpPr>
        <p:spPr>
          <a:xfrm>
            <a:off x="4493340" y="3136612"/>
            <a:ext cx="3205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Report</a:t>
            </a:r>
          </a:p>
        </p:txBody>
      </p:sp>
      <p:pic>
        <p:nvPicPr>
          <p:cNvPr id="1028" name="Picture 4" descr="4+ Thousand Kids Silhouette Phone Royalty-Free Images, Stock Photos &amp;  Pictures | Shutterstock">
            <a:extLst>
              <a:ext uri="{FF2B5EF4-FFF2-40B4-BE49-F238E27FC236}">
                <a16:creationId xmlns:a16="http://schemas.microsoft.com/office/drawing/2014/main" id="{F0B592B8-274D-D20D-E719-96AF4B4E5E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72"/>
          <a:stretch>
            <a:fillRect/>
          </a:stretch>
        </p:blipFill>
        <p:spPr bwMode="auto">
          <a:xfrm>
            <a:off x="8554065" y="2653185"/>
            <a:ext cx="2841519" cy="279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132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F89F8B-0D39-D03D-B809-8F5BA6674617}"/>
              </a:ext>
            </a:extLst>
          </p:cNvPr>
          <p:cNvSpPr txBox="1"/>
          <p:nvPr/>
        </p:nvSpPr>
        <p:spPr>
          <a:xfrm>
            <a:off x="3028335" y="569946"/>
            <a:ext cx="61353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1: Data Foundation and Cleaning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9AB00-89A1-ABAC-AE54-C1CB28405A80}"/>
              </a:ext>
            </a:extLst>
          </p:cNvPr>
          <p:cNvSpPr txBox="1"/>
          <p:nvPr/>
        </p:nvSpPr>
        <p:spPr>
          <a:xfrm>
            <a:off x="658758" y="1019088"/>
            <a:ext cx="613532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1: </a:t>
            </a:r>
            <a:r>
              <a:rPr lang="en-US" sz="19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Initialization and Dataset Setup</a:t>
            </a:r>
            <a:endParaRPr lang="en-IN" sz="19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1E6C2A1F-17D3-8A4E-1C2B-D68C01382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758" y="1712739"/>
            <a:ext cx="75448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explored to understand its fields, size, and what it reveals about kids’ screen habits.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checks focused on column types, inconsistent labels, and missing values.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observations shaped the project plan: clean the data, build core visuals, compare key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segments, and identify deeper usage patterns.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CB273D8-AF5E-85AB-CE8B-DBF16FDBB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17" y="1357642"/>
            <a:ext cx="3027411" cy="23434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02EAA0-27D0-4900-CDE5-1A608C966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417" y="3761642"/>
            <a:ext cx="3027411" cy="22417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FA6253-B8E8-AA40-6946-225ED93ECE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398"/>
          <a:stretch>
            <a:fillRect/>
          </a:stretch>
        </p:blipFill>
        <p:spPr>
          <a:xfrm>
            <a:off x="658758" y="3761641"/>
            <a:ext cx="7531513" cy="22465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0672952-AAF8-4C07-83BC-29B94538A71C}"/>
              </a:ext>
            </a:extLst>
          </p:cNvPr>
          <p:cNvSpPr txBox="1"/>
          <p:nvPr/>
        </p:nvSpPr>
        <p:spPr>
          <a:xfrm>
            <a:off x="3462716" y="6003361"/>
            <a:ext cx="193695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Dataset</a:t>
            </a:r>
          </a:p>
        </p:txBody>
      </p:sp>
    </p:spTree>
    <p:extLst>
      <p:ext uri="{BB962C8B-B14F-4D97-AF65-F5344CB8AC3E}">
        <p14:creationId xmlns:p14="http://schemas.microsoft.com/office/powerpoint/2010/main" val="180950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2965C7-1147-806C-D536-1513C095D50C}"/>
              </a:ext>
            </a:extLst>
          </p:cNvPr>
          <p:cNvSpPr txBox="1"/>
          <p:nvPr/>
        </p:nvSpPr>
        <p:spPr>
          <a:xfrm>
            <a:off x="619433" y="757085"/>
            <a:ext cx="497512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2: </a:t>
            </a:r>
            <a:r>
              <a:rPr lang="en-US" sz="19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and Feature Engineering </a:t>
            </a:r>
            <a:endParaRPr lang="en-IN" sz="19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6AFC0D-7C57-F79B-8D8F-26AB6662B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10" y="2861187"/>
            <a:ext cx="3252842" cy="33155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46A9DB2-C726-F8A6-E089-EC91001DF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33" y="1213052"/>
            <a:ext cx="1084498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Health Impact column were handled and inconsistent device/activity labels were cleaned.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 was used for comma-separated values in Health Impact column.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fields were created, including age groups, weekday/weekend, screen-time categories, and Educational/Recreational ratios.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ensured a consistent, analysis-ready dataset.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4809C-E319-D1B5-AA9D-BBD5E80D2617}"/>
              </a:ext>
            </a:extLst>
          </p:cNvPr>
          <p:cNvSpPr txBox="1"/>
          <p:nvPr/>
        </p:nvSpPr>
        <p:spPr>
          <a:xfrm>
            <a:off x="4365523" y="2913038"/>
            <a:ext cx="273828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Group Column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8-11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Pre-Teens: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12-14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Teens: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15-18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BD652F-7B21-88C9-143E-291C60982044}"/>
              </a:ext>
            </a:extLst>
          </p:cNvPr>
          <p:cNvSpPr txBox="1"/>
          <p:nvPr/>
        </p:nvSpPr>
        <p:spPr>
          <a:xfrm>
            <a:off x="4365523" y="4375355"/>
            <a:ext cx="273828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Screen-time Categories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Usage: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0-2 hr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Usage: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2-5 hr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Usage: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2-8 hr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Usage: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8-24 hr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5D203-85F9-2832-C3D6-5D6957795A27}"/>
              </a:ext>
            </a:extLst>
          </p:cNvPr>
          <p:cNvSpPr txBox="1"/>
          <p:nvPr/>
        </p:nvSpPr>
        <p:spPr>
          <a:xfrm>
            <a:off x="7610168" y="2913038"/>
            <a:ext cx="355927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Edu-Rec Category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Recreational: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0.3-0.4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Usage: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0.4-0.5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Educational: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0.5-0.6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3D8E0-9DE5-B24B-341F-D34289E96BEB}"/>
              </a:ext>
            </a:extLst>
          </p:cNvPr>
          <p:cNvSpPr txBox="1"/>
          <p:nvPr/>
        </p:nvSpPr>
        <p:spPr>
          <a:xfrm>
            <a:off x="7610168" y="4652354"/>
            <a:ext cx="355927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Type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or Moderate Usage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Weekend: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or Very High Usage</a:t>
            </a:r>
          </a:p>
        </p:txBody>
      </p:sp>
    </p:spTree>
    <p:extLst>
      <p:ext uri="{BB962C8B-B14F-4D97-AF65-F5344CB8AC3E}">
        <p14:creationId xmlns:p14="http://schemas.microsoft.com/office/powerpoint/2010/main" val="3582314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9E8C94-BA52-5B2B-8B99-863ABF90210C}"/>
              </a:ext>
            </a:extLst>
          </p:cNvPr>
          <p:cNvSpPr txBox="1"/>
          <p:nvPr/>
        </p:nvSpPr>
        <p:spPr>
          <a:xfrm>
            <a:off x="3028335" y="588201"/>
            <a:ext cx="61353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2: Visual Exploration and Topic Trends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42A0F-AAA0-AB87-6A70-2A876F6E67F0}"/>
              </a:ext>
            </a:extLst>
          </p:cNvPr>
          <p:cNvSpPr txBox="1"/>
          <p:nvPr/>
        </p:nvSpPr>
        <p:spPr>
          <a:xfrm>
            <a:off x="776748" y="1019088"/>
            <a:ext cx="613532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3: </a:t>
            </a:r>
            <a:r>
              <a:rPr lang="en-US" sz="19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and Bivariate Visual Analysis </a:t>
            </a:r>
            <a:endParaRPr lang="en-IN" sz="19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3A008C-729A-548F-2ECE-234034B4F576}"/>
              </a:ext>
            </a:extLst>
          </p:cNvPr>
          <p:cNvSpPr txBox="1"/>
          <p:nvPr/>
        </p:nvSpPr>
        <p:spPr>
          <a:xfrm>
            <a:off x="776748" y="1666285"/>
            <a:ext cx="69317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Looked at individual variables like daily screen hours, device types, activity categories, and age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how screen time is distributed across the dataset, including the presence of high-usage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Saw which devices and screen-time categories were most common overall.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age with screen hours and found clear differences: pre-teens and teens show the highest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gender and location differences, which showed minimal variation across most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a strong split between weekday and weekend usage, with weekends showing noticeably higher screen hours.</a:t>
            </a:r>
          </a:p>
          <a:p>
            <a:endParaRPr lang="en-IN" dirty="0"/>
          </a:p>
        </p:txBody>
      </p:sp>
      <p:pic>
        <p:nvPicPr>
          <p:cNvPr id="4098" name="Picture 2" descr="Excel Data Icon Stock Illustrations – 1,441 Excel Data Icon Stock  Illustrations, Vectors &amp; Clipart - Dreamstime">
            <a:extLst>
              <a:ext uri="{FF2B5EF4-FFF2-40B4-BE49-F238E27FC236}">
                <a16:creationId xmlns:a16="http://schemas.microsoft.com/office/drawing/2014/main" id="{9469FB62-2F33-77EB-37DB-952371D08E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1"/>
          <a:stretch>
            <a:fillRect/>
          </a:stretch>
        </p:blipFill>
        <p:spPr bwMode="auto">
          <a:xfrm>
            <a:off x="7708490" y="1019088"/>
            <a:ext cx="3758380" cy="511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460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4208BC-3BDC-8151-EBC2-2DDBED7ECE27}"/>
              </a:ext>
            </a:extLst>
          </p:cNvPr>
          <p:cNvSpPr txBox="1"/>
          <p:nvPr/>
        </p:nvSpPr>
        <p:spPr>
          <a:xfrm>
            <a:off x="816078" y="759230"/>
            <a:ext cx="611566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4: </a:t>
            </a:r>
            <a:r>
              <a:rPr lang="en-US" sz="19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Device/Activity and Weekday/Weekend Analysis </a:t>
            </a:r>
            <a:endParaRPr lang="en-IN" sz="19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2A8DA64-4AD8-F199-B69B-8B22A152C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077" y="1230539"/>
            <a:ext cx="1055984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 usage patterns showed kids mainly use TVs, pre-teens rely on laptops and smartphones, and teens use a mix of devices.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 categories highlighted a strong recreational share.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Weekend usage was significantly higher than weekday usage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A1878C0B-1B3B-E48D-B091-181A2765F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07" y="2517457"/>
            <a:ext cx="2853813" cy="358131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>
            <a:extLst>
              <a:ext uri="{FF2B5EF4-FFF2-40B4-BE49-F238E27FC236}">
                <a16:creationId xmlns:a16="http://schemas.microsoft.com/office/drawing/2014/main" id="{C0133BB6-9BB2-8AE5-ABB7-4E169A970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951" y="2517456"/>
            <a:ext cx="3034792" cy="358131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>
            <a:extLst>
              <a:ext uri="{FF2B5EF4-FFF2-40B4-BE49-F238E27FC236}">
                <a16:creationId xmlns:a16="http://schemas.microsoft.com/office/drawing/2014/main" id="{36E4FF18-55D5-BD3D-4C89-CC5897DE8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275" y="2517456"/>
            <a:ext cx="4330648" cy="358131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88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61C36D-9DAC-6F9B-1831-1BCC8AC1274D}"/>
              </a:ext>
            </a:extLst>
          </p:cNvPr>
          <p:cNvSpPr txBox="1"/>
          <p:nvPr/>
        </p:nvSpPr>
        <p:spPr>
          <a:xfrm>
            <a:off x="3028335" y="557423"/>
            <a:ext cx="61353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3: Segment &amp; Insight Deep-Dives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3FBAD-425A-D553-107F-B61CE4C3B9A5}"/>
              </a:ext>
            </a:extLst>
          </p:cNvPr>
          <p:cNvSpPr txBox="1"/>
          <p:nvPr/>
        </p:nvSpPr>
        <p:spPr>
          <a:xfrm>
            <a:off x="747252" y="1028694"/>
            <a:ext cx="613532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5: </a:t>
            </a:r>
            <a:r>
              <a:rPr lang="en-US" sz="19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Cohort and Segment Analysis</a:t>
            </a:r>
            <a:endParaRPr lang="en-IN" sz="19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930A41-AD82-0CAC-A06C-FE9A0ACA8D59}"/>
              </a:ext>
            </a:extLst>
          </p:cNvPr>
          <p:cNvSpPr txBox="1"/>
          <p:nvPr/>
        </p:nvSpPr>
        <p:spPr>
          <a:xfrm>
            <a:off x="747252" y="1641987"/>
            <a:ext cx="8416412" cy="816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B70F39F-A35B-F794-13C4-E8D13BCAB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53" y="1453799"/>
            <a:ext cx="71775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Cohorts such as Age × Device, Age ×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Device ×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revealed detailed usage clusters.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Heatmaps highlighted heavy-use groups, with pre-teens and kids often at the top.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 differences were small, while location showed differences mainly in health symptoms.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1E4459-861E-E39B-7932-DB825F504553}"/>
              </a:ext>
            </a:extLst>
          </p:cNvPr>
          <p:cNvSpPr txBox="1"/>
          <p:nvPr/>
        </p:nvSpPr>
        <p:spPr>
          <a:xfrm>
            <a:off x="747251" y="3501767"/>
            <a:ext cx="611566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6: </a:t>
            </a:r>
            <a:r>
              <a:rPr lang="en-US" sz="19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Seasonal/Calendar or Habit Patterns</a:t>
            </a:r>
            <a:endParaRPr lang="en-IN" sz="19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70CFEE5-3E1F-462E-31D7-6BD79C8CF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52" y="3926873"/>
            <a:ext cx="717754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no date column, analysis focused 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patterns instead of seasonality.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Day-Type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ScreenTime_Category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fields showed recurring habits and consistent high-use categories.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 confirmed stable patterns across user segments.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5C007C-A5D3-93F0-16DF-F7F06AE17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" r="6559"/>
          <a:stretch>
            <a:fillRect/>
          </a:stretch>
        </p:blipFill>
        <p:spPr>
          <a:xfrm>
            <a:off x="8042787" y="1315092"/>
            <a:ext cx="3283974" cy="486939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6537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CFD0DF-1048-BD9F-371B-4553FC74351B}"/>
              </a:ext>
            </a:extLst>
          </p:cNvPr>
          <p:cNvSpPr txBox="1"/>
          <p:nvPr/>
        </p:nvSpPr>
        <p:spPr>
          <a:xfrm>
            <a:off x="737419" y="1505938"/>
            <a:ext cx="613532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7: </a:t>
            </a:r>
            <a:r>
              <a:rPr lang="en-US" sz="19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Report or Dashboard Preparation</a:t>
            </a:r>
            <a:endParaRPr lang="en-IN" sz="19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8DA38-CC8D-5CF9-0138-25D40AB3D557}"/>
              </a:ext>
            </a:extLst>
          </p:cNvPr>
          <p:cNvSpPr txBox="1"/>
          <p:nvPr/>
        </p:nvSpPr>
        <p:spPr>
          <a:xfrm>
            <a:off x="737419" y="3642933"/>
            <a:ext cx="611566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8: </a:t>
            </a:r>
            <a:r>
              <a:rPr lang="en-US" sz="19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and Final Presentation</a:t>
            </a:r>
            <a:endParaRPr lang="en-IN" sz="19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1C167D-2EE9-93D1-E168-F719201906B6}"/>
              </a:ext>
            </a:extLst>
          </p:cNvPr>
          <p:cNvSpPr txBox="1"/>
          <p:nvPr/>
        </p:nvSpPr>
        <p:spPr>
          <a:xfrm>
            <a:off x="3038168" y="618977"/>
            <a:ext cx="61156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4: Report and Presentation 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C70EE0A-82D3-76EA-63B7-8B9DAA6E5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419" y="2014738"/>
            <a:ext cx="586002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Power BI dashboard was built with filters for age, gender, and location.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visuals included device mix, usage distribution, day-type patterns, and cohort summaries.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83681BA-72B0-0B3D-AF0C-42B873AEE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419" y="4086851"/>
            <a:ext cx="613532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 were consolidated into a final report and slide deck.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presentation followed a clear flow: Who uses screens the most?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How are they using screens?  What are the consequences? Who is at the highest risk?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4631D3-09DD-D3EC-6CE0-4521586B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239" y="1298021"/>
            <a:ext cx="4365523" cy="468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3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8A3964-952E-4E5B-8FBB-8B5479C4EA56}"/>
              </a:ext>
            </a:extLst>
          </p:cNvPr>
          <p:cNvSpPr txBox="1"/>
          <p:nvPr/>
        </p:nvSpPr>
        <p:spPr>
          <a:xfrm>
            <a:off x="4744064" y="570270"/>
            <a:ext cx="2703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205BD-E38F-A490-672F-ABF02812C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407" y="1317209"/>
            <a:ext cx="10481186" cy="48574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F6BC71-7D35-3C02-8162-2F3A5196BAA2}"/>
              </a:ext>
            </a:extLst>
          </p:cNvPr>
          <p:cNvSpPr txBox="1"/>
          <p:nvPr/>
        </p:nvSpPr>
        <p:spPr>
          <a:xfrm>
            <a:off x="855407" y="932488"/>
            <a:ext cx="3770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using screens the most?</a:t>
            </a:r>
          </a:p>
        </p:txBody>
      </p:sp>
    </p:spTree>
    <p:extLst>
      <p:ext uri="{BB962C8B-B14F-4D97-AF65-F5344CB8AC3E}">
        <p14:creationId xmlns:p14="http://schemas.microsoft.com/office/powerpoint/2010/main" val="3558670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26BA22-81F1-C522-A909-355B8E774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910" y="1140542"/>
            <a:ext cx="10618838" cy="50734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C9DCB6-28C2-FABB-40C0-8F513B1C700D}"/>
              </a:ext>
            </a:extLst>
          </p:cNvPr>
          <p:cNvSpPr txBox="1"/>
          <p:nvPr/>
        </p:nvSpPr>
        <p:spPr>
          <a:xfrm>
            <a:off x="747252" y="644013"/>
            <a:ext cx="6115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are they using screens?</a:t>
            </a:r>
            <a:endParaRPr lang="en-IN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578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827C08-CD45-0AD8-BA87-C88310EE0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5" y="1052052"/>
            <a:ext cx="10648336" cy="51914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1B5650-0421-2489-A57B-650B5922E3EE}"/>
              </a:ext>
            </a:extLst>
          </p:cNvPr>
          <p:cNvSpPr txBox="1"/>
          <p:nvPr/>
        </p:nvSpPr>
        <p:spPr>
          <a:xfrm>
            <a:off x="737419" y="682720"/>
            <a:ext cx="6115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consequences?</a:t>
            </a:r>
            <a:endParaRPr lang="en-IN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181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E7E794-4198-BACF-0E2D-52513A1A3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4" y="1091381"/>
            <a:ext cx="10599174" cy="51215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844715-3574-6D45-EB59-6B518B525FA1}"/>
              </a:ext>
            </a:extLst>
          </p:cNvPr>
          <p:cNvSpPr txBox="1"/>
          <p:nvPr/>
        </p:nvSpPr>
        <p:spPr>
          <a:xfrm>
            <a:off x="796413" y="706660"/>
            <a:ext cx="3431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at the highest risk?</a:t>
            </a:r>
            <a:endParaRPr lang="en-IN" sz="2000" b="1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1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034D94-8F20-2819-37DB-3AC57FD9F0D5}"/>
              </a:ext>
            </a:extLst>
          </p:cNvPr>
          <p:cNvSpPr txBox="1"/>
          <p:nvPr/>
        </p:nvSpPr>
        <p:spPr>
          <a:xfrm>
            <a:off x="4109884" y="2598003"/>
            <a:ext cx="3972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16264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153</TotalTime>
  <Words>632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Haripriya Mahajan</dc:creator>
  <cp:lastModifiedBy>Haripriya Mahajan</cp:lastModifiedBy>
  <cp:revision>2</cp:revision>
  <dcterms:created xsi:type="dcterms:W3CDTF">2025-12-05T17:46:24Z</dcterms:created>
  <dcterms:modified xsi:type="dcterms:W3CDTF">2025-12-05T20:19:59Z</dcterms:modified>
</cp:coreProperties>
</file>
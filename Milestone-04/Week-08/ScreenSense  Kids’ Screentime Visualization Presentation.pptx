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8288000" cy="10287000"/>
  <p:notesSz cx="6858000" cy="9144000"/>
  <p:embeddedFontLst>
    <p:embeddedFont>
      <p:font typeface="Questrial" pitchFamily="2" charset="0"/>
      <p:regular r:id="rId19"/>
    </p:embeddedFont>
    <p:embeddedFont>
      <p:font typeface="Times New Roman Bold" panose="02020803070505020304" pitchFamily="18"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003"/>
    <a:srgbClr val="0D0F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706A31-E437-4DA6-8E19-249571EE60BF}" v="3" dt="2025-12-05T06:25:26.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3" d="100"/>
          <a:sy n="73" d="100"/>
        </p:scale>
        <p:origin x="59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Freeform 2"/>
          <p:cNvSpPr/>
          <p:nvPr/>
        </p:nvSpPr>
        <p:spPr>
          <a:xfrm>
            <a:off x="15487666" y="3657158"/>
            <a:ext cx="5970492" cy="5905360"/>
          </a:xfrm>
          <a:custGeom>
            <a:avLst/>
            <a:gdLst/>
            <a:ahLst/>
            <a:cxnLst/>
            <a:rect l="l" t="t" r="r" b="b"/>
            <a:pathLst>
              <a:path w="5970492" h="5905360">
                <a:moveTo>
                  <a:pt x="0" y="0"/>
                </a:moveTo>
                <a:lnTo>
                  <a:pt x="5970492" y="0"/>
                </a:lnTo>
                <a:lnTo>
                  <a:pt x="5970492" y="5905360"/>
                </a:lnTo>
                <a:lnTo>
                  <a:pt x="0" y="59053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92043" y="-4951236"/>
            <a:ext cx="12278976" cy="12145023"/>
          </a:xfrm>
          <a:custGeom>
            <a:avLst/>
            <a:gdLst/>
            <a:ahLst/>
            <a:cxnLst/>
            <a:rect l="l" t="t" r="r" b="b"/>
            <a:pathLst>
              <a:path w="12278976" h="12145023">
                <a:moveTo>
                  <a:pt x="0" y="0"/>
                </a:moveTo>
                <a:lnTo>
                  <a:pt x="12278976" y="0"/>
                </a:lnTo>
                <a:lnTo>
                  <a:pt x="12278976" y="12145024"/>
                </a:lnTo>
                <a:lnTo>
                  <a:pt x="0" y="121450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7265905" y="1953016"/>
            <a:ext cx="10848477" cy="1524622"/>
          </a:xfrm>
          <a:prstGeom prst="rect">
            <a:avLst/>
          </a:prstGeom>
        </p:spPr>
        <p:txBody>
          <a:bodyPr lIns="0" tIns="0" rIns="0" bIns="0" rtlCol="0" anchor="t">
            <a:spAutoFit/>
          </a:bodyPr>
          <a:lstStyle/>
          <a:p>
            <a:pPr algn="l">
              <a:lnSpc>
                <a:spcPts val="5639"/>
              </a:lnSpc>
            </a:pPr>
            <a:r>
              <a:rPr lang="en-US" sz="6266" b="1">
                <a:solidFill>
                  <a:srgbClr val="FFFFFF"/>
                </a:solidFill>
                <a:latin typeface="Times New Roman Bold"/>
                <a:ea typeface="Times New Roman Bold"/>
                <a:cs typeface="Times New Roman Bold"/>
                <a:sym typeface="Times New Roman Bold"/>
              </a:rPr>
              <a:t>ScreenSense : Kids’ Screentime Visualization</a:t>
            </a:r>
          </a:p>
        </p:txBody>
      </p:sp>
      <p:sp>
        <p:nvSpPr>
          <p:cNvPr id="5" name="TextBox 5"/>
          <p:cNvSpPr txBox="1"/>
          <p:nvPr/>
        </p:nvSpPr>
        <p:spPr>
          <a:xfrm>
            <a:off x="1761645" y="7926045"/>
            <a:ext cx="1918622" cy="431800"/>
          </a:xfrm>
          <a:prstGeom prst="rect">
            <a:avLst/>
          </a:prstGeom>
        </p:spPr>
        <p:txBody>
          <a:bodyPr lIns="0" tIns="0" rIns="0" bIns="0" rtlCol="0" anchor="t">
            <a:spAutoFit/>
          </a:bodyPr>
          <a:lstStyle/>
          <a:p>
            <a:pPr algn="just">
              <a:lnSpc>
                <a:spcPts val="3499"/>
              </a:lnSpc>
            </a:pPr>
            <a:r>
              <a:rPr lang="en-US" sz="2499" b="1">
                <a:solidFill>
                  <a:srgbClr val="FFFFFF"/>
                </a:solidFill>
                <a:latin typeface="Times New Roman Bold"/>
                <a:ea typeface="Times New Roman Bold"/>
                <a:cs typeface="Times New Roman Bold"/>
                <a:sym typeface="Times New Roman Bold"/>
              </a:rPr>
              <a:t>Presented by:</a:t>
            </a:r>
          </a:p>
        </p:txBody>
      </p:sp>
      <p:sp>
        <p:nvSpPr>
          <p:cNvPr id="6" name="TextBox 6"/>
          <p:cNvSpPr txBox="1"/>
          <p:nvPr/>
        </p:nvSpPr>
        <p:spPr>
          <a:xfrm>
            <a:off x="3772940" y="8040345"/>
            <a:ext cx="3778715" cy="314325"/>
          </a:xfrm>
          <a:prstGeom prst="rect">
            <a:avLst/>
          </a:prstGeom>
        </p:spPr>
        <p:txBody>
          <a:bodyPr lIns="0" tIns="0" rIns="0" bIns="0" rtlCol="0" anchor="t">
            <a:spAutoFit/>
          </a:bodyPr>
          <a:lstStyle/>
          <a:p>
            <a:pPr algn="l">
              <a:lnSpc>
                <a:spcPts val="2249"/>
              </a:lnSpc>
            </a:pPr>
            <a:r>
              <a:rPr lang="en-US" sz="2499" b="1">
                <a:solidFill>
                  <a:srgbClr val="FFFFFF"/>
                </a:solidFill>
                <a:latin typeface="Times New Roman Bold"/>
                <a:ea typeface="Times New Roman Bold"/>
                <a:cs typeface="Times New Roman Bold"/>
                <a:sym typeface="Times New Roman Bold"/>
              </a:rPr>
              <a:t>PRABAKARAN.N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Freeform 2"/>
          <p:cNvSpPr/>
          <p:nvPr/>
        </p:nvSpPr>
        <p:spPr>
          <a:xfrm>
            <a:off x="6503532" y="5673859"/>
            <a:ext cx="13150601" cy="13007140"/>
          </a:xfrm>
          <a:custGeom>
            <a:avLst/>
            <a:gdLst/>
            <a:ahLst/>
            <a:cxnLst/>
            <a:rect l="l" t="t" r="r" b="b"/>
            <a:pathLst>
              <a:path w="13150601" h="13007140">
                <a:moveTo>
                  <a:pt x="0" y="0"/>
                </a:moveTo>
                <a:lnTo>
                  <a:pt x="13150601" y="0"/>
                </a:lnTo>
                <a:lnTo>
                  <a:pt x="13150601" y="13007140"/>
                </a:lnTo>
                <a:lnTo>
                  <a:pt x="0" y="130071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717502" y="1932212"/>
            <a:ext cx="10852996" cy="885349"/>
          </a:xfrm>
          <a:prstGeom prst="rect">
            <a:avLst/>
          </a:prstGeom>
        </p:spPr>
        <p:txBody>
          <a:bodyPr lIns="0" tIns="0" rIns="0" bIns="0" rtlCol="0" anchor="t">
            <a:spAutoFit/>
          </a:bodyPr>
          <a:lstStyle/>
          <a:p>
            <a:pPr algn="l">
              <a:lnSpc>
                <a:spcPts val="6288"/>
              </a:lnSpc>
            </a:pPr>
            <a:r>
              <a:rPr lang="en-US" sz="6987" b="1">
                <a:solidFill>
                  <a:srgbClr val="FFFFFF"/>
                </a:solidFill>
                <a:latin typeface="Times New Roman Bold"/>
                <a:ea typeface="Times New Roman Bold"/>
                <a:cs typeface="Times New Roman Bold"/>
                <a:sym typeface="Times New Roman Bold"/>
              </a:rPr>
              <a:t> PROJECT DESCRIPTION</a:t>
            </a:r>
          </a:p>
        </p:txBody>
      </p:sp>
      <p:sp>
        <p:nvSpPr>
          <p:cNvPr id="4" name="TextBox 4"/>
          <p:cNvSpPr txBox="1"/>
          <p:nvPr/>
        </p:nvSpPr>
        <p:spPr>
          <a:xfrm>
            <a:off x="1028700" y="3550620"/>
            <a:ext cx="16230600" cy="1746250"/>
          </a:xfrm>
          <a:prstGeom prst="rect">
            <a:avLst/>
          </a:prstGeom>
        </p:spPr>
        <p:txBody>
          <a:bodyPr lIns="0" tIns="0" rIns="0" bIns="0" rtlCol="0" anchor="t">
            <a:spAutoFit/>
          </a:bodyPr>
          <a:lstStyle/>
          <a:p>
            <a:pPr algn="just">
              <a:lnSpc>
                <a:spcPts val="3499"/>
              </a:lnSpc>
            </a:pPr>
            <a:r>
              <a:rPr lang="en-US" sz="2499">
                <a:solidFill>
                  <a:srgbClr val="FFFFFF"/>
                </a:solidFill>
                <a:latin typeface="Times New Roman"/>
                <a:ea typeface="Times New Roman"/>
                <a:cs typeface="Times New Roman"/>
                <a:sym typeface="Times New Roman"/>
              </a:rPr>
              <a:t>     This project analyzes screen-time patterns among Indian children using data visualization and dashboarding techniques. By examining how age groups, device types, usage purpose, location, and habits influence screen exposure, the study identifies high-risk cohorts and unhealthy digital behaviors. Interactive visualizations and KPI indicators are designed to help parents, teachers, and policymakers understand screen-time risks and promote balanced digital usage.</a:t>
            </a:r>
          </a:p>
        </p:txBody>
      </p:sp>
      <p:sp>
        <p:nvSpPr>
          <p:cNvPr id="5" name="Freeform 5"/>
          <p:cNvSpPr/>
          <p:nvPr/>
        </p:nvSpPr>
        <p:spPr>
          <a:xfrm>
            <a:off x="15905499" y="-1570970"/>
            <a:ext cx="4765001" cy="4713019"/>
          </a:xfrm>
          <a:custGeom>
            <a:avLst/>
            <a:gdLst/>
            <a:ahLst/>
            <a:cxnLst/>
            <a:rect l="l" t="t" r="r" b="b"/>
            <a:pathLst>
              <a:path w="4765001" h="4713019">
                <a:moveTo>
                  <a:pt x="0" y="0"/>
                </a:moveTo>
                <a:lnTo>
                  <a:pt x="4765002" y="0"/>
                </a:lnTo>
                <a:lnTo>
                  <a:pt x="4765002" y="4713019"/>
                </a:lnTo>
                <a:lnTo>
                  <a:pt x="0" y="471301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Freeform 2"/>
          <p:cNvSpPr/>
          <p:nvPr/>
        </p:nvSpPr>
        <p:spPr>
          <a:xfrm>
            <a:off x="-2561375" y="-677895"/>
            <a:ext cx="5703262" cy="5641044"/>
          </a:xfrm>
          <a:custGeom>
            <a:avLst/>
            <a:gdLst/>
            <a:ahLst/>
            <a:cxnLst/>
            <a:rect l="l" t="t" r="r" b="b"/>
            <a:pathLst>
              <a:path w="5703262" h="5641044">
                <a:moveTo>
                  <a:pt x="0" y="0"/>
                </a:moveTo>
                <a:lnTo>
                  <a:pt x="5703262" y="0"/>
                </a:lnTo>
                <a:lnTo>
                  <a:pt x="5703262" y="5641044"/>
                </a:lnTo>
                <a:lnTo>
                  <a:pt x="0" y="56410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6355989" y="2314077"/>
            <a:ext cx="5576022" cy="908054"/>
          </a:xfrm>
          <a:prstGeom prst="rect">
            <a:avLst/>
          </a:prstGeom>
        </p:spPr>
        <p:txBody>
          <a:bodyPr lIns="0" tIns="0" rIns="0" bIns="0" rtlCol="0" anchor="t">
            <a:spAutoFit/>
          </a:bodyPr>
          <a:lstStyle/>
          <a:p>
            <a:pPr algn="l">
              <a:lnSpc>
                <a:spcPts val="6375"/>
              </a:lnSpc>
            </a:pPr>
            <a:r>
              <a:rPr lang="en-US" sz="7083" b="1">
                <a:solidFill>
                  <a:srgbClr val="FFFFFF"/>
                </a:solidFill>
                <a:latin typeface="Times New Roman Bold"/>
                <a:ea typeface="Times New Roman Bold"/>
                <a:cs typeface="Times New Roman Bold"/>
                <a:sym typeface="Times New Roman Bold"/>
              </a:rPr>
              <a:t>OBJECTIVE</a:t>
            </a:r>
          </a:p>
        </p:txBody>
      </p:sp>
      <p:sp>
        <p:nvSpPr>
          <p:cNvPr id="4" name="Freeform 4"/>
          <p:cNvSpPr/>
          <p:nvPr/>
        </p:nvSpPr>
        <p:spPr>
          <a:xfrm>
            <a:off x="12450601" y="6230187"/>
            <a:ext cx="8349582" cy="8258495"/>
          </a:xfrm>
          <a:custGeom>
            <a:avLst/>
            <a:gdLst/>
            <a:ahLst/>
            <a:cxnLst/>
            <a:rect l="l" t="t" r="r" b="b"/>
            <a:pathLst>
              <a:path w="8349582" h="8258495">
                <a:moveTo>
                  <a:pt x="0" y="0"/>
                </a:moveTo>
                <a:lnTo>
                  <a:pt x="8349581" y="0"/>
                </a:lnTo>
                <a:lnTo>
                  <a:pt x="8349581" y="8258495"/>
                </a:lnTo>
                <a:lnTo>
                  <a:pt x="0" y="82584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932475"/>
            <a:ext cx="16230600" cy="3060700"/>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FFFFFF"/>
                </a:solidFill>
                <a:latin typeface="Times New Roman"/>
                <a:ea typeface="Times New Roman"/>
                <a:cs typeface="Times New Roman"/>
                <a:sym typeface="Times New Roman"/>
              </a:rPr>
              <a:t>The objective of this project is to analyze screen-time patterns among Indian children to identify usage trends across age groups, devices, and demographics.</a:t>
            </a:r>
          </a:p>
          <a:p>
            <a:pPr marL="539749" lvl="1" indent="-269875" algn="l">
              <a:lnSpc>
                <a:spcPts val="3499"/>
              </a:lnSpc>
              <a:buFont typeface="Arial"/>
              <a:buChar char="•"/>
            </a:pPr>
            <a:r>
              <a:rPr lang="en-US" sz="2499">
                <a:solidFill>
                  <a:srgbClr val="FFFFFF"/>
                </a:solidFill>
                <a:latin typeface="Times New Roman"/>
                <a:ea typeface="Times New Roman"/>
                <a:cs typeface="Times New Roman"/>
                <a:sym typeface="Times New Roman"/>
              </a:rPr>
              <a:t> The study aims to detect high-risk cohorts by examining factors such as screen-time intensity, device dependency, and health impacts.</a:t>
            </a:r>
          </a:p>
          <a:p>
            <a:pPr marL="539749" lvl="1" indent="-269875" algn="l">
              <a:lnSpc>
                <a:spcPts val="3499"/>
              </a:lnSpc>
              <a:buFont typeface="Arial"/>
              <a:buChar char="•"/>
            </a:pPr>
            <a:r>
              <a:rPr lang="en-US" sz="2499">
                <a:solidFill>
                  <a:srgbClr val="FFFFFF"/>
                </a:solidFill>
                <a:latin typeface="Times New Roman"/>
                <a:ea typeface="Times New Roman"/>
                <a:cs typeface="Times New Roman"/>
                <a:sym typeface="Times New Roman"/>
              </a:rPr>
              <a:t>The final goal is to support awareness, data-driven decision-making, and healthier digital habits among children and adolescents.</a:t>
            </a:r>
          </a:p>
          <a:p>
            <a:pPr algn="l">
              <a:lnSpc>
                <a:spcPts val="3499"/>
              </a:lnSpc>
            </a:pPr>
            <a:endParaRPr lang="en-US" sz="2499">
              <a:solidFill>
                <a:srgbClr val="FFFFFF"/>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Freeform 2"/>
          <p:cNvSpPr/>
          <p:nvPr/>
        </p:nvSpPr>
        <p:spPr>
          <a:xfrm>
            <a:off x="-1351445" y="5829300"/>
            <a:ext cx="2702890" cy="2673404"/>
          </a:xfrm>
          <a:custGeom>
            <a:avLst/>
            <a:gdLst/>
            <a:ahLst/>
            <a:cxnLst/>
            <a:rect l="l" t="t" r="r" b="b"/>
            <a:pathLst>
              <a:path w="2702890" h="2673404">
                <a:moveTo>
                  <a:pt x="0" y="0"/>
                </a:moveTo>
                <a:lnTo>
                  <a:pt x="2702890" y="0"/>
                </a:lnTo>
                <a:lnTo>
                  <a:pt x="2702890" y="2673404"/>
                </a:lnTo>
                <a:lnTo>
                  <a:pt x="0" y="26734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356894" y="8381108"/>
            <a:ext cx="7800668" cy="7715570"/>
          </a:xfrm>
          <a:custGeom>
            <a:avLst/>
            <a:gdLst/>
            <a:ahLst/>
            <a:cxnLst/>
            <a:rect l="l" t="t" r="r" b="b"/>
            <a:pathLst>
              <a:path w="7800668" h="7715570">
                <a:moveTo>
                  <a:pt x="0" y="0"/>
                </a:moveTo>
                <a:lnTo>
                  <a:pt x="7800669" y="0"/>
                </a:lnTo>
                <a:lnTo>
                  <a:pt x="7800669" y="7715570"/>
                </a:lnTo>
                <a:lnTo>
                  <a:pt x="0" y="7715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956250" y="1873320"/>
            <a:ext cx="2702890" cy="2673404"/>
          </a:xfrm>
          <a:custGeom>
            <a:avLst/>
            <a:gdLst/>
            <a:ahLst/>
            <a:cxnLst/>
            <a:rect l="l" t="t" r="r" b="b"/>
            <a:pathLst>
              <a:path w="2702890" h="2673404">
                <a:moveTo>
                  <a:pt x="0" y="0"/>
                </a:moveTo>
                <a:lnTo>
                  <a:pt x="2702890" y="0"/>
                </a:lnTo>
                <a:lnTo>
                  <a:pt x="2702890" y="2673404"/>
                </a:lnTo>
                <a:lnTo>
                  <a:pt x="0" y="26734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506863" y="2852835"/>
            <a:ext cx="11274274" cy="885825"/>
          </a:xfrm>
          <a:prstGeom prst="rect">
            <a:avLst/>
          </a:prstGeom>
        </p:spPr>
        <p:txBody>
          <a:bodyPr lIns="0" tIns="0" rIns="0" bIns="0" rtlCol="0" anchor="t">
            <a:spAutoFit/>
          </a:bodyPr>
          <a:lstStyle/>
          <a:p>
            <a:pPr algn="ctr">
              <a:lnSpc>
                <a:spcPts val="6299"/>
              </a:lnSpc>
            </a:pPr>
            <a:r>
              <a:rPr lang="en-US" sz="6999" b="1">
                <a:solidFill>
                  <a:srgbClr val="FFFFFF"/>
                </a:solidFill>
                <a:latin typeface="Times New Roman Bold"/>
                <a:ea typeface="Times New Roman Bold"/>
                <a:cs typeface="Times New Roman Bold"/>
                <a:sym typeface="Times New Roman Bold"/>
              </a:rPr>
              <a:t>DATASET OVEREVIEW</a:t>
            </a:r>
          </a:p>
        </p:txBody>
      </p:sp>
      <p:sp>
        <p:nvSpPr>
          <p:cNvPr id="6" name="TextBox 6"/>
          <p:cNvSpPr txBox="1"/>
          <p:nvPr/>
        </p:nvSpPr>
        <p:spPr>
          <a:xfrm>
            <a:off x="1028700" y="4489574"/>
            <a:ext cx="16230600" cy="1746250"/>
          </a:xfrm>
          <a:prstGeom prst="rect">
            <a:avLst/>
          </a:prstGeom>
        </p:spPr>
        <p:txBody>
          <a:bodyPr lIns="0" tIns="0" rIns="0" bIns="0" rtlCol="0" anchor="t">
            <a:spAutoFit/>
          </a:bodyPr>
          <a:lstStyle/>
          <a:p>
            <a:pPr algn="just">
              <a:lnSpc>
                <a:spcPts val="3499"/>
              </a:lnSpc>
            </a:pPr>
            <a:r>
              <a:rPr lang="en-US" sz="2499">
                <a:solidFill>
                  <a:srgbClr val="FFFFFF"/>
                </a:solidFill>
                <a:latin typeface="Times New Roman"/>
                <a:ea typeface="Times New Roman"/>
                <a:cs typeface="Times New Roman"/>
                <a:sym typeface="Times New Roman"/>
              </a:rPr>
              <a:t>         The project uses the Indian Kids Screentime 2025 dataset, sourced from Kaggle. The dataset contains 9,712 records and 8 key attributes, capturing demographic details and screen-usage behavior of children. The main fields include Age, Gender, Average Daily Screen Time (hours), Primary Device, Exceeded Recommended Limit, Health Impacts, Educational-to-Recreational Ratio, and Urban/Rural classification.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TextBox 2"/>
          <p:cNvSpPr txBox="1"/>
          <p:nvPr/>
        </p:nvSpPr>
        <p:spPr>
          <a:xfrm>
            <a:off x="1044959" y="1162050"/>
            <a:ext cx="17571579" cy="781050"/>
          </a:xfrm>
          <a:prstGeom prst="rect">
            <a:avLst/>
          </a:prstGeom>
        </p:spPr>
        <p:txBody>
          <a:bodyPr lIns="0" tIns="0" rIns="0" bIns="0" rtlCol="0" anchor="t">
            <a:spAutoFit/>
          </a:bodyPr>
          <a:lstStyle/>
          <a:p>
            <a:pPr algn="l">
              <a:lnSpc>
                <a:spcPts val="5400"/>
              </a:lnSpc>
            </a:pPr>
            <a:r>
              <a:rPr lang="en-US" sz="6000" b="1">
                <a:solidFill>
                  <a:srgbClr val="FFFFFF"/>
                </a:solidFill>
                <a:latin typeface="Times New Roman Bold"/>
                <a:ea typeface="Times New Roman Bold"/>
                <a:cs typeface="Times New Roman Bold"/>
                <a:sym typeface="Times New Roman Bold"/>
              </a:rPr>
              <a:t>MILESTONE 01: Data Foundation and Cleaning </a:t>
            </a:r>
          </a:p>
        </p:txBody>
      </p:sp>
      <p:sp>
        <p:nvSpPr>
          <p:cNvPr id="3" name="TextBox 3"/>
          <p:cNvSpPr txBox="1"/>
          <p:nvPr/>
        </p:nvSpPr>
        <p:spPr>
          <a:xfrm>
            <a:off x="1028700" y="3285020"/>
            <a:ext cx="16230600" cy="2193925"/>
          </a:xfrm>
          <a:prstGeom prst="rect">
            <a:avLst/>
          </a:prstGeom>
        </p:spPr>
        <p:txBody>
          <a:bodyPr lIns="0" tIns="0" rIns="0" bIns="0" rtlCol="0" anchor="t">
            <a:spAutoFit/>
          </a:bodyPr>
          <a:lstStyle/>
          <a:p>
            <a:pPr algn="just">
              <a:lnSpc>
                <a:spcPts val="3500"/>
              </a:lnSpc>
            </a:pPr>
            <a:r>
              <a:rPr lang="en-US" sz="2500">
                <a:solidFill>
                  <a:srgbClr val="FFFFFF"/>
                </a:solidFill>
                <a:latin typeface="Times New Roman"/>
                <a:ea typeface="Times New Roman"/>
                <a:cs typeface="Times New Roman"/>
                <a:sym typeface="Times New Roman"/>
              </a:rPr>
              <a:t>     In Week 1, the focus was on establishing a strong data foundation for the entire project. The dataset was loaded, inspected, and validated to understand its structure, quality, and readiness for analysis. Key tasks included reviewing columns, identifying missing or inconsistent values, understanding data types, and documenting assumptions. This baseline ensured that all future visualizations and dashboards were built on clean, reliable, and well-structured data.</a:t>
            </a:r>
          </a:p>
          <a:p>
            <a:pPr algn="just">
              <a:lnSpc>
                <a:spcPts val="3500"/>
              </a:lnSpc>
            </a:pPr>
            <a:endParaRPr lang="en-US" sz="2500">
              <a:solidFill>
                <a:srgbClr val="FFFFFF"/>
              </a:solidFill>
              <a:latin typeface="Times New Roman"/>
              <a:ea typeface="Times New Roman"/>
              <a:cs typeface="Times New Roman"/>
              <a:sym typeface="Times New Roman"/>
            </a:endParaRPr>
          </a:p>
        </p:txBody>
      </p:sp>
      <p:sp>
        <p:nvSpPr>
          <p:cNvPr id="4" name="Freeform 4"/>
          <p:cNvSpPr/>
          <p:nvPr/>
        </p:nvSpPr>
        <p:spPr>
          <a:xfrm>
            <a:off x="15776988" y="-4422364"/>
            <a:ext cx="7183047" cy="7104687"/>
          </a:xfrm>
          <a:custGeom>
            <a:avLst/>
            <a:gdLst/>
            <a:ahLst/>
            <a:cxnLst/>
            <a:rect l="l" t="t" r="r" b="b"/>
            <a:pathLst>
              <a:path w="7183047" h="7104687">
                <a:moveTo>
                  <a:pt x="0" y="0"/>
                </a:moveTo>
                <a:lnTo>
                  <a:pt x="7183048" y="0"/>
                </a:lnTo>
                <a:lnTo>
                  <a:pt x="7183048" y="7104687"/>
                </a:lnTo>
                <a:lnTo>
                  <a:pt x="0" y="71046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6967751" y="2206073"/>
            <a:ext cx="3243049" cy="823559"/>
          </a:xfrm>
          <a:prstGeom prst="rect">
            <a:avLst/>
          </a:prstGeom>
        </p:spPr>
        <p:txBody>
          <a:bodyPr wrap="square" lIns="0" tIns="0" rIns="0" bIns="0" rtlCol="0" anchor="t">
            <a:spAutoFit/>
          </a:bodyPr>
          <a:lstStyle/>
          <a:p>
            <a:pPr algn="ctr">
              <a:lnSpc>
                <a:spcPts val="7000"/>
              </a:lnSpc>
              <a:spcBef>
                <a:spcPct val="0"/>
              </a:spcBef>
            </a:pPr>
            <a:r>
              <a:rPr lang="en-US" sz="5000" b="1" dirty="0">
                <a:solidFill>
                  <a:srgbClr val="FFFFFF"/>
                </a:solidFill>
                <a:latin typeface="Times New Roman Bold"/>
                <a:ea typeface="Times New Roman Bold"/>
                <a:cs typeface="Times New Roman Bold"/>
                <a:sym typeface="Times New Roman Bold"/>
              </a:rPr>
              <a:t>WEEK 01</a:t>
            </a:r>
          </a:p>
        </p:txBody>
      </p:sp>
      <p:sp>
        <p:nvSpPr>
          <p:cNvPr id="6" name="Freeform 6"/>
          <p:cNvSpPr/>
          <p:nvPr/>
        </p:nvSpPr>
        <p:spPr>
          <a:xfrm>
            <a:off x="-3175920" y="6613219"/>
            <a:ext cx="7183047" cy="7104687"/>
          </a:xfrm>
          <a:custGeom>
            <a:avLst/>
            <a:gdLst/>
            <a:ahLst/>
            <a:cxnLst/>
            <a:rect l="l" t="t" r="r" b="b"/>
            <a:pathLst>
              <a:path w="7183047" h="7104687">
                <a:moveTo>
                  <a:pt x="0" y="0"/>
                </a:moveTo>
                <a:lnTo>
                  <a:pt x="7183048" y="0"/>
                </a:lnTo>
                <a:lnTo>
                  <a:pt x="7183048" y="7104687"/>
                </a:lnTo>
                <a:lnTo>
                  <a:pt x="0" y="71046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5270856" y="5659120"/>
            <a:ext cx="8449375" cy="3937000"/>
          </a:xfrm>
          <a:prstGeom prst="rect">
            <a:avLst/>
          </a:prstGeom>
        </p:spPr>
        <p:txBody>
          <a:bodyPr lIns="0" tIns="0" rIns="0" bIns="0" rtlCol="0" anchor="t">
            <a:spAutoFit/>
          </a:bodyPr>
          <a:lstStyle/>
          <a:p>
            <a:pPr algn="just">
              <a:lnSpc>
                <a:spcPts val="3499"/>
              </a:lnSpc>
            </a:pPr>
            <a:endParaRPr/>
          </a:p>
          <a:p>
            <a:pPr marL="539749" lvl="1" indent="-269875" algn="just">
              <a:lnSpc>
                <a:spcPts val="3499"/>
              </a:lnSpc>
              <a:buFont typeface="Arial"/>
              <a:buChar char="•"/>
            </a:pPr>
            <a:r>
              <a:rPr lang="en-US" sz="2499">
                <a:solidFill>
                  <a:srgbClr val="FFFFFF"/>
                </a:solidFill>
                <a:latin typeface="Times New Roman"/>
                <a:ea typeface="Times New Roman"/>
                <a:cs typeface="Times New Roman"/>
                <a:sym typeface="Times New Roman"/>
              </a:rPr>
              <a:t>pandas : df=pd.read_csv() – Dataset loading</a:t>
            </a:r>
          </a:p>
          <a:p>
            <a:pPr marL="539749" lvl="1" indent="-269875" algn="just">
              <a:lnSpc>
                <a:spcPts val="3499"/>
              </a:lnSpc>
              <a:buFont typeface="Arial"/>
              <a:buChar char="•"/>
            </a:pPr>
            <a:r>
              <a:rPr lang="en-US" sz="2499">
                <a:solidFill>
                  <a:srgbClr val="FFFFFF"/>
                </a:solidFill>
                <a:latin typeface="Times New Roman"/>
                <a:ea typeface="Times New Roman"/>
                <a:cs typeface="Times New Roman"/>
                <a:sym typeface="Times New Roman"/>
              </a:rPr>
              <a:t>df.head() – Preview dataset</a:t>
            </a:r>
          </a:p>
          <a:p>
            <a:pPr marL="539749" lvl="1" indent="-269875" algn="just">
              <a:lnSpc>
                <a:spcPts val="3499"/>
              </a:lnSpc>
              <a:buFont typeface="Arial"/>
              <a:buChar char="•"/>
            </a:pPr>
            <a:r>
              <a:rPr lang="en-US" sz="2499">
                <a:solidFill>
                  <a:srgbClr val="FFFFFF"/>
                </a:solidFill>
                <a:latin typeface="Times New Roman"/>
                <a:ea typeface="Times New Roman"/>
                <a:cs typeface="Times New Roman"/>
                <a:sym typeface="Times New Roman"/>
              </a:rPr>
              <a:t>df.info() – Check data types &amp; null values</a:t>
            </a:r>
          </a:p>
          <a:p>
            <a:pPr marL="539749" lvl="1" indent="-269875" algn="just">
              <a:lnSpc>
                <a:spcPts val="3499"/>
              </a:lnSpc>
              <a:buFont typeface="Arial"/>
              <a:buChar char="•"/>
            </a:pPr>
            <a:r>
              <a:rPr lang="en-US" sz="2499">
                <a:solidFill>
                  <a:srgbClr val="FFFFFF"/>
                </a:solidFill>
                <a:latin typeface="Times New Roman"/>
                <a:ea typeface="Times New Roman"/>
                <a:cs typeface="Times New Roman"/>
                <a:sym typeface="Times New Roman"/>
              </a:rPr>
              <a:t>df.shape – Dataset size</a:t>
            </a:r>
          </a:p>
          <a:p>
            <a:pPr marL="539749" lvl="1" indent="-269875" algn="just">
              <a:lnSpc>
                <a:spcPts val="3499"/>
              </a:lnSpc>
              <a:buFont typeface="Arial"/>
              <a:buChar char="•"/>
            </a:pPr>
            <a:r>
              <a:rPr lang="en-US" sz="2499">
                <a:solidFill>
                  <a:srgbClr val="FFFFFF"/>
                </a:solidFill>
                <a:latin typeface="Times New Roman"/>
                <a:ea typeface="Times New Roman"/>
                <a:cs typeface="Times New Roman"/>
                <a:sym typeface="Times New Roman"/>
              </a:rPr>
              <a:t>df.describe() – Summary statistics</a:t>
            </a:r>
          </a:p>
          <a:p>
            <a:pPr marL="539749" lvl="1" indent="-269875" algn="just">
              <a:lnSpc>
                <a:spcPts val="3499"/>
              </a:lnSpc>
              <a:buFont typeface="Arial"/>
              <a:buChar char="•"/>
            </a:pPr>
            <a:r>
              <a:rPr lang="en-US" sz="2499">
                <a:solidFill>
                  <a:srgbClr val="FFFFFF"/>
                </a:solidFill>
                <a:latin typeface="Times New Roman"/>
                <a:ea typeface="Times New Roman"/>
                <a:cs typeface="Times New Roman"/>
                <a:sym typeface="Times New Roman"/>
              </a:rPr>
              <a:t>df.isnull().sum() – Missing value detection</a:t>
            </a:r>
          </a:p>
          <a:p>
            <a:pPr marL="539749" lvl="1" indent="-269875" algn="just">
              <a:lnSpc>
                <a:spcPts val="3499"/>
              </a:lnSpc>
              <a:buFont typeface="Arial"/>
              <a:buChar char="•"/>
            </a:pPr>
            <a:r>
              <a:rPr lang="en-US" sz="2499">
                <a:solidFill>
                  <a:srgbClr val="FFFFFF"/>
                </a:solidFill>
                <a:latin typeface="Times New Roman"/>
                <a:ea typeface="Times New Roman"/>
                <a:cs typeface="Times New Roman"/>
                <a:sym typeface="Times New Roman"/>
              </a:rPr>
              <a:t>df.nunique() – Unique value analysis</a:t>
            </a:r>
          </a:p>
          <a:p>
            <a:pPr algn="just">
              <a:lnSpc>
                <a:spcPts val="3499"/>
              </a:lnSpc>
            </a:pPr>
            <a:endParaRPr lang="en-US" sz="2499">
              <a:solidFill>
                <a:srgbClr val="FFFFFF"/>
              </a:solidFill>
              <a:latin typeface="Times New Roman"/>
              <a:ea typeface="Times New Roman"/>
              <a:cs typeface="Times New Roman"/>
              <a:sym typeface="Times New Roman"/>
            </a:endParaRPr>
          </a:p>
        </p:txBody>
      </p:sp>
      <p:sp>
        <p:nvSpPr>
          <p:cNvPr id="8" name="TextBox 8"/>
          <p:cNvSpPr txBox="1"/>
          <p:nvPr/>
        </p:nvSpPr>
        <p:spPr>
          <a:xfrm>
            <a:off x="5417918" y="5498630"/>
            <a:ext cx="2257871" cy="474345"/>
          </a:xfrm>
          <a:prstGeom prst="rect">
            <a:avLst/>
          </a:prstGeom>
        </p:spPr>
        <p:txBody>
          <a:bodyPr lIns="0" tIns="0" rIns="0" bIns="0" rtlCol="0" anchor="t">
            <a:spAutoFit/>
          </a:bodyPr>
          <a:lstStyle/>
          <a:p>
            <a:pPr algn="ctr">
              <a:lnSpc>
                <a:spcPts val="3779"/>
              </a:lnSpc>
              <a:spcBef>
                <a:spcPct val="0"/>
              </a:spcBef>
            </a:pPr>
            <a:r>
              <a:rPr lang="en-US" sz="2700" b="1">
                <a:solidFill>
                  <a:srgbClr val="FFFFFF"/>
                </a:solidFill>
                <a:latin typeface="Times New Roman Bold"/>
                <a:ea typeface="Times New Roman Bold"/>
                <a:cs typeface="Times New Roman Bold"/>
                <a:sym typeface="Times New Roman Bold"/>
              </a:rPr>
              <a:t>Functions Used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TextBox 2"/>
          <p:cNvSpPr txBox="1"/>
          <p:nvPr/>
        </p:nvSpPr>
        <p:spPr>
          <a:xfrm>
            <a:off x="1028700" y="1133475"/>
            <a:ext cx="16230600" cy="657225"/>
          </a:xfrm>
          <a:prstGeom prst="rect">
            <a:avLst/>
          </a:prstGeom>
        </p:spPr>
        <p:txBody>
          <a:bodyPr lIns="0" tIns="0" rIns="0" bIns="0" rtlCol="0" anchor="t">
            <a:spAutoFit/>
          </a:bodyPr>
          <a:lstStyle/>
          <a:p>
            <a:pPr algn="ctr">
              <a:lnSpc>
                <a:spcPts val="4500"/>
              </a:lnSpc>
            </a:pPr>
            <a:r>
              <a:rPr lang="en-US" sz="5000" b="1">
                <a:solidFill>
                  <a:srgbClr val="FFFFFF"/>
                </a:solidFill>
                <a:latin typeface="Times New Roman Bold"/>
                <a:ea typeface="Times New Roman Bold"/>
                <a:cs typeface="Times New Roman Bold"/>
                <a:sym typeface="Times New Roman Bold"/>
              </a:rPr>
              <a:t>WEEK 02</a:t>
            </a:r>
          </a:p>
        </p:txBody>
      </p:sp>
      <p:sp>
        <p:nvSpPr>
          <p:cNvPr id="3" name="Freeform 3"/>
          <p:cNvSpPr/>
          <p:nvPr/>
        </p:nvSpPr>
        <p:spPr>
          <a:xfrm>
            <a:off x="15891403" y="-1161447"/>
            <a:ext cx="4428606" cy="4380293"/>
          </a:xfrm>
          <a:custGeom>
            <a:avLst/>
            <a:gdLst/>
            <a:ahLst/>
            <a:cxnLst/>
            <a:rect l="l" t="t" r="r" b="b"/>
            <a:pathLst>
              <a:path w="4428606" h="4380293">
                <a:moveTo>
                  <a:pt x="0" y="0"/>
                </a:moveTo>
                <a:lnTo>
                  <a:pt x="4428606" y="0"/>
                </a:lnTo>
                <a:lnTo>
                  <a:pt x="4428606" y="4380294"/>
                </a:lnTo>
                <a:lnTo>
                  <a:pt x="0" y="43802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028700" y="2301485"/>
            <a:ext cx="16230600" cy="1317625"/>
          </a:xfrm>
          <a:prstGeom prst="rect">
            <a:avLst/>
          </a:prstGeom>
        </p:spPr>
        <p:txBody>
          <a:bodyPr lIns="0" tIns="0" rIns="0" bIns="0" rtlCol="0" anchor="t">
            <a:spAutoFit/>
          </a:bodyPr>
          <a:lstStyle/>
          <a:p>
            <a:pPr algn="just">
              <a:lnSpc>
                <a:spcPts val="3500"/>
              </a:lnSpc>
            </a:pPr>
            <a:r>
              <a:rPr lang="en-US" sz="2500">
                <a:solidFill>
                  <a:srgbClr val="FFFFFF"/>
                </a:solidFill>
                <a:latin typeface="Times New Roman"/>
                <a:ea typeface="Times New Roman"/>
                <a:cs typeface="Times New Roman"/>
                <a:sym typeface="Times New Roman"/>
              </a:rPr>
              <a:t>       The focus shifted from data understanding to data preparation. The objective was to clean the dataset, handle missing and inconsistent values, and engineer meaningful features that would enable accurate analysis and effective dashboard visualization in later milestones.</a:t>
            </a:r>
          </a:p>
        </p:txBody>
      </p:sp>
      <p:sp>
        <p:nvSpPr>
          <p:cNvPr id="5" name="Freeform 5"/>
          <p:cNvSpPr/>
          <p:nvPr/>
        </p:nvSpPr>
        <p:spPr>
          <a:xfrm>
            <a:off x="-2571086" y="4847200"/>
            <a:ext cx="5142173" cy="5086076"/>
          </a:xfrm>
          <a:custGeom>
            <a:avLst/>
            <a:gdLst/>
            <a:ahLst/>
            <a:cxnLst/>
            <a:rect l="l" t="t" r="r" b="b"/>
            <a:pathLst>
              <a:path w="5142173" h="5086076">
                <a:moveTo>
                  <a:pt x="0" y="0"/>
                </a:moveTo>
                <a:lnTo>
                  <a:pt x="5142172" y="0"/>
                </a:lnTo>
                <a:lnTo>
                  <a:pt x="5142172" y="5086076"/>
                </a:lnTo>
                <a:lnTo>
                  <a:pt x="0" y="50860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964546" y="3998701"/>
            <a:ext cx="10832902" cy="1746250"/>
          </a:xfrm>
          <a:prstGeom prst="rect">
            <a:avLst/>
          </a:prstGeom>
        </p:spPr>
        <p:txBody>
          <a:bodyPr lIns="0" tIns="0" rIns="0" bIns="0" rtlCol="0" anchor="t">
            <a:spAutoFit/>
          </a:bodyPr>
          <a:lstStyle/>
          <a:p>
            <a:pPr algn="l">
              <a:lnSpc>
                <a:spcPts val="3499"/>
              </a:lnSpc>
            </a:pPr>
            <a:endParaRPr dirty="0"/>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Identified missing values mainly in the Health Impacts column.</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Imputed missing health impacts using Avg Daily Screen Time </a:t>
            </a:r>
            <a:r>
              <a:rPr lang="en-US" sz="2499" dirty="0" err="1">
                <a:solidFill>
                  <a:srgbClr val="FFFFFF"/>
                </a:solidFill>
                <a:latin typeface="Times New Roman"/>
                <a:ea typeface="Times New Roman"/>
                <a:cs typeface="Times New Roman"/>
                <a:sym typeface="Times New Roman"/>
              </a:rPr>
              <a:t>hr</a:t>
            </a:r>
            <a:r>
              <a:rPr lang="en-US" sz="2499" dirty="0">
                <a:solidFill>
                  <a:srgbClr val="FFFFFF"/>
                </a:solidFill>
                <a:latin typeface="Times New Roman"/>
                <a:ea typeface="Times New Roman"/>
                <a:cs typeface="Times New Roman"/>
                <a:sym typeface="Times New Roman"/>
              </a:rPr>
              <a:t> similarity logic.</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Applied nearest screen-time range matching when exact</a:t>
            </a:r>
          </a:p>
        </p:txBody>
      </p:sp>
      <p:sp>
        <p:nvSpPr>
          <p:cNvPr id="7" name="TextBox 7"/>
          <p:cNvSpPr txBox="1"/>
          <p:nvPr/>
        </p:nvSpPr>
        <p:spPr>
          <a:xfrm>
            <a:off x="-990600" y="3892722"/>
            <a:ext cx="11199912" cy="474345"/>
          </a:xfrm>
          <a:prstGeom prst="rect">
            <a:avLst/>
          </a:prstGeom>
        </p:spPr>
        <p:txBody>
          <a:bodyPr lIns="0" tIns="0" rIns="0" bIns="0" rtlCol="0" anchor="t">
            <a:spAutoFit/>
          </a:bodyPr>
          <a:lstStyle/>
          <a:p>
            <a:pPr algn="ctr">
              <a:lnSpc>
                <a:spcPts val="3779"/>
              </a:lnSpc>
              <a:spcBef>
                <a:spcPct val="0"/>
              </a:spcBef>
            </a:pPr>
            <a:r>
              <a:rPr lang="en-US" sz="2700" b="1" dirty="0">
                <a:solidFill>
                  <a:srgbClr val="FFFFFF"/>
                </a:solidFill>
                <a:latin typeface="Times New Roman Bold"/>
                <a:ea typeface="Times New Roman Bold"/>
                <a:cs typeface="Times New Roman Bold"/>
                <a:sym typeface="Times New Roman Bold"/>
              </a:rPr>
              <a:t>Data Cleaning &amp; Preprocessing </a:t>
            </a:r>
          </a:p>
        </p:txBody>
      </p:sp>
      <p:sp>
        <p:nvSpPr>
          <p:cNvPr id="8" name="TextBox 8"/>
          <p:cNvSpPr txBox="1"/>
          <p:nvPr/>
        </p:nvSpPr>
        <p:spPr>
          <a:xfrm>
            <a:off x="1964546" y="6658215"/>
            <a:ext cx="12273453" cy="3553602"/>
          </a:xfrm>
          <a:prstGeom prst="rect">
            <a:avLst/>
          </a:prstGeom>
        </p:spPr>
        <p:txBody>
          <a:bodyPr lIns="0" tIns="0" rIns="0" bIns="0" rtlCol="0" anchor="t">
            <a:spAutoFit/>
          </a:bodyPr>
          <a:lstStyle/>
          <a:p>
            <a:pPr algn="l">
              <a:lnSpc>
                <a:spcPts val="3499"/>
              </a:lnSpc>
              <a:spcBef>
                <a:spcPct val="0"/>
              </a:spcBef>
            </a:pPr>
            <a:endParaRPr dirty="0"/>
          </a:p>
          <a:p>
            <a:pPr marL="539749" lvl="1" indent="-269875" algn="l">
              <a:lnSpc>
                <a:spcPts val="3499"/>
              </a:lnSpc>
              <a:spcBef>
                <a:spcPct val="0"/>
              </a:spcBef>
              <a:buFont typeface="Arial"/>
              <a:buChar char="•"/>
            </a:pPr>
            <a:r>
              <a:rPr lang="en-US" sz="2499" dirty="0">
                <a:solidFill>
                  <a:srgbClr val="FFFFFF"/>
                </a:solidFill>
                <a:latin typeface="Times New Roman"/>
                <a:ea typeface="Times New Roman"/>
                <a:cs typeface="Times New Roman"/>
                <a:sym typeface="Times New Roman"/>
              </a:rPr>
              <a:t>Age Group → Child / Early Teen / Teen</a:t>
            </a:r>
          </a:p>
          <a:p>
            <a:pPr marL="539749" lvl="1" indent="-269875" algn="l">
              <a:lnSpc>
                <a:spcPts val="3499"/>
              </a:lnSpc>
              <a:spcBef>
                <a:spcPct val="0"/>
              </a:spcBef>
              <a:buFont typeface="Arial"/>
              <a:buChar char="•"/>
            </a:pPr>
            <a:r>
              <a:rPr lang="en-US" sz="2499" dirty="0">
                <a:solidFill>
                  <a:srgbClr val="FFFFFF"/>
                </a:solidFill>
                <a:latin typeface="Times New Roman"/>
                <a:ea typeface="Times New Roman"/>
                <a:cs typeface="Times New Roman"/>
                <a:sym typeface="Times New Roman"/>
              </a:rPr>
              <a:t>Screen Time Level → Low / Medium / High / Very High</a:t>
            </a:r>
          </a:p>
          <a:p>
            <a:pPr marL="539749" lvl="1" indent="-269875" algn="l">
              <a:lnSpc>
                <a:spcPts val="3499"/>
              </a:lnSpc>
              <a:spcBef>
                <a:spcPct val="0"/>
              </a:spcBef>
              <a:buFont typeface="Arial"/>
              <a:buChar char="•"/>
            </a:pPr>
            <a:r>
              <a:rPr lang="en-US" sz="2499" dirty="0">
                <a:solidFill>
                  <a:srgbClr val="FFFFFF"/>
                </a:solidFill>
                <a:latin typeface="Times New Roman"/>
                <a:ea typeface="Times New Roman"/>
                <a:cs typeface="Times New Roman"/>
                <a:sym typeface="Times New Roman"/>
              </a:rPr>
              <a:t>Edu vs Rec → Education Dominant / Recreational Dominant / Balanced</a:t>
            </a:r>
          </a:p>
          <a:p>
            <a:pPr marL="539749" lvl="1" indent="-269875" algn="l">
              <a:lnSpc>
                <a:spcPts val="3499"/>
              </a:lnSpc>
              <a:spcBef>
                <a:spcPct val="0"/>
              </a:spcBef>
              <a:buFont typeface="Arial"/>
              <a:buChar char="•"/>
            </a:pPr>
            <a:r>
              <a:rPr lang="en-US" sz="2499" dirty="0">
                <a:solidFill>
                  <a:srgbClr val="FFFFFF"/>
                </a:solidFill>
                <a:latin typeface="Times New Roman"/>
                <a:ea typeface="Times New Roman"/>
                <a:cs typeface="Times New Roman"/>
                <a:sym typeface="Times New Roman"/>
              </a:rPr>
              <a:t>Health Impact Count → Numeric count of reported health issues(n)</a:t>
            </a:r>
          </a:p>
          <a:p>
            <a:pPr marL="539749" lvl="1" indent="-269875" algn="l">
              <a:lnSpc>
                <a:spcPts val="3499"/>
              </a:lnSpc>
              <a:spcBef>
                <a:spcPct val="0"/>
              </a:spcBef>
              <a:buFont typeface="Arial"/>
              <a:buChar char="•"/>
            </a:pPr>
            <a:r>
              <a:rPr lang="en-US" sz="2499" dirty="0">
                <a:solidFill>
                  <a:srgbClr val="FFFFFF"/>
                </a:solidFill>
                <a:latin typeface="Times New Roman"/>
                <a:ea typeface="Times New Roman"/>
                <a:cs typeface="Times New Roman"/>
                <a:sym typeface="Times New Roman"/>
              </a:rPr>
              <a:t>Device Category → Mobile / Laptop / TV (grouped device logic)</a:t>
            </a:r>
          </a:p>
          <a:p>
            <a:pPr algn="l">
              <a:lnSpc>
                <a:spcPts val="3499"/>
              </a:lnSpc>
              <a:spcBef>
                <a:spcPct val="0"/>
              </a:spcBef>
            </a:pPr>
            <a:endParaRPr lang="en-US" sz="2499" dirty="0">
              <a:solidFill>
                <a:srgbClr val="FFFFFF"/>
              </a:solidFill>
              <a:latin typeface="Times New Roman"/>
              <a:ea typeface="Times New Roman"/>
              <a:cs typeface="Times New Roman"/>
              <a:sym typeface="Times New Roman"/>
            </a:endParaRPr>
          </a:p>
          <a:p>
            <a:pPr algn="l">
              <a:lnSpc>
                <a:spcPts val="3499"/>
              </a:lnSpc>
              <a:spcBef>
                <a:spcPct val="0"/>
              </a:spcBef>
            </a:pPr>
            <a:endParaRPr lang="en-US" sz="2499" dirty="0">
              <a:solidFill>
                <a:srgbClr val="FFFFFF"/>
              </a:solidFill>
              <a:latin typeface="Times New Roman"/>
              <a:ea typeface="Times New Roman"/>
              <a:cs typeface="Times New Roman"/>
              <a:sym typeface="Times New Roman"/>
            </a:endParaRPr>
          </a:p>
        </p:txBody>
      </p:sp>
      <p:sp>
        <p:nvSpPr>
          <p:cNvPr id="9" name="TextBox 9"/>
          <p:cNvSpPr txBox="1"/>
          <p:nvPr/>
        </p:nvSpPr>
        <p:spPr>
          <a:xfrm>
            <a:off x="1964546" y="6435343"/>
            <a:ext cx="7664798" cy="446661"/>
          </a:xfrm>
          <a:prstGeom prst="rect">
            <a:avLst/>
          </a:prstGeom>
        </p:spPr>
        <p:txBody>
          <a:bodyPr wrap="square" lIns="0" tIns="0" rIns="0" bIns="0" rtlCol="0" anchor="t">
            <a:spAutoFit/>
          </a:bodyPr>
          <a:lstStyle/>
          <a:p>
            <a:pPr algn="ctr">
              <a:lnSpc>
                <a:spcPts val="3779"/>
              </a:lnSpc>
              <a:spcBef>
                <a:spcPct val="0"/>
              </a:spcBef>
            </a:pPr>
            <a:r>
              <a:rPr lang="en-US" sz="2700" b="1" dirty="0">
                <a:solidFill>
                  <a:srgbClr val="FFFFFF"/>
                </a:solidFill>
                <a:latin typeface="Times New Roman Bold"/>
                <a:ea typeface="Times New Roman Bold"/>
                <a:cs typeface="Times New Roman Bold"/>
                <a:sym typeface="Times New Roman Bold"/>
              </a:rPr>
              <a:t>Feature Engineering (Derived Columns Created)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TextBox 2"/>
          <p:cNvSpPr txBox="1"/>
          <p:nvPr/>
        </p:nvSpPr>
        <p:spPr>
          <a:xfrm>
            <a:off x="789763" y="1162050"/>
            <a:ext cx="16947410" cy="781050"/>
          </a:xfrm>
          <a:prstGeom prst="rect">
            <a:avLst/>
          </a:prstGeom>
        </p:spPr>
        <p:txBody>
          <a:bodyPr lIns="0" tIns="0" rIns="0" bIns="0" rtlCol="0" anchor="t">
            <a:spAutoFit/>
          </a:bodyPr>
          <a:lstStyle/>
          <a:p>
            <a:pPr algn="l">
              <a:lnSpc>
                <a:spcPts val="5400"/>
              </a:lnSpc>
            </a:pPr>
            <a:r>
              <a:rPr lang="en-US" sz="6000" b="1">
                <a:solidFill>
                  <a:srgbClr val="FFFFFF"/>
                </a:solidFill>
                <a:latin typeface="Times New Roman Bold"/>
                <a:ea typeface="Times New Roman Bold"/>
                <a:cs typeface="Times New Roman Bold"/>
                <a:sym typeface="Times New Roman Bold"/>
              </a:rPr>
              <a:t>Milestone 02: Visual Exploration and Topic Trends</a:t>
            </a:r>
          </a:p>
        </p:txBody>
      </p:sp>
      <p:sp>
        <p:nvSpPr>
          <p:cNvPr id="3" name="TextBox 3"/>
          <p:cNvSpPr txBox="1"/>
          <p:nvPr/>
        </p:nvSpPr>
        <p:spPr>
          <a:xfrm>
            <a:off x="1028700" y="3285020"/>
            <a:ext cx="16230600" cy="2632075"/>
          </a:xfrm>
          <a:prstGeom prst="rect">
            <a:avLst/>
          </a:prstGeom>
        </p:spPr>
        <p:txBody>
          <a:bodyPr lIns="0" tIns="0" rIns="0" bIns="0" rtlCol="0" anchor="t">
            <a:spAutoFit/>
          </a:bodyPr>
          <a:lstStyle/>
          <a:p>
            <a:pPr algn="just">
              <a:lnSpc>
                <a:spcPts val="3500"/>
              </a:lnSpc>
            </a:pPr>
            <a:r>
              <a:rPr lang="en-US" sz="2500" dirty="0">
                <a:solidFill>
                  <a:srgbClr val="FFFFFF"/>
                </a:solidFill>
                <a:latin typeface="Times New Roman"/>
                <a:ea typeface="Times New Roman"/>
                <a:cs typeface="Times New Roman"/>
                <a:sym typeface="Times New Roman"/>
              </a:rPr>
              <a:t>      The focus was on understanding the overall behavioral patterns in the dataset by exploring individual variables (univariate analysis) and then examining relationships between two variables (bivariate analysis).By combining simple distribution charts with comparative visuals, I identified how age, gender, location, device preference, and purpose of usage influence screen-time levels and health-related impacts. This week built the analytical base required for deeper cohort and habit analysis in later milestones.</a:t>
            </a:r>
          </a:p>
          <a:p>
            <a:pPr algn="just">
              <a:lnSpc>
                <a:spcPts val="3500"/>
              </a:lnSpc>
            </a:pPr>
            <a:endParaRPr lang="en-US" sz="2500" dirty="0">
              <a:solidFill>
                <a:srgbClr val="FFFFFF"/>
              </a:solidFill>
              <a:latin typeface="Times New Roman"/>
              <a:ea typeface="Times New Roman"/>
              <a:cs typeface="Times New Roman"/>
              <a:sym typeface="Times New Roman"/>
            </a:endParaRPr>
          </a:p>
        </p:txBody>
      </p:sp>
      <p:sp>
        <p:nvSpPr>
          <p:cNvPr id="4" name="Freeform 4"/>
          <p:cNvSpPr/>
          <p:nvPr/>
        </p:nvSpPr>
        <p:spPr>
          <a:xfrm>
            <a:off x="15368486" y="-3752992"/>
            <a:ext cx="7183047" cy="7104687"/>
          </a:xfrm>
          <a:custGeom>
            <a:avLst/>
            <a:gdLst/>
            <a:ahLst/>
            <a:cxnLst/>
            <a:rect l="l" t="t" r="r" b="b"/>
            <a:pathLst>
              <a:path w="7183047" h="7104687">
                <a:moveTo>
                  <a:pt x="0" y="0"/>
                </a:moveTo>
                <a:lnTo>
                  <a:pt x="7183048" y="0"/>
                </a:lnTo>
                <a:lnTo>
                  <a:pt x="7183048" y="7104687"/>
                </a:lnTo>
                <a:lnTo>
                  <a:pt x="0" y="71046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6967751" y="2206073"/>
            <a:ext cx="3471649" cy="823559"/>
          </a:xfrm>
          <a:prstGeom prst="rect">
            <a:avLst/>
          </a:prstGeom>
        </p:spPr>
        <p:txBody>
          <a:bodyPr wrap="square" lIns="0" tIns="0" rIns="0" bIns="0" rtlCol="0" anchor="t">
            <a:spAutoFit/>
          </a:bodyPr>
          <a:lstStyle/>
          <a:p>
            <a:pPr algn="ctr">
              <a:lnSpc>
                <a:spcPts val="7000"/>
              </a:lnSpc>
              <a:spcBef>
                <a:spcPct val="0"/>
              </a:spcBef>
            </a:pPr>
            <a:r>
              <a:rPr lang="en-US" sz="5000" b="1" dirty="0">
                <a:solidFill>
                  <a:srgbClr val="FFFFFF"/>
                </a:solidFill>
                <a:latin typeface="Times New Roman Bold"/>
                <a:ea typeface="Times New Roman Bold"/>
                <a:cs typeface="Times New Roman Bold"/>
                <a:sym typeface="Times New Roman Bold"/>
              </a:rPr>
              <a:t>WEEK 03</a:t>
            </a:r>
          </a:p>
        </p:txBody>
      </p:sp>
      <p:sp>
        <p:nvSpPr>
          <p:cNvPr id="6" name="Freeform 6"/>
          <p:cNvSpPr/>
          <p:nvPr/>
        </p:nvSpPr>
        <p:spPr>
          <a:xfrm>
            <a:off x="-3175920" y="6613219"/>
            <a:ext cx="7183047" cy="7104687"/>
          </a:xfrm>
          <a:custGeom>
            <a:avLst/>
            <a:gdLst/>
            <a:ahLst/>
            <a:cxnLst/>
            <a:rect l="l" t="t" r="r" b="b"/>
            <a:pathLst>
              <a:path w="7183047" h="7104687">
                <a:moveTo>
                  <a:pt x="0" y="0"/>
                </a:moveTo>
                <a:lnTo>
                  <a:pt x="7183048" y="0"/>
                </a:lnTo>
                <a:lnTo>
                  <a:pt x="7183048" y="7104687"/>
                </a:lnTo>
                <a:lnTo>
                  <a:pt x="0" y="71046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3215899" y="5294795"/>
            <a:ext cx="3337301" cy="446661"/>
          </a:xfrm>
          <a:prstGeom prst="rect">
            <a:avLst/>
          </a:prstGeom>
        </p:spPr>
        <p:txBody>
          <a:bodyPr wrap="square" lIns="0" tIns="0" rIns="0" bIns="0" rtlCol="0" anchor="t">
            <a:spAutoFit/>
          </a:bodyPr>
          <a:lstStyle/>
          <a:p>
            <a:pPr algn="ctr">
              <a:lnSpc>
                <a:spcPts val="3779"/>
              </a:lnSpc>
              <a:spcBef>
                <a:spcPct val="0"/>
              </a:spcBef>
            </a:pPr>
            <a:r>
              <a:rPr lang="en-US" sz="2700" b="1" dirty="0">
                <a:solidFill>
                  <a:srgbClr val="FFFFFF"/>
                </a:solidFill>
                <a:latin typeface="Times New Roman Bold"/>
                <a:ea typeface="Times New Roman Bold"/>
                <a:cs typeface="Times New Roman Bold"/>
                <a:sym typeface="Times New Roman Bold"/>
              </a:rPr>
              <a:t>Univariate Charts</a:t>
            </a:r>
          </a:p>
        </p:txBody>
      </p:sp>
      <p:sp>
        <p:nvSpPr>
          <p:cNvPr id="8" name="TextBox 8"/>
          <p:cNvSpPr txBox="1"/>
          <p:nvPr/>
        </p:nvSpPr>
        <p:spPr>
          <a:xfrm>
            <a:off x="2942322" y="5915825"/>
            <a:ext cx="6658878" cy="4002442"/>
          </a:xfrm>
          <a:prstGeom prst="rect">
            <a:avLst/>
          </a:prstGeom>
        </p:spPr>
        <p:txBody>
          <a:bodyPr wrap="square" lIns="0" tIns="0" rIns="0" bIns="0" rtlCol="0" anchor="t">
            <a:spAutoFit/>
          </a:bodyPr>
          <a:lstStyle/>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Age Group distribution</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Gender distribution</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 Primary Device distribution</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Avg Daily Screen Time </a:t>
            </a:r>
            <a:r>
              <a:rPr lang="en-US" sz="2499" dirty="0" err="1">
                <a:solidFill>
                  <a:srgbClr val="FFFFFF"/>
                </a:solidFill>
                <a:latin typeface="Times New Roman"/>
                <a:ea typeface="Times New Roman"/>
                <a:cs typeface="Times New Roman"/>
                <a:sym typeface="Times New Roman"/>
              </a:rPr>
              <a:t>hr</a:t>
            </a:r>
            <a:r>
              <a:rPr lang="en-US" sz="2499" dirty="0">
                <a:solidFill>
                  <a:srgbClr val="FFFFFF"/>
                </a:solidFill>
                <a:latin typeface="Times New Roman"/>
                <a:ea typeface="Times New Roman"/>
                <a:cs typeface="Times New Roman"/>
                <a:sym typeface="Times New Roman"/>
              </a:rPr>
              <a:t> distribution</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Exceeded Recommended Limit count </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Health Impact Count distribution </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Screen Time Level distribution </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Edu vs Rec distribution </a:t>
            </a:r>
          </a:p>
          <a:p>
            <a:pPr algn="just">
              <a:lnSpc>
                <a:spcPts val="3499"/>
              </a:lnSpc>
            </a:pPr>
            <a:endParaRPr lang="en-US" sz="2499" dirty="0">
              <a:solidFill>
                <a:srgbClr val="FFFFFF"/>
              </a:solidFill>
              <a:latin typeface="Times New Roman"/>
              <a:ea typeface="Times New Roman"/>
              <a:cs typeface="Times New Roman"/>
              <a:sym typeface="Times New Roman"/>
            </a:endParaRPr>
          </a:p>
        </p:txBody>
      </p:sp>
      <p:sp>
        <p:nvSpPr>
          <p:cNvPr id="9" name="TextBox 9"/>
          <p:cNvSpPr txBox="1"/>
          <p:nvPr/>
        </p:nvSpPr>
        <p:spPr>
          <a:xfrm>
            <a:off x="8991600" y="5314551"/>
            <a:ext cx="3219120" cy="446661"/>
          </a:xfrm>
          <a:prstGeom prst="rect">
            <a:avLst/>
          </a:prstGeom>
        </p:spPr>
        <p:txBody>
          <a:bodyPr wrap="square" lIns="0" tIns="0" rIns="0" bIns="0" rtlCol="0" anchor="t">
            <a:spAutoFit/>
          </a:bodyPr>
          <a:lstStyle/>
          <a:p>
            <a:pPr algn="ctr">
              <a:lnSpc>
                <a:spcPts val="3779"/>
              </a:lnSpc>
              <a:spcBef>
                <a:spcPct val="0"/>
              </a:spcBef>
            </a:pPr>
            <a:r>
              <a:rPr lang="en-US" sz="2700" b="1" dirty="0">
                <a:solidFill>
                  <a:srgbClr val="FFFFFF"/>
                </a:solidFill>
                <a:latin typeface="Times New Roman Bold"/>
                <a:ea typeface="Times New Roman Bold"/>
                <a:cs typeface="Times New Roman Bold"/>
                <a:sym typeface="Times New Roman Bold"/>
              </a:rPr>
              <a:t>Bivariate Chart</a:t>
            </a:r>
          </a:p>
        </p:txBody>
      </p:sp>
      <p:sp>
        <p:nvSpPr>
          <p:cNvPr id="10" name="TextBox 10"/>
          <p:cNvSpPr txBox="1"/>
          <p:nvPr/>
        </p:nvSpPr>
        <p:spPr>
          <a:xfrm>
            <a:off x="9226648" y="5859945"/>
            <a:ext cx="9518550" cy="3553602"/>
          </a:xfrm>
          <a:prstGeom prst="rect">
            <a:avLst/>
          </a:prstGeom>
        </p:spPr>
        <p:txBody>
          <a:bodyPr wrap="square" lIns="0" tIns="0" rIns="0" bIns="0" rtlCol="0" anchor="t">
            <a:spAutoFit/>
          </a:bodyPr>
          <a:lstStyle/>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Age Group vs Avg Daily Screen Time </a:t>
            </a:r>
            <a:r>
              <a:rPr lang="en-US" sz="2499" dirty="0" err="1">
                <a:solidFill>
                  <a:srgbClr val="FFFFFF"/>
                </a:solidFill>
                <a:latin typeface="Times New Roman"/>
                <a:ea typeface="Times New Roman"/>
                <a:cs typeface="Times New Roman"/>
                <a:sym typeface="Times New Roman"/>
              </a:rPr>
              <a:t>hr</a:t>
            </a:r>
            <a:r>
              <a:rPr lang="en-US" sz="2499" dirty="0">
                <a:solidFill>
                  <a:srgbClr val="FFFFFF"/>
                </a:solidFill>
                <a:latin typeface="Times New Roman"/>
                <a:ea typeface="Times New Roman"/>
                <a:cs typeface="Times New Roman"/>
                <a:sym typeface="Times New Roman"/>
              </a:rPr>
              <a:t> Gender distribution</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Gender vs Avg Daily Screen Time </a:t>
            </a:r>
            <a:r>
              <a:rPr lang="en-US" sz="2499" dirty="0" err="1">
                <a:solidFill>
                  <a:srgbClr val="FFFFFF"/>
                </a:solidFill>
                <a:latin typeface="Times New Roman"/>
                <a:ea typeface="Times New Roman"/>
                <a:cs typeface="Times New Roman"/>
                <a:sym typeface="Times New Roman"/>
              </a:rPr>
              <a:t>hr</a:t>
            </a:r>
            <a:r>
              <a:rPr lang="en-US" sz="2499" dirty="0">
                <a:solidFill>
                  <a:srgbClr val="FFFFFF"/>
                </a:solidFill>
                <a:latin typeface="Times New Roman"/>
                <a:ea typeface="Times New Roman"/>
                <a:cs typeface="Times New Roman"/>
                <a:sym typeface="Times New Roman"/>
              </a:rPr>
              <a:t> </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Primary Device vs Avg Daily Screen Time </a:t>
            </a:r>
            <a:r>
              <a:rPr lang="en-US" sz="2499" dirty="0" err="1">
                <a:solidFill>
                  <a:srgbClr val="FFFFFF"/>
                </a:solidFill>
                <a:latin typeface="Times New Roman"/>
                <a:ea typeface="Times New Roman"/>
                <a:cs typeface="Times New Roman"/>
                <a:sym typeface="Times New Roman"/>
              </a:rPr>
              <a:t>hr</a:t>
            </a:r>
            <a:r>
              <a:rPr lang="en-US" sz="2499" dirty="0">
                <a:solidFill>
                  <a:srgbClr val="FFFFFF"/>
                </a:solidFill>
                <a:latin typeface="Times New Roman"/>
                <a:ea typeface="Times New Roman"/>
                <a:cs typeface="Times New Roman"/>
                <a:sym typeface="Times New Roman"/>
              </a:rPr>
              <a:t> </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Urban or Rural vs Avg Daily Screen Time </a:t>
            </a:r>
            <a:r>
              <a:rPr lang="en-US" sz="2499" dirty="0" err="1">
                <a:solidFill>
                  <a:srgbClr val="FFFFFF"/>
                </a:solidFill>
                <a:latin typeface="Times New Roman"/>
                <a:ea typeface="Times New Roman"/>
                <a:cs typeface="Times New Roman"/>
                <a:sym typeface="Times New Roman"/>
              </a:rPr>
              <a:t>hr</a:t>
            </a:r>
            <a:r>
              <a:rPr lang="en-US" sz="2499" dirty="0">
                <a:solidFill>
                  <a:srgbClr val="FFFFFF"/>
                </a:solidFill>
                <a:latin typeface="Times New Roman"/>
                <a:ea typeface="Times New Roman"/>
                <a:cs typeface="Times New Roman"/>
                <a:sym typeface="Times New Roman"/>
              </a:rPr>
              <a:t> </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Primary Device vs Health Impact Count </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Edu vs Rec vs Health Impact Count</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Urban or Rural vs Exceeded Recommended Limit </a:t>
            </a:r>
          </a:p>
          <a:p>
            <a:pPr marL="539748" lvl="1" indent="-269874" algn="just">
              <a:lnSpc>
                <a:spcPts val="3499"/>
              </a:lnSpc>
              <a:buFont typeface="Arial"/>
              <a:buChar char="•"/>
            </a:pPr>
            <a:r>
              <a:rPr lang="en-US" sz="2499" dirty="0">
                <a:solidFill>
                  <a:srgbClr val="FFFFFF"/>
                </a:solidFill>
                <a:latin typeface="Times New Roman"/>
                <a:ea typeface="Times New Roman"/>
                <a:cs typeface="Times New Roman"/>
                <a:sym typeface="Times New Roman"/>
              </a:rPr>
              <a:t>Screen Time Level vs Exceeded Recommended Limit </a:t>
            </a:r>
          </a:p>
        </p:txBody>
      </p:sp>
      <p:sp>
        <p:nvSpPr>
          <p:cNvPr id="11" name="AutoShape 11"/>
          <p:cNvSpPr/>
          <p:nvPr/>
        </p:nvSpPr>
        <p:spPr>
          <a:xfrm>
            <a:off x="8788498" y="5286506"/>
            <a:ext cx="0" cy="3971794"/>
          </a:xfrm>
          <a:prstGeom prst="line">
            <a:avLst/>
          </a:prstGeom>
          <a:ln w="19050" cap="flat">
            <a:solidFill>
              <a:srgbClr val="FFFFFF"/>
            </a:solidFill>
            <a:prstDash val="solid"/>
            <a:headEnd type="none" w="sm" len="sm"/>
            <a:tailEnd type="none" w="sm" len="sm"/>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TextBox 2"/>
          <p:cNvSpPr txBox="1"/>
          <p:nvPr/>
        </p:nvSpPr>
        <p:spPr>
          <a:xfrm>
            <a:off x="1028700" y="1133475"/>
            <a:ext cx="16230600" cy="1228725"/>
          </a:xfrm>
          <a:prstGeom prst="rect">
            <a:avLst/>
          </a:prstGeom>
        </p:spPr>
        <p:txBody>
          <a:bodyPr lIns="0" tIns="0" rIns="0" bIns="0" rtlCol="0" anchor="t">
            <a:spAutoFit/>
          </a:bodyPr>
          <a:lstStyle/>
          <a:p>
            <a:pPr algn="ctr">
              <a:lnSpc>
                <a:spcPts val="4500"/>
              </a:lnSpc>
            </a:pPr>
            <a:r>
              <a:rPr lang="en-US" sz="5000" b="1">
                <a:solidFill>
                  <a:srgbClr val="FFFFFF"/>
                </a:solidFill>
                <a:latin typeface="Times New Roman Bold"/>
                <a:ea typeface="Times New Roman Bold"/>
                <a:cs typeface="Times New Roman Bold"/>
                <a:sym typeface="Times New Roman Bold"/>
              </a:rPr>
              <a:t>WEEK 04</a:t>
            </a:r>
          </a:p>
          <a:p>
            <a:pPr algn="ctr">
              <a:lnSpc>
                <a:spcPts val="4500"/>
              </a:lnSpc>
            </a:pPr>
            <a:endParaRPr lang="en-US" sz="5000" b="1">
              <a:solidFill>
                <a:srgbClr val="FFFFFF"/>
              </a:solidFill>
              <a:latin typeface="Times New Roman Bold"/>
              <a:ea typeface="Times New Roman Bold"/>
              <a:cs typeface="Times New Roman Bold"/>
              <a:sym typeface="Times New Roman Bold"/>
            </a:endParaRPr>
          </a:p>
        </p:txBody>
      </p:sp>
      <p:sp>
        <p:nvSpPr>
          <p:cNvPr id="3" name="Freeform 3"/>
          <p:cNvSpPr/>
          <p:nvPr/>
        </p:nvSpPr>
        <p:spPr>
          <a:xfrm>
            <a:off x="15891403" y="-1161447"/>
            <a:ext cx="4428606" cy="4380293"/>
          </a:xfrm>
          <a:custGeom>
            <a:avLst/>
            <a:gdLst/>
            <a:ahLst/>
            <a:cxnLst/>
            <a:rect l="l" t="t" r="r" b="b"/>
            <a:pathLst>
              <a:path w="4428606" h="4380293">
                <a:moveTo>
                  <a:pt x="0" y="0"/>
                </a:moveTo>
                <a:lnTo>
                  <a:pt x="4428606" y="0"/>
                </a:lnTo>
                <a:lnTo>
                  <a:pt x="4428606" y="4380294"/>
                </a:lnTo>
                <a:lnTo>
                  <a:pt x="0" y="43802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028700" y="2178685"/>
            <a:ext cx="16230600" cy="2193925"/>
          </a:xfrm>
          <a:prstGeom prst="rect">
            <a:avLst/>
          </a:prstGeom>
        </p:spPr>
        <p:txBody>
          <a:bodyPr lIns="0" tIns="0" rIns="0" bIns="0" rtlCol="0" anchor="t">
            <a:spAutoFit/>
          </a:bodyPr>
          <a:lstStyle/>
          <a:p>
            <a:pPr algn="just">
              <a:lnSpc>
                <a:spcPts val="3500"/>
              </a:lnSpc>
            </a:pPr>
            <a:r>
              <a:rPr lang="en-US" sz="2500">
                <a:solidFill>
                  <a:srgbClr val="FFFFFF"/>
                </a:solidFill>
                <a:latin typeface="Times New Roman"/>
                <a:ea typeface="Times New Roman"/>
                <a:cs typeface="Times New Roman"/>
                <a:sym typeface="Times New Roman"/>
              </a:rPr>
              <a:t>          The objective of Week 4 was to analyze how device usage, activity purpose (educational vs recreational), and time patterns (weekday vs weekend) influence children’s screen-time behavior. Power BI was used to create interactive visuals to identify peak-usage cohorts and behavioral differences across demographics.</a:t>
            </a:r>
          </a:p>
          <a:p>
            <a:pPr algn="just">
              <a:lnSpc>
                <a:spcPts val="3500"/>
              </a:lnSpc>
            </a:pPr>
            <a:endParaRPr lang="en-US" sz="2500">
              <a:solidFill>
                <a:srgbClr val="FFFFFF"/>
              </a:solidFill>
              <a:latin typeface="Times New Roman"/>
              <a:ea typeface="Times New Roman"/>
              <a:cs typeface="Times New Roman"/>
              <a:sym typeface="Times New Roman"/>
            </a:endParaRPr>
          </a:p>
          <a:p>
            <a:pPr algn="just">
              <a:lnSpc>
                <a:spcPts val="3500"/>
              </a:lnSpc>
            </a:pPr>
            <a:endParaRPr lang="en-US" sz="2500">
              <a:solidFill>
                <a:srgbClr val="FFFFFF"/>
              </a:solidFill>
              <a:latin typeface="Times New Roman"/>
              <a:ea typeface="Times New Roman"/>
              <a:cs typeface="Times New Roman"/>
              <a:sym typeface="Times New Roman"/>
            </a:endParaRPr>
          </a:p>
        </p:txBody>
      </p:sp>
      <p:sp>
        <p:nvSpPr>
          <p:cNvPr id="5" name="Freeform 5"/>
          <p:cNvSpPr/>
          <p:nvPr/>
        </p:nvSpPr>
        <p:spPr>
          <a:xfrm>
            <a:off x="-2571086" y="4847200"/>
            <a:ext cx="5142173" cy="5086076"/>
          </a:xfrm>
          <a:custGeom>
            <a:avLst/>
            <a:gdLst/>
            <a:ahLst/>
            <a:cxnLst/>
            <a:rect l="l" t="t" r="r" b="b"/>
            <a:pathLst>
              <a:path w="5142173" h="5086076">
                <a:moveTo>
                  <a:pt x="0" y="0"/>
                </a:moveTo>
                <a:lnTo>
                  <a:pt x="5142172" y="0"/>
                </a:lnTo>
                <a:lnTo>
                  <a:pt x="5142172" y="5086076"/>
                </a:lnTo>
                <a:lnTo>
                  <a:pt x="0" y="50860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059045" y="3963670"/>
            <a:ext cx="12668399" cy="2207079"/>
          </a:xfrm>
          <a:prstGeom prst="rect">
            <a:avLst/>
          </a:prstGeom>
        </p:spPr>
        <p:txBody>
          <a:bodyPr lIns="0" tIns="0" rIns="0" bIns="0" rtlCol="0" anchor="t">
            <a:spAutoFit/>
          </a:bodyPr>
          <a:lstStyle/>
          <a:p>
            <a:pPr algn="l">
              <a:lnSpc>
                <a:spcPts val="3499"/>
              </a:lnSpc>
            </a:pPr>
            <a:endParaRPr dirty="0"/>
          </a:p>
          <a:p>
            <a:pPr algn="l">
              <a:lnSpc>
                <a:spcPts val="3499"/>
              </a:lnSpc>
            </a:pPr>
            <a:r>
              <a:rPr lang="en-US" sz="2499" dirty="0">
                <a:solidFill>
                  <a:srgbClr val="FFFFFF"/>
                </a:solidFill>
                <a:latin typeface="Times New Roman"/>
                <a:ea typeface="Times New Roman"/>
                <a:cs typeface="Times New Roman"/>
                <a:sym typeface="Times New Roman"/>
              </a:rPr>
              <a:t>    For weekday vs weekend analysis, a derived column Day Type was created using usage behavior</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Educational Dominant → Weekday</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Recreational / Balanced → Weekend</a:t>
            </a:r>
          </a:p>
          <a:p>
            <a:pPr algn="l">
              <a:lnSpc>
                <a:spcPts val="3499"/>
              </a:lnSpc>
            </a:pPr>
            <a:endParaRPr lang="en-US" sz="2499" dirty="0">
              <a:solidFill>
                <a:srgbClr val="FFFFFF"/>
              </a:solidFill>
              <a:latin typeface="Times New Roman"/>
              <a:ea typeface="Times New Roman"/>
              <a:cs typeface="Times New Roman"/>
              <a:sym typeface="Times New Roman"/>
            </a:endParaRPr>
          </a:p>
        </p:txBody>
      </p:sp>
      <p:sp>
        <p:nvSpPr>
          <p:cNvPr id="7" name="TextBox 7"/>
          <p:cNvSpPr txBox="1"/>
          <p:nvPr/>
        </p:nvSpPr>
        <p:spPr>
          <a:xfrm>
            <a:off x="-238128" y="3750310"/>
            <a:ext cx="7816375" cy="474345"/>
          </a:xfrm>
          <a:prstGeom prst="rect">
            <a:avLst/>
          </a:prstGeom>
        </p:spPr>
        <p:txBody>
          <a:bodyPr lIns="0" tIns="0" rIns="0" bIns="0" rtlCol="0" anchor="t">
            <a:spAutoFit/>
          </a:bodyPr>
          <a:lstStyle/>
          <a:p>
            <a:pPr algn="ctr">
              <a:lnSpc>
                <a:spcPts val="3779"/>
              </a:lnSpc>
              <a:spcBef>
                <a:spcPct val="0"/>
              </a:spcBef>
            </a:pPr>
            <a:r>
              <a:rPr lang="en-US" sz="2699" b="1">
                <a:solidFill>
                  <a:srgbClr val="FFFFFF"/>
                </a:solidFill>
                <a:latin typeface="Times New Roman Bold"/>
                <a:ea typeface="Times New Roman Bold"/>
                <a:cs typeface="Times New Roman Bold"/>
                <a:sym typeface="Times New Roman Bold"/>
              </a:rPr>
              <a:t>Derived Columns </a:t>
            </a:r>
          </a:p>
        </p:txBody>
      </p:sp>
      <p:sp>
        <p:nvSpPr>
          <p:cNvPr id="8" name="TextBox 8"/>
          <p:cNvSpPr txBox="1"/>
          <p:nvPr/>
        </p:nvSpPr>
        <p:spPr>
          <a:xfrm>
            <a:off x="9176681" y="6263872"/>
            <a:ext cx="9111319" cy="3553602"/>
          </a:xfrm>
          <a:prstGeom prst="rect">
            <a:avLst/>
          </a:prstGeom>
        </p:spPr>
        <p:txBody>
          <a:bodyPr wrap="square" lIns="0" tIns="0" rIns="0" bIns="0" rtlCol="0" anchor="t">
            <a:spAutoFit/>
          </a:bodyPr>
          <a:lstStyle/>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 Device Category vs Avg Screen Time </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Age Group vs Primary Device </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Device Category vs Health Impact Count</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Gender vs Device Category</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Urban or Rural vs Device Category</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Edu vs Rec vs Screen Time Level</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Weekday vs Weekend Screen Time</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Age Group vs Weekend/Weekday screen time</a:t>
            </a:r>
          </a:p>
        </p:txBody>
      </p:sp>
      <p:sp>
        <p:nvSpPr>
          <p:cNvPr id="9" name="TextBox 9"/>
          <p:cNvSpPr txBox="1"/>
          <p:nvPr/>
        </p:nvSpPr>
        <p:spPr>
          <a:xfrm>
            <a:off x="8991600" y="5750749"/>
            <a:ext cx="4921361" cy="446661"/>
          </a:xfrm>
          <a:prstGeom prst="rect">
            <a:avLst/>
          </a:prstGeom>
        </p:spPr>
        <p:txBody>
          <a:bodyPr wrap="square" lIns="0" tIns="0" rIns="0" bIns="0" rtlCol="0" anchor="t">
            <a:spAutoFit/>
          </a:bodyPr>
          <a:lstStyle/>
          <a:p>
            <a:pPr algn="ctr">
              <a:lnSpc>
                <a:spcPts val="3779"/>
              </a:lnSpc>
              <a:spcBef>
                <a:spcPct val="0"/>
              </a:spcBef>
            </a:pPr>
            <a:r>
              <a:rPr lang="en-US" sz="2699" b="1" dirty="0">
                <a:solidFill>
                  <a:srgbClr val="FFFFFF"/>
                </a:solidFill>
                <a:latin typeface="Times New Roman Bold"/>
                <a:ea typeface="Times New Roman Bold"/>
                <a:cs typeface="Times New Roman Bold"/>
                <a:sym typeface="Times New Roman Bold"/>
              </a:rPr>
              <a:t>Charts Created &amp;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TextBox 2"/>
          <p:cNvSpPr txBox="1"/>
          <p:nvPr/>
        </p:nvSpPr>
        <p:spPr>
          <a:xfrm>
            <a:off x="1044959" y="1162050"/>
            <a:ext cx="17353952" cy="781050"/>
          </a:xfrm>
          <a:prstGeom prst="rect">
            <a:avLst/>
          </a:prstGeom>
        </p:spPr>
        <p:txBody>
          <a:bodyPr lIns="0" tIns="0" rIns="0" bIns="0" rtlCol="0" anchor="t">
            <a:spAutoFit/>
          </a:bodyPr>
          <a:lstStyle/>
          <a:p>
            <a:pPr algn="l">
              <a:lnSpc>
                <a:spcPts val="5400"/>
              </a:lnSpc>
            </a:pPr>
            <a:r>
              <a:rPr lang="en-US" sz="6000" b="1">
                <a:solidFill>
                  <a:srgbClr val="FFFFFF"/>
                </a:solidFill>
                <a:latin typeface="Times New Roman Bold"/>
                <a:ea typeface="Times New Roman Bold"/>
                <a:cs typeface="Times New Roman Bold"/>
                <a:sym typeface="Times New Roman Bold"/>
              </a:rPr>
              <a:t>Milestone 3: Segment &amp; Insight Deep-Dives</a:t>
            </a:r>
          </a:p>
        </p:txBody>
      </p:sp>
      <p:sp>
        <p:nvSpPr>
          <p:cNvPr id="3" name="TextBox 3"/>
          <p:cNvSpPr txBox="1"/>
          <p:nvPr/>
        </p:nvSpPr>
        <p:spPr>
          <a:xfrm>
            <a:off x="1044959" y="3313513"/>
            <a:ext cx="16230600" cy="2632075"/>
          </a:xfrm>
          <a:prstGeom prst="rect">
            <a:avLst/>
          </a:prstGeom>
        </p:spPr>
        <p:txBody>
          <a:bodyPr lIns="0" tIns="0" rIns="0" bIns="0" rtlCol="0" anchor="t">
            <a:spAutoFit/>
          </a:bodyPr>
          <a:lstStyle/>
          <a:p>
            <a:pPr algn="just">
              <a:lnSpc>
                <a:spcPts val="3500"/>
              </a:lnSpc>
            </a:pPr>
            <a:r>
              <a:rPr lang="en-US" sz="2500">
                <a:solidFill>
                  <a:srgbClr val="FFFFFF"/>
                </a:solidFill>
                <a:latin typeface="Times New Roman"/>
                <a:ea typeface="Times New Roman"/>
                <a:cs typeface="Times New Roman"/>
                <a:sym typeface="Times New Roman"/>
              </a:rPr>
              <a:t>         The objective of Week 5 was to perform cohort and segment analysis to understand how children’s screen-time behavior varies across key demographic and behavioral groups. This phase focused on identifying high-risk cohorts by combining factors such as age group, device usage, activity purpose, and location type. By segmenting users into meaningful groups, deeper insights were derived about which combinations contribute most to high and excessive screen time. The analysis helped move beyond general trends to group-specific behavioral patterns. These insights support targeted awareness and intervention strategies for parents and educators.</a:t>
            </a:r>
          </a:p>
        </p:txBody>
      </p:sp>
      <p:sp>
        <p:nvSpPr>
          <p:cNvPr id="4" name="Freeform 4"/>
          <p:cNvSpPr/>
          <p:nvPr/>
        </p:nvSpPr>
        <p:spPr>
          <a:xfrm>
            <a:off x="15025014" y="-3081721"/>
            <a:ext cx="7183047" cy="7104687"/>
          </a:xfrm>
          <a:custGeom>
            <a:avLst/>
            <a:gdLst/>
            <a:ahLst/>
            <a:cxnLst/>
            <a:rect l="l" t="t" r="r" b="b"/>
            <a:pathLst>
              <a:path w="7183047" h="7104687">
                <a:moveTo>
                  <a:pt x="0" y="0"/>
                </a:moveTo>
                <a:lnTo>
                  <a:pt x="7183048" y="0"/>
                </a:lnTo>
                <a:lnTo>
                  <a:pt x="7183048" y="7104687"/>
                </a:lnTo>
                <a:lnTo>
                  <a:pt x="0" y="71046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6967751" y="2206073"/>
            <a:ext cx="3475508" cy="823559"/>
          </a:xfrm>
          <a:prstGeom prst="rect">
            <a:avLst/>
          </a:prstGeom>
        </p:spPr>
        <p:txBody>
          <a:bodyPr wrap="square" lIns="0" tIns="0" rIns="0" bIns="0" rtlCol="0" anchor="t">
            <a:spAutoFit/>
          </a:bodyPr>
          <a:lstStyle/>
          <a:p>
            <a:pPr algn="ctr">
              <a:lnSpc>
                <a:spcPts val="7000"/>
              </a:lnSpc>
              <a:spcBef>
                <a:spcPct val="0"/>
              </a:spcBef>
            </a:pPr>
            <a:r>
              <a:rPr lang="en-US" sz="5000" b="1" dirty="0">
                <a:solidFill>
                  <a:srgbClr val="FFFFFF"/>
                </a:solidFill>
                <a:latin typeface="Times New Roman Bold"/>
                <a:ea typeface="Times New Roman Bold"/>
                <a:cs typeface="Times New Roman Bold"/>
                <a:sym typeface="Times New Roman Bold"/>
              </a:rPr>
              <a:t>WEEK 05</a:t>
            </a:r>
          </a:p>
        </p:txBody>
      </p:sp>
      <p:sp>
        <p:nvSpPr>
          <p:cNvPr id="6" name="Freeform 6"/>
          <p:cNvSpPr/>
          <p:nvPr/>
        </p:nvSpPr>
        <p:spPr>
          <a:xfrm>
            <a:off x="-3175920" y="6613219"/>
            <a:ext cx="7183047" cy="7104687"/>
          </a:xfrm>
          <a:custGeom>
            <a:avLst/>
            <a:gdLst/>
            <a:ahLst/>
            <a:cxnLst/>
            <a:rect l="l" t="t" r="r" b="b"/>
            <a:pathLst>
              <a:path w="7183047" h="7104687">
                <a:moveTo>
                  <a:pt x="0" y="0"/>
                </a:moveTo>
                <a:lnTo>
                  <a:pt x="7183048" y="0"/>
                </a:lnTo>
                <a:lnTo>
                  <a:pt x="7183048" y="7104687"/>
                </a:lnTo>
                <a:lnTo>
                  <a:pt x="0" y="71046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6036192" y="7458875"/>
            <a:ext cx="8449375" cy="1308100"/>
          </a:xfrm>
          <a:prstGeom prst="rect">
            <a:avLst/>
          </a:prstGeom>
        </p:spPr>
        <p:txBody>
          <a:bodyPr lIns="0" tIns="0" rIns="0" bIns="0" rtlCol="0" anchor="t">
            <a:spAutoFit/>
          </a:bodyPr>
          <a:lstStyle/>
          <a:p>
            <a:pPr marL="539749" lvl="1" indent="-269875" algn="just">
              <a:lnSpc>
                <a:spcPts val="3499"/>
              </a:lnSpc>
              <a:buFont typeface="Arial"/>
              <a:buChar char="•"/>
            </a:pPr>
            <a:r>
              <a:rPr lang="en-US" sz="2499">
                <a:solidFill>
                  <a:srgbClr val="FFFFFF"/>
                </a:solidFill>
                <a:latin typeface="Times New Roman"/>
                <a:ea typeface="Times New Roman"/>
                <a:cs typeface="Times New Roman"/>
                <a:sym typeface="Times New Roman"/>
              </a:rPr>
              <a:t>Age Group × Device Category</a:t>
            </a:r>
          </a:p>
          <a:p>
            <a:pPr marL="539749" lvl="1" indent="-269875" algn="just">
              <a:lnSpc>
                <a:spcPts val="3499"/>
              </a:lnSpc>
              <a:buFont typeface="Arial"/>
              <a:buChar char="•"/>
            </a:pPr>
            <a:r>
              <a:rPr lang="en-US" sz="2499">
                <a:solidFill>
                  <a:srgbClr val="FFFFFF"/>
                </a:solidFill>
                <a:latin typeface="Times New Roman"/>
                <a:ea typeface="Times New Roman"/>
                <a:cs typeface="Times New Roman"/>
                <a:sym typeface="Times New Roman"/>
              </a:rPr>
              <a:t>Urban or Rural × Screen Time Level</a:t>
            </a:r>
          </a:p>
          <a:p>
            <a:pPr marL="539749" lvl="1" indent="-269875" algn="just">
              <a:lnSpc>
                <a:spcPts val="3499"/>
              </a:lnSpc>
              <a:buFont typeface="Arial"/>
              <a:buChar char="•"/>
            </a:pPr>
            <a:r>
              <a:rPr lang="en-US" sz="2499">
                <a:solidFill>
                  <a:srgbClr val="FFFFFF"/>
                </a:solidFill>
                <a:latin typeface="Times New Roman"/>
                <a:ea typeface="Times New Roman"/>
                <a:cs typeface="Times New Roman"/>
                <a:sym typeface="Times New Roman"/>
              </a:rPr>
              <a:t>Age Group × Edu vs Rec</a:t>
            </a:r>
          </a:p>
        </p:txBody>
      </p:sp>
      <p:sp>
        <p:nvSpPr>
          <p:cNvPr id="8" name="TextBox 8"/>
          <p:cNvSpPr txBox="1"/>
          <p:nvPr/>
        </p:nvSpPr>
        <p:spPr>
          <a:xfrm>
            <a:off x="5562600" y="6642610"/>
            <a:ext cx="5396816" cy="446661"/>
          </a:xfrm>
          <a:prstGeom prst="rect">
            <a:avLst/>
          </a:prstGeom>
        </p:spPr>
        <p:txBody>
          <a:bodyPr wrap="square" lIns="0" tIns="0" rIns="0" bIns="0" rtlCol="0" anchor="t">
            <a:spAutoFit/>
          </a:bodyPr>
          <a:lstStyle/>
          <a:p>
            <a:pPr algn="ctr">
              <a:lnSpc>
                <a:spcPts val="3779"/>
              </a:lnSpc>
              <a:spcBef>
                <a:spcPct val="0"/>
              </a:spcBef>
            </a:pPr>
            <a:r>
              <a:rPr lang="en-US" sz="2700" b="1" dirty="0">
                <a:solidFill>
                  <a:srgbClr val="FFFFFF"/>
                </a:solidFill>
                <a:latin typeface="Times New Roman Bold"/>
                <a:ea typeface="Times New Roman Bold"/>
                <a:cs typeface="Times New Roman Bold"/>
                <a:sym typeface="Times New Roman Bold"/>
              </a:rPr>
              <a:t>Cohort &amp; Segment Analysis: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TextBox 2"/>
          <p:cNvSpPr txBox="1"/>
          <p:nvPr/>
        </p:nvSpPr>
        <p:spPr>
          <a:xfrm>
            <a:off x="1028700" y="1133475"/>
            <a:ext cx="16230600" cy="657225"/>
          </a:xfrm>
          <a:prstGeom prst="rect">
            <a:avLst/>
          </a:prstGeom>
        </p:spPr>
        <p:txBody>
          <a:bodyPr lIns="0" tIns="0" rIns="0" bIns="0" rtlCol="0" anchor="t">
            <a:spAutoFit/>
          </a:bodyPr>
          <a:lstStyle/>
          <a:p>
            <a:pPr algn="ctr">
              <a:lnSpc>
                <a:spcPts val="4500"/>
              </a:lnSpc>
            </a:pPr>
            <a:r>
              <a:rPr lang="en-US" sz="5000" b="1">
                <a:solidFill>
                  <a:srgbClr val="FFFFFF"/>
                </a:solidFill>
                <a:latin typeface="Times New Roman Bold"/>
                <a:ea typeface="Times New Roman Bold"/>
                <a:cs typeface="Times New Roman Bold"/>
                <a:sym typeface="Times New Roman Bold"/>
              </a:rPr>
              <a:t>WEEK 06</a:t>
            </a:r>
          </a:p>
        </p:txBody>
      </p:sp>
      <p:sp>
        <p:nvSpPr>
          <p:cNvPr id="3" name="Freeform 3"/>
          <p:cNvSpPr/>
          <p:nvPr/>
        </p:nvSpPr>
        <p:spPr>
          <a:xfrm>
            <a:off x="15891403" y="-1161447"/>
            <a:ext cx="4428606" cy="4380293"/>
          </a:xfrm>
          <a:custGeom>
            <a:avLst/>
            <a:gdLst/>
            <a:ahLst/>
            <a:cxnLst/>
            <a:rect l="l" t="t" r="r" b="b"/>
            <a:pathLst>
              <a:path w="4428606" h="4380293">
                <a:moveTo>
                  <a:pt x="0" y="0"/>
                </a:moveTo>
                <a:lnTo>
                  <a:pt x="4428606" y="0"/>
                </a:lnTo>
                <a:lnTo>
                  <a:pt x="4428606" y="4380294"/>
                </a:lnTo>
                <a:lnTo>
                  <a:pt x="0" y="43802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028700" y="2406762"/>
            <a:ext cx="16230600" cy="2632075"/>
          </a:xfrm>
          <a:prstGeom prst="rect">
            <a:avLst/>
          </a:prstGeom>
        </p:spPr>
        <p:txBody>
          <a:bodyPr lIns="0" tIns="0" rIns="0" bIns="0" rtlCol="0" anchor="t">
            <a:spAutoFit/>
          </a:bodyPr>
          <a:lstStyle/>
          <a:p>
            <a:pPr algn="just">
              <a:lnSpc>
                <a:spcPts val="3500"/>
              </a:lnSpc>
            </a:pPr>
            <a:r>
              <a:rPr lang="en-US" sz="2500">
                <a:solidFill>
                  <a:srgbClr val="FFFFFF"/>
                </a:solidFill>
                <a:latin typeface="Times New Roman"/>
                <a:ea typeface="Times New Roman"/>
                <a:cs typeface="Times New Roman"/>
                <a:sym typeface="Times New Roman"/>
              </a:rPr>
              <a:t>       The objective of Week 6 was to analyze habit-based screen-time patterns in the absence of detailed date or seasonal information. This week focused on understanding how screen usage behavior differs based on routine factors, such as weekdays versus weekends and device dependence. Behavioral summaries were supported using key performance indicators to capture overall risk severity and over-usage intensity. The goal was to identify behavioral drivers behind excessive screen time rather than isolated metrics. This helped convert segmented findings into actionable habit insights.</a:t>
            </a:r>
          </a:p>
          <a:p>
            <a:pPr algn="just">
              <a:lnSpc>
                <a:spcPts val="3500"/>
              </a:lnSpc>
            </a:pPr>
            <a:endParaRPr lang="en-US" sz="2500">
              <a:solidFill>
                <a:srgbClr val="FFFFFF"/>
              </a:solidFill>
              <a:latin typeface="Times New Roman"/>
              <a:ea typeface="Times New Roman"/>
              <a:cs typeface="Times New Roman"/>
              <a:sym typeface="Times New Roman"/>
            </a:endParaRPr>
          </a:p>
        </p:txBody>
      </p:sp>
      <p:sp>
        <p:nvSpPr>
          <p:cNvPr id="5" name="Freeform 5"/>
          <p:cNvSpPr/>
          <p:nvPr/>
        </p:nvSpPr>
        <p:spPr>
          <a:xfrm>
            <a:off x="-2571086" y="4847200"/>
            <a:ext cx="5142173" cy="5086076"/>
          </a:xfrm>
          <a:custGeom>
            <a:avLst/>
            <a:gdLst/>
            <a:ahLst/>
            <a:cxnLst/>
            <a:rect l="l" t="t" r="r" b="b"/>
            <a:pathLst>
              <a:path w="5142173" h="5086076">
                <a:moveTo>
                  <a:pt x="0" y="0"/>
                </a:moveTo>
                <a:lnTo>
                  <a:pt x="5142172" y="0"/>
                </a:lnTo>
                <a:lnTo>
                  <a:pt x="5142172" y="5086076"/>
                </a:lnTo>
                <a:lnTo>
                  <a:pt x="0" y="50860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571086" y="5906135"/>
            <a:ext cx="5696545" cy="869950"/>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FFFFFF"/>
                </a:solidFill>
                <a:latin typeface="Times New Roman"/>
                <a:ea typeface="Times New Roman"/>
                <a:cs typeface="Times New Roman"/>
                <a:sym typeface="Times New Roman"/>
              </a:rPr>
              <a:t>Weekday vs Weekend Avg Screen Time</a:t>
            </a:r>
          </a:p>
          <a:p>
            <a:pPr marL="539749" lvl="1" indent="-269875" algn="l">
              <a:lnSpc>
                <a:spcPts val="3499"/>
              </a:lnSpc>
              <a:buFont typeface="Arial"/>
              <a:buChar char="•"/>
            </a:pPr>
            <a:r>
              <a:rPr lang="en-US" sz="2499">
                <a:solidFill>
                  <a:srgbClr val="FFFFFF"/>
                </a:solidFill>
                <a:latin typeface="Times New Roman"/>
                <a:ea typeface="Times New Roman"/>
                <a:cs typeface="Times New Roman"/>
                <a:sym typeface="Times New Roman"/>
              </a:rPr>
              <a:t>Screen Time Level × Device Category</a:t>
            </a:r>
          </a:p>
        </p:txBody>
      </p:sp>
      <p:sp>
        <p:nvSpPr>
          <p:cNvPr id="7" name="TextBox 7"/>
          <p:cNvSpPr txBox="1"/>
          <p:nvPr/>
        </p:nvSpPr>
        <p:spPr>
          <a:xfrm>
            <a:off x="-157051" y="5245735"/>
            <a:ext cx="7710754" cy="474345"/>
          </a:xfrm>
          <a:prstGeom prst="rect">
            <a:avLst/>
          </a:prstGeom>
        </p:spPr>
        <p:txBody>
          <a:bodyPr lIns="0" tIns="0" rIns="0" bIns="0" rtlCol="0" anchor="t">
            <a:spAutoFit/>
          </a:bodyPr>
          <a:lstStyle/>
          <a:p>
            <a:pPr algn="ctr">
              <a:lnSpc>
                <a:spcPts val="3779"/>
              </a:lnSpc>
              <a:spcBef>
                <a:spcPct val="0"/>
              </a:spcBef>
            </a:pPr>
            <a:r>
              <a:rPr lang="en-US" sz="2699" b="1">
                <a:solidFill>
                  <a:srgbClr val="FFFFFF"/>
                </a:solidFill>
                <a:latin typeface="Times New Roman Bold"/>
                <a:ea typeface="Times New Roman Bold"/>
                <a:cs typeface="Times New Roman Bold"/>
                <a:sym typeface="Times New Roman Bold"/>
              </a:rPr>
              <a:t>Habit Patterns:</a:t>
            </a:r>
          </a:p>
        </p:txBody>
      </p:sp>
      <p:sp>
        <p:nvSpPr>
          <p:cNvPr id="8" name="TextBox 8"/>
          <p:cNvSpPr txBox="1"/>
          <p:nvPr/>
        </p:nvSpPr>
        <p:spPr>
          <a:xfrm>
            <a:off x="8180649" y="5245735"/>
            <a:ext cx="7710754" cy="474345"/>
          </a:xfrm>
          <a:prstGeom prst="rect">
            <a:avLst/>
          </a:prstGeom>
        </p:spPr>
        <p:txBody>
          <a:bodyPr lIns="0" tIns="0" rIns="0" bIns="0" rtlCol="0" anchor="t">
            <a:spAutoFit/>
          </a:bodyPr>
          <a:lstStyle/>
          <a:p>
            <a:pPr algn="ctr">
              <a:lnSpc>
                <a:spcPts val="3779"/>
              </a:lnSpc>
              <a:spcBef>
                <a:spcPct val="0"/>
              </a:spcBef>
            </a:pPr>
            <a:r>
              <a:rPr lang="en-US" sz="2699" b="1">
                <a:solidFill>
                  <a:srgbClr val="FFFFFF"/>
                </a:solidFill>
                <a:latin typeface="Times New Roman Bold"/>
                <a:ea typeface="Times New Roman Bold"/>
                <a:cs typeface="Times New Roman Bold"/>
                <a:sym typeface="Times New Roman Bold"/>
              </a:rPr>
              <a:t>KPI-based Habit insights</a:t>
            </a:r>
          </a:p>
        </p:txBody>
      </p:sp>
      <p:sp>
        <p:nvSpPr>
          <p:cNvPr id="9" name="TextBox 9"/>
          <p:cNvSpPr txBox="1"/>
          <p:nvPr/>
        </p:nvSpPr>
        <p:spPr>
          <a:xfrm>
            <a:off x="10228184" y="5906135"/>
            <a:ext cx="7450215" cy="2207079"/>
          </a:xfrm>
          <a:prstGeom prst="rect">
            <a:avLst/>
          </a:prstGeom>
        </p:spPr>
        <p:txBody>
          <a:bodyPr wrap="square" lIns="0" tIns="0" rIns="0" bIns="0" rtlCol="0" anchor="t">
            <a:spAutoFit/>
          </a:bodyPr>
          <a:lstStyle/>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Avg Screen Time (hrs.) </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Pct Above Limit (Percentage Above Safe Limit)</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Most Used Device</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Top Cohort Name &amp; Hrs.</a:t>
            </a:r>
          </a:p>
          <a:p>
            <a:pPr marL="539749" lvl="1" indent="-269875" algn="l">
              <a:lnSpc>
                <a:spcPts val="3499"/>
              </a:lnSpc>
              <a:buFont typeface="Arial"/>
              <a:buChar char="•"/>
            </a:pPr>
            <a:r>
              <a:rPr lang="en-US" sz="2499" dirty="0">
                <a:solidFill>
                  <a:srgbClr val="FFFFFF"/>
                </a:solidFill>
                <a:latin typeface="Times New Roman"/>
                <a:ea typeface="Times New Roman"/>
                <a:cs typeface="Times New Roman"/>
                <a:sym typeface="Times New Roman"/>
              </a:rPr>
              <a:t>Count High &amp; Very High</a:t>
            </a:r>
          </a:p>
        </p:txBody>
      </p:sp>
      <p:sp>
        <p:nvSpPr>
          <p:cNvPr id="10" name="AutoShape 10"/>
          <p:cNvSpPr/>
          <p:nvPr/>
        </p:nvSpPr>
        <p:spPr>
          <a:xfrm>
            <a:off x="9247908" y="5041013"/>
            <a:ext cx="0" cy="3971794"/>
          </a:xfrm>
          <a:prstGeom prst="line">
            <a:avLst/>
          </a:prstGeom>
          <a:ln w="19050" cap="flat">
            <a:solidFill>
              <a:srgbClr val="FFFFFF"/>
            </a:solidFill>
            <a:prstDash val="solid"/>
            <a:headEnd type="none" w="sm" len="sm"/>
            <a:tailEnd type="none" w="sm" len="sm"/>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Freeform 2"/>
          <p:cNvSpPr/>
          <p:nvPr/>
        </p:nvSpPr>
        <p:spPr>
          <a:xfrm>
            <a:off x="17505885" y="3815973"/>
            <a:ext cx="2050449" cy="2028081"/>
          </a:xfrm>
          <a:custGeom>
            <a:avLst/>
            <a:gdLst/>
            <a:ahLst/>
            <a:cxnLst/>
            <a:rect l="l" t="t" r="r" b="b"/>
            <a:pathLst>
              <a:path w="2050449" h="2028081">
                <a:moveTo>
                  <a:pt x="0" y="0"/>
                </a:moveTo>
                <a:lnTo>
                  <a:pt x="2050449" y="0"/>
                </a:lnTo>
                <a:lnTo>
                  <a:pt x="2050449" y="2028080"/>
                </a:lnTo>
                <a:lnTo>
                  <a:pt x="0" y="20280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3" name="Picture 3"/>
          <p:cNvPicPr>
            <a:picLocks noChangeAspect="1"/>
          </p:cNvPicPr>
          <p:nvPr/>
        </p:nvPicPr>
        <p:blipFill>
          <a:blip r:embed="rId4"/>
          <a:stretch>
            <a:fillRect/>
          </a:stretch>
        </p:blipFill>
        <p:spPr>
          <a:xfrm>
            <a:off x="9531972" y="1409700"/>
            <a:ext cx="8756028" cy="8453297"/>
          </a:xfrm>
          <a:prstGeom prst="rect">
            <a:avLst/>
          </a:prstGeom>
        </p:spPr>
      </p:pic>
      <p:sp>
        <p:nvSpPr>
          <p:cNvPr id="4" name="AutoShape 4"/>
          <p:cNvSpPr/>
          <p:nvPr/>
        </p:nvSpPr>
        <p:spPr>
          <a:xfrm>
            <a:off x="316755" y="9483892"/>
            <a:ext cx="17193103" cy="0"/>
          </a:xfrm>
          <a:prstGeom prst="line">
            <a:avLst/>
          </a:prstGeom>
          <a:ln w="19050" cap="flat">
            <a:solidFill>
              <a:srgbClr val="FFFFFF"/>
            </a:solidFill>
            <a:prstDash val="solid"/>
            <a:headEnd type="none" w="sm" len="sm"/>
            <a:tailEnd type="none" w="sm" len="sm"/>
          </a:ln>
        </p:spPr>
      </p:sp>
      <p:sp>
        <p:nvSpPr>
          <p:cNvPr id="5" name="TextBox 5"/>
          <p:cNvSpPr txBox="1"/>
          <p:nvPr/>
        </p:nvSpPr>
        <p:spPr>
          <a:xfrm>
            <a:off x="908128" y="419100"/>
            <a:ext cx="17622981" cy="1066800"/>
          </a:xfrm>
          <a:prstGeom prst="rect">
            <a:avLst/>
          </a:prstGeom>
        </p:spPr>
        <p:txBody>
          <a:bodyPr lIns="0" tIns="0" rIns="0" bIns="0" rtlCol="0" anchor="t">
            <a:spAutoFit/>
          </a:bodyPr>
          <a:lstStyle/>
          <a:p>
            <a:pPr algn="ctr">
              <a:lnSpc>
                <a:spcPts val="8400"/>
              </a:lnSpc>
              <a:spcBef>
                <a:spcPct val="0"/>
              </a:spcBef>
            </a:pPr>
            <a:r>
              <a:rPr lang="en-US" sz="6000" b="1">
                <a:solidFill>
                  <a:srgbClr val="FFFFFF"/>
                </a:solidFill>
                <a:latin typeface="Times New Roman Bold"/>
                <a:ea typeface="Times New Roman Bold"/>
                <a:cs typeface="Times New Roman Bold"/>
                <a:sym typeface="Times New Roman Bold"/>
              </a:rPr>
              <a:t>Milestone 4:  Report and Presentation</a:t>
            </a:r>
          </a:p>
        </p:txBody>
      </p:sp>
      <p:sp>
        <p:nvSpPr>
          <p:cNvPr id="6" name="TextBox 6"/>
          <p:cNvSpPr txBox="1"/>
          <p:nvPr/>
        </p:nvSpPr>
        <p:spPr>
          <a:xfrm>
            <a:off x="273222" y="1890754"/>
            <a:ext cx="3231977" cy="823559"/>
          </a:xfrm>
          <a:prstGeom prst="rect">
            <a:avLst/>
          </a:prstGeom>
        </p:spPr>
        <p:txBody>
          <a:bodyPr wrap="square" lIns="0" tIns="0" rIns="0" bIns="0" rtlCol="0" anchor="t">
            <a:spAutoFit/>
          </a:bodyPr>
          <a:lstStyle/>
          <a:p>
            <a:pPr algn="ctr">
              <a:lnSpc>
                <a:spcPts val="7000"/>
              </a:lnSpc>
              <a:spcBef>
                <a:spcPct val="0"/>
              </a:spcBef>
            </a:pPr>
            <a:r>
              <a:rPr lang="en-US" sz="5000" b="1" dirty="0">
                <a:solidFill>
                  <a:srgbClr val="FFFFFF"/>
                </a:solidFill>
                <a:latin typeface="Times New Roman Bold"/>
                <a:ea typeface="Times New Roman Bold"/>
                <a:cs typeface="Times New Roman Bold"/>
                <a:sym typeface="Times New Roman Bold"/>
              </a:rPr>
              <a:t>Week 07</a:t>
            </a:r>
          </a:p>
        </p:txBody>
      </p:sp>
      <p:sp>
        <p:nvSpPr>
          <p:cNvPr id="7" name="TextBox 7"/>
          <p:cNvSpPr txBox="1"/>
          <p:nvPr/>
        </p:nvSpPr>
        <p:spPr>
          <a:xfrm>
            <a:off x="316755" y="3263984"/>
            <a:ext cx="9595623" cy="4375150"/>
          </a:xfrm>
          <a:prstGeom prst="rect">
            <a:avLst/>
          </a:prstGeom>
        </p:spPr>
        <p:txBody>
          <a:bodyPr lIns="0" tIns="0" rIns="0" bIns="0" rtlCol="0" anchor="t">
            <a:spAutoFit/>
          </a:bodyPr>
          <a:lstStyle/>
          <a:p>
            <a:pPr algn="just">
              <a:lnSpc>
                <a:spcPts val="3499"/>
              </a:lnSpc>
              <a:spcBef>
                <a:spcPct val="0"/>
              </a:spcBef>
            </a:pPr>
            <a:r>
              <a:rPr lang="en-US" sz="2499" dirty="0">
                <a:solidFill>
                  <a:srgbClr val="FFFFFF"/>
                </a:solidFill>
                <a:latin typeface="Times New Roman"/>
                <a:ea typeface="Times New Roman"/>
                <a:cs typeface="Times New Roman"/>
                <a:sym typeface="Times New Roman"/>
              </a:rPr>
              <a:t>      In This Week focuses on transforming analytical findings into an intuitive and well-structured interface that can be easily understood by parents, teachers, and non-technical stakeholders. Emphasis is placed on logical visual flow, consistent layout, and effective use of filters to enable focused exploration across age groups, gender, device usage, and location type. Proper titles, legends, labels, and interaction controls are applied to ensure clarity and interpretability. The outcome of this week is a professional, decision-ready dashboard that communicates key screen-time patterns and risk indicators effectively.</a:t>
            </a:r>
          </a:p>
          <a:p>
            <a:pPr algn="just">
              <a:lnSpc>
                <a:spcPts val="3499"/>
              </a:lnSpc>
              <a:spcBef>
                <a:spcPct val="0"/>
              </a:spcBef>
            </a:pPr>
            <a:endParaRPr lang="en-US" sz="2499" dirty="0">
              <a:solidFill>
                <a:srgbClr val="FFFFFF"/>
              </a:solidFill>
              <a:latin typeface="Times New Roman"/>
              <a:ea typeface="Times New Roman"/>
              <a:cs typeface="Times New Roman"/>
              <a:sym typeface="Times New Roman"/>
            </a:endParaRPr>
          </a:p>
        </p:txBody>
      </p:sp>
      <p:sp>
        <p:nvSpPr>
          <p:cNvPr id="8" name="Rectangle 7">
            <a:extLst>
              <a:ext uri="{FF2B5EF4-FFF2-40B4-BE49-F238E27FC236}">
                <a16:creationId xmlns:a16="http://schemas.microsoft.com/office/drawing/2014/main" id="{D77DBB47-4D7E-7447-9849-EA65E165D8F7}"/>
              </a:ext>
            </a:extLst>
          </p:cNvPr>
          <p:cNvSpPr/>
          <p:nvPr/>
        </p:nvSpPr>
        <p:spPr>
          <a:xfrm>
            <a:off x="12192000" y="2095500"/>
            <a:ext cx="4267200" cy="533375"/>
          </a:xfrm>
          <a:prstGeom prst="rect">
            <a:avLst/>
          </a:prstGeom>
          <a:solidFill>
            <a:srgbClr val="0D0F1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C6B97177-D809-1242-6D2C-FC9DBB96C427}"/>
              </a:ext>
            </a:extLst>
          </p:cNvPr>
          <p:cNvSpPr txBox="1"/>
          <p:nvPr/>
        </p:nvSpPr>
        <p:spPr>
          <a:xfrm>
            <a:off x="11493991" y="2117867"/>
            <a:ext cx="5663217" cy="369332"/>
          </a:xfrm>
          <a:prstGeom prst="rect">
            <a:avLst/>
          </a:prstGeom>
          <a:noFill/>
        </p:spPr>
        <p:txBody>
          <a:bodyPr wrap="none" rtlCol="0">
            <a:spAutoFit/>
          </a:bodyPr>
          <a:lstStyle/>
          <a:p>
            <a:r>
              <a:rPr lang="en-US" b="1" dirty="0">
                <a:solidFill>
                  <a:srgbClr val="FF9003"/>
                </a:solidFill>
              </a:rPr>
              <a:t>Screen Sense  Kids’ Screentime Visualization Presentation</a:t>
            </a:r>
            <a:endParaRPr lang="en-IN" b="1" dirty="0">
              <a:solidFill>
                <a:srgbClr val="FF900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Freeform 2"/>
          <p:cNvSpPr/>
          <p:nvPr/>
        </p:nvSpPr>
        <p:spPr>
          <a:xfrm>
            <a:off x="17505885" y="3815973"/>
            <a:ext cx="2050449" cy="2028081"/>
          </a:xfrm>
          <a:custGeom>
            <a:avLst/>
            <a:gdLst/>
            <a:ahLst/>
            <a:cxnLst/>
            <a:rect l="l" t="t" r="r" b="b"/>
            <a:pathLst>
              <a:path w="2050449" h="2028081">
                <a:moveTo>
                  <a:pt x="0" y="0"/>
                </a:moveTo>
                <a:lnTo>
                  <a:pt x="2050449" y="0"/>
                </a:lnTo>
                <a:lnTo>
                  <a:pt x="2050449" y="2028080"/>
                </a:lnTo>
                <a:lnTo>
                  <a:pt x="0" y="20280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824940" y="3041224"/>
            <a:ext cx="11856068" cy="6669038"/>
          </a:xfrm>
          <a:custGeom>
            <a:avLst/>
            <a:gdLst/>
            <a:ahLst/>
            <a:cxnLst/>
            <a:rect l="l" t="t" r="r" b="b"/>
            <a:pathLst>
              <a:path w="11856068" h="6669038">
                <a:moveTo>
                  <a:pt x="0" y="0"/>
                </a:moveTo>
                <a:lnTo>
                  <a:pt x="11856068" y="0"/>
                </a:lnTo>
                <a:lnTo>
                  <a:pt x="11856068" y="6669038"/>
                </a:lnTo>
                <a:lnTo>
                  <a:pt x="0" y="6669038"/>
                </a:lnTo>
                <a:lnTo>
                  <a:pt x="0" y="0"/>
                </a:lnTo>
                <a:close/>
              </a:path>
            </a:pathLst>
          </a:custGeom>
          <a:blipFill>
            <a:blip r:embed="rId4"/>
            <a:stretch>
              <a:fillRect/>
            </a:stretch>
          </a:blipFill>
        </p:spPr>
      </p:sp>
      <p:sp>
        <p:nvSpPr>
          <p:cNvPr id="4" name="TextBox 4"/>
          <p:cNvSpPr txBox="1"/>
          <p:nvPr/>
        </p:nvSpPr>
        <p:spPr>
          <a:xfrm>
            <a:off x="1841897" y="611188"/>
            <a:ext cx="14604206" cy="958211"/>
          </a:xfrm>
          <a:prstGeom prst="rect">
            <a:avLst/>
          </a:prstGeom>
        </p:spPr>
        <p:txBody>
          <a:bodyPr lIns="0" tIns="0" rIns="0" bIns="0" rtlCol="0" anchor="t">
            <a:spAutoFit/>
          </a:bodyPr>
          <a:lstStyle/>
          <a:p>
            <a:pPr algn="ctr">
              <a:lnSpc>
                <a:spcPts val="8400"/>
              </a:lnSpc>
              <a:spcBef>
                <a:spcPct val="0"/>
              </a:spcBef>
            </a:pPr>
            <a:r>
              <a:rPr lang="en-US" sz="5000" b="1" dirty="0" err="1">
                <a:solidFill>
                  <a:srgbClr val="FFFFFF"/>
                </a:solidFill>
                <a:latin typeface="Times New Roman Bold"/>
                <a:ea typeface="Times New Roman Bold"/>
                <a:cs typeface="Times New Roman Bold"/>
                <a:sym typeface="Times New Roman Bold"/>
              </a:rPr>
              <a:t>ScreenSense</a:t>
            </a:r>
            <a:r>
              <a:rPr lang="en-US" sz="5000" b="1" dirty="0">
                <a:solidFill>
                  <a:srgbClr val="FFFFFF"/>
                </a:solidFill>
                <a:latin typeface="Times New Roman Bold"/>
                <a:ea typeface="Times New Roman Bold"/>
                <a:cs typeface="Times New Roman Bold"/>
                <a:sym typeface="Times New Roman Bold"/>
              </a:rPr>
              <a:t> : Kids’ Screentime Visualization</a:t>
            </a:r>
          </a:p>
        </p:txBody>
      </p:sp>
      <p:sp>
        <p:nvSpPr>
          <p:cNvPr id="5" name="TextBox 5"/>
          <p:cNvSpPr txBox="1"/>
          <p:nvPr/>
        </p:nvSpPr>
        <p:spPr>
          <a:xfrm>
            <a:off x="6318518" y="1667785"/>
            <a:ext cx="5644882" cy="988284"/>
          </a:xfrm>
          <a:prstGeom prst="rect">
            <a:avLst/>
          </a:prstGeom>
        </p:spPr>
        <p:txBody>
          <a:bodyPr wrap="square" lIns="0" tIns="0" rIns="0" bIns="0" rtlCol="0" anchor="t">
            <a:spAutoFit/>
          </a:bodyPr>
          <a:lstStyle/>
          <a:p>
            <a:pPr algn="ctr">
              <a:lnSpc>
                <a:spcPts val="8400"/>
              </a:lnSpc>
              <a:spcBef>
                <a:spcPct val="0"/>
              </a:spcBef>
            </a:pPr>
            <a:r>
              <a:rPr lang="en-US" sz="5000" b="1" dirty="0">
                <a:solidFill>
                  <a:srgbClr val="FFFFFF"/>
                </a:solidFill>
                <a:latin typeface="Times New Roman Bold"/>
                <a:ea typeface="Times New Roman Bold"/>
                <a:cs typeface="Times New Roman Bold"/>
                <a:sym typeface="Times New Roman Bold"/>
              </a:rPr>
              <a:t>DASHBOARD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TextBox 2"/>
          <p:cNvSpPr txBox="1"/>
          <p:nvPr/>
        </p:nvSpPr>
        <p:spPr>
          <a:xfrm>
            <a:off x="1028700" y="2263172"/>
            <a:ext cx="16230600" cy="1800225"/>
          </a:xfrm>
          <a:prstGeom prst="rect">
            <a:avLst/>
          </a:prstGeom>
        </p:spPr>
        <p:txBody>
          <a:bodyPr lIns="0" tIns="0" rIns="0" bIns="0" rtlCol="0" anchor="t">
            <a:spAutoFit/>
          </a:bodyPr>
          <a:lstStyle/>
          <a:p>
            <a:pPr algn="ctr">
              <a:lnSpc>
                <a:spcPts val="4500"/>
              </a:lnSpc>
            </a:pPr>
            <a:r>
              <a:rPr lang="en-US" sz="5000" b="1">
                <a:solidFill>
                  <a:srgbClr val="FFFFFF"/>
                </a:solidFill>
                <a:latin typeface="Times New Roman Bold"/>
                <a:ea typeface="Times New Roman Bold"/>
                <a:cs typeface="Times New Roman Bold"/>
                <a:sym typeface="Times New Roman Bold"/>
              </a:rPr>
              <a:t>WEEK 08</a:t>
            </a:r>
          </a:p>
          <a:p>
            <a:pPr algn="ctr">
              <a:lnSpc>
                <a:spcPts val="4500"/>
              </a:lnSpc>
            </a:pPr>
            <a:endParaRPr lang="en-US" sz="5000" b="1">
              <a:solidFill>
                <a:srgbClr val="FFFFFF"/>
              </a:solidFill>
              <a:latin typeface="Times New Roman Bold"/>
              <a:ea typeface="Times New Roman Bold"/>
              <a:cs typeface="Times New Roman Bold"/>
              <a:sym typeface="Times New Roman Bold"/>
            </a:endParaRPr>
          </a:p>
          <a:p>
            <a:pPr algn="ctr">
              <a:lnSpc>
                <a:spcPts val="4500"/>
              </a:lnSpc>
            </a:pPr>
            <a:endParaRPr lang="en-US" sz="5000" b="1">
              <a:solidFill>
                <a:srgbClr val="FFFFFF"/>
              </a:solidFill>
              <a:latin typeface="Times New Roman Bold"/>
              <a:ea typeface="Times New Roman Bold"/>
              <a:cs typeface="Times New Roman Bold"/>
              <a:sym typeface="Times New Roman Bold"/>
            </a:endParaRPr>
          </a:p>
        </p:txBody>
      </p:sp>
      <p:sp>
        <p:nvSpPr>
          <p:cNvPr id="3" name="Freeform 3"/>
          <p:cNvSpPr/>
          <p:nvPr/>
        </p:nvSpPr>
        <p:spPr>
          <a:xfrm>
            <a:off x="15891403" y="-1161447"/>
            <a:ext cx="4428606" cy="4380293"/>
          </a:xfrm>
          <a:custGeom>
            <a:avLst/>
            <a:gdLst/>
            <a:ahLst/>
            <a:cxnLst/>
            <a:rect l="l" t="t" r="r" b="b"/>
            <a:pathLst>
              <a:path w="4428606" h="4380293">
                <a:moveTo>
                  <a:pt x="0" y="0"/>
                </a:moveTo>
                <a:lnTo>
                  <a:pt x="4428606" y="0"/>
                </a:lnTo>
                <a:lnTo>
                  <a:pt x="4428606" y="4380294"/>
                </a:lnTo>
                <a:lnTo>
                  <a:pt x="0" y="43802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209174" y="3935975"/>
            <a:ext cx="16230600" cy="1755775"/>
          </a:xfrm>
          <a:prstGeom prst="rect">
            <a:avLst/>
          </a:prstGeom>
        </p:spPr>
        <p:txBody>
          <a:bodyPr lIns="0" tIns="0" rIns="0" bIns="0" rtlCol="0" anchor="t">
            <a:spAutoFit/>
          </a:bodyPr>
          <a:lstStyle/>
          <a:p>
            <a:pPr algn="just">
              <a:lnSpc>
                <a:spcPts val="3500"/>
              </a:lnSpc>
            </a:pPr>
            <a:r>
              <a:rPr lang="en-US" sz="2500">
                <a:solidFill>
                  <a:srgbClr val="FFFFFF"/>
                </a:solidFill>
                <a:latin typeface="Times New Roman"/>
                <a:ea typeface="Times New Roman"/>
                <a:cs typeface="Times New Roman"/>
                <a:sym typeface="Times New Roman"/>
              </a:rPr>
              <a:t>        The objective of Week 8 was to formally document the project findings and present them in a professional format. This included preparing a final written report, creating a structured slide deck, and providing a walkthrough of dashboard insights and interactions. The aim was to clearly communicate analysis results, behavioral insights, and conclusions to non-technical stakeholders using well-organized documentation and visual storytelling.</a:t>
            </a:r>
          </a:p>
        </p:txBody>
      </p:sp>
      <p:sp>
        <p:nvSpPr>
          <p:cNvPr id="5" name="Freeform 5"/>
          <p:cNvSpPr/>
          <p:nvPr/>
        </p:nvSpPr>
        <p:spPr>
          <a:xfrm>
            <a:off x="-2571086" y="4847200"/>
            <a:ext cx="5142173" cy="5086076"/>
          </a:xfrm>
          <a:custGeom>
            <a:avLst/>
            <a:gdLst/>
            <a:ahLst/>
            <a:cxnLst/>
            <a:rect l="l" t="t" r="r" b="b"/>
            <a:pathLst>
              <a:path w="5142173" h="5086076">
                <a:moveTo>
                  <a:pt x="0" y="0"/>
                </a:moveTo>
                <a:lnTo>
                  <a:pt x="5142172" y="0"/>
                </a:lnTo>
                <a:lnTo>
                  <a:pt x="5142172" y="5086076"/>
                </a:lnTo>
                <a:lnTo>
                  <a:pt x="0" y="50860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0F11"/>
        </a:solidFill>
        <a:effectLst/>
      </p:bgPr>
    </p:bg>
    <p:spTree>
      <p:nvGrpSpPr>
        <p:cNvPr id="1" name=""/>
        <p:cNvGrpSpPr/>
        <p:nvPr/>
      </p:nvGrpSpPr>
      <p:grpSpPr>
        <a:xfrm>
          <a:off x="0" y="0"/>
          <a:ext cx="0" cy="0"/>
          <a:chOff x="0" y="0"/>
          <a:chExt cx="0" cy="0"/>
        </a:xfrm>
      </p:grpSpPr>
      <p:sp>
        <p:nvSpPr>
          <p:cNvPr id="2" name="Freeform 2"/>
          <p:cNvSpPr/>
          <p:nvPr/>
        </p:nvSpPr>
        <p:spPr>
          <a:xfrm>
            <a:off x="-3275919" y="3175774"/>
            <a:ext cx="12106383" cy="11974314"/>
          </a:xfrm>
          <a:custGeom>
            <a:avLst/>
            <a:gdLst/>
            <a:ahLst/>
            <a:cxnLst/>
            <a:rect l="l" t="t" r="r" b="b"/>
            <a:pathLst>
              <a:path w="12106383" h="11974314">
                <a:moveTo>
                  <a:pt x="0" y="0"/>
                </a:moveTo>
                <a:lnTo>
                  <a:pt x="12106384" y="0"/>
                </a:lnTo>
                <a:lnTo>
                  <a:pt x="12106384" y="11974313"/>
                </a:lnTo>
                <a:lnTo>
                  <a:pt x="0" y="119743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8458781" y="2669759"/>
            <a:ext cx="8024571" cy="4116812"/>
          </a:xfrm>
          <a:prstGeom prst="rect">
            <a:avLst/>
          </a:prstGeom>
        </p:spPr>
        <p:txBody>
          <a:bodyPr lIns="0" tIns="0" rIns="0" bIns="0" rtlCol="0" anchor="t">
            <a:spAutoFit/>
          </a:bodyPr>
          <a:lstStyle/>
          <a:p>
            <a:pPr algn="l">
              <a:lnSpc>
                <a:spcPts val="15572"/>
              </a:lnSpc>
            </a:pPr>
            <a:r>
              <a:rPr lang="en-US" sz="17302">
                <a:solidFill>
                  <a:srgbClr val="FFFFFF"/>
                </a:solidFill>
                <a:latin typeface="Questrial"/>
                <a:ea typeface="Questrial"/>
                <a:cs typeface="Questrial"/>
                <a:sym typeface="Questrial"/>
              </a:rPr>
              <a:t>Thank You</a:t>
            </a:r>
          </a:p>
        </p:txBody>
      </p:sp>
      <p:sp>
        <p:nvSpPr>
          <p:cNvPr id="4" name="Freeform 4"/>
          <p:cNvSpPr/>
          <p:nvPr/>
        </p:nvSpPr>
        <p:spPr>
          <a:xfrm>
            <a:off x="2069406" y="1207854"/>
            <a:ext cx="1415734" cy="1439286"/>
          </a:xfrm>
          <a:custGeom>
            <a:avLst/>
            <a:gdLst/>
            <a:ahLst/>
            <a:cxnLst/>
            <a:rect l="l" t="t" r="r" b="b"/>
            <a:pathLst>
              <a:path w="1415734" h="1439286">
                <a:moveTo>
                  <a:pt x="0" y="0"/>
                </a:moveTo>
                <a:lnTo>
                  <a:pt x="1415734" y="0"/>
                </a:lnTo>
                <a:lnTo>
                  <a:pt x="1415734" y="1439286"/>
                </a:lnTo>
                <a:lnTo>
                  <a:pt x="0" y="14392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863535" y="7869515"/>
            <a:ext cx="1024298" cy="1041338"/>
          </a:xfrm>
          <a:custGeom>
            <a:avLst/>
            <a:gdLst/>
            <a:ahLst/>
            <a:cxnLst/>
            <a:rect l="l" t="t" r="r" b="b"/>
            <a:pathLst>
              <a:path w="1024298" h="1041338">
                <a:moveTo>
                  <a:pt x="0" y="0"/>
                </a:moveTo>
                <a:lnTo>
                  <a:pt x="1024298" y="0"/>
                </a:lnTo>
                <a:lnTo>
                  <a:pt x="1024298" y="1041338"/>
                </a:lnTo>
                <a:lnTo>
                  <a:pt x="0" y="10413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5602611" y="1648643"/>
            <a:ext cx="5370778" cy="5312188"/>
          </a:xfrm>
          <a:custGeom>
            <a:avLst/>
            <a:gdLst/>
            <a:ahLst/>
            <a:cxnLst/>
            <a:rect l="l" t="t" r="r" b="b"/>
            <a:pathLst>
              <a:path w="5370778" h="5312188">
                <a:moveTo>
                  <a:pt x="0" y="0"/>
                </a:moveTo>
                <a:lnTo>
                  <a:pt x="5370778" y="0"/>
                </a:lnTo>
                <a:lnTo>
                  <a:pt x="5370778" y="5312187"/>
                </a:lnTo>
                <a:lnTo>
                  <a:pt x="0" y="53121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aphicFrame>
        <p:nvGraphicFramePr>
          <p:cNvPr id="7" name="Table 7"/>
          <p:cNvGraphicFramePr>
            <a:graphicFrameLocks noGrp="1"/>
          </p:cNvGraphicFramePr>
          <p:nvPr/>
        </p:nvGraphicFramePr>
        <p:xfrm>
          <a:off x="8458781" y="2183984"/>
          <a:ext cx="5909879" cy="4470391"/>
        </p:xfrm>
        <a:graphic>
          <a:graphicData uri="http://schemas.openxmlformats.org/drawingml/2006/table">
            <a:tbl>
              <a:tblPr/>
              <a:tblGrid>
                <a:gridCol w="5909879">
                  <a:extLst>
                    <a:ext uri="{9D8B030D-6E8A-4147-A177-3AD203B41FA5}">
                      <a16:colId xmlns:a16="http://schemas.microsoft.com/office/drawing/2014/main" val="20000"/>
                    </a:ext>
                  </a:extLst>
                </a:gridCol>
              </a:tblGrid>
              <a:tr h="4470391">
                <a:tc>
                  <a:txBody>
                    <a:bodyPr/>
                    <a:lstStyle/>
                    <a:p>
                      <a:pPr algn="ctr">
                        <a:lnSpc>
                          <a:spcPts val="2520"/>
                        </a:lnSpc>
                        <a:defRPr/>
                      </a:pPr>
                      <a:endParaRPr lang="en-US" sz="1100"/>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9003"/>
                      </a:solidFill>
                      <a:prstDash val="solid"/>
                      <a:round/>
                      <a:headEnd type="none" w="med" len="med"/>
                      <a:tailEnd type="none" w="med" len="med"/>
                    </a:lnR>
                    <a:lnT w="9525" cap="flat" cmpd="sng" algn="ctr">
                      <a:solidFill>
                        <a:srgbClr val="FF9003"/>
                      </a:solidFill>
                      <a:prstDash val="solid"/>
                      <a:round/>
                      <a:headEnd type="none" w="med" len="med"/>
                      <a:tailEnd type="none" w="med" len="med"/>
                    </a:lnT>
                    <a:lnB w="9525" cap="flat" cmpd="sng" algn="ctr">
                      <a:solidFill>
                        <a:srgbClr val="FF900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2108381F23EA246BCE3E4C0F446933C" ma:contentTypeVersion="10" ma:contentTypeDescription="Create a new document." ma:contentTypeScope="" ma:versionID="8aff0c4b1788d1e072567b0fbcac5d07">
  <xsd:schema xmlns:xsd="http://www.w3.org/2001/XMLSchema" xmlns:xs="http://www.w3.org/2001/XMLSchema" xmlns:p="http://schemas.microsoft.com/office/2006/metadata/properties" xmlns:ns3="5995251d-a28d-4ce1-9fee-bcf924d7aaa7" targetNamespace="http://schemas.microsoft.com/office/2006/metadata/properties" ma:root="true" ma:fieldsID="3b8263970649d928372a3235a99f4437" ns3:_="">
    <xsd:import namespace="5995251d-a28d-4ce1-9fee-bcf924d7aaa7"/>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95251d-a28d-4ce1-9fee-bcf924d7aa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5995251d-a28d-4ce1-9fee-bcf924d7aaa7" xsi:nil="true"/>
  </documentManagement>
</p:properties>
</file>

<file path=customXml/itemProps1.xml><?xml version="1.0" encoding="utf-8"?>
<ds:datastoreItem xmlns:ds="http://schemas.openxmlformats.org/officeDocument/2006/customXml" ds:itemID="{F8FAC61B-2DF7-4046-9A04-53EF26ADF8F3}">
  <ds:schemaRefs>
    <ds:schemaRef ds:uri="http://schemas.microsoft.com/sharepoint/v3/contenttype/forms"/>
  </ds:schemaRefs>
</ds:datastoreItem>
</file>

<file path=customXml/itemProps2.xml><?xml version="1.0" encoding="utf-8"?>
<ds:datastoreItem xmlns:ds="http://schemas.openxmlformats.org/officeDocument/2006/customXml" ds:itemID="{EF7FAD67-F5C7-4FA8-B447-5C02B662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95251d-a28d-4ce1-9fee-bcf924d7aa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AE8DB5-C549-4B43-A98A-E9D4E5CCF2A1}">
  <ds:schemaRefs>
    <ds:schemaRef ds:uri="http://schemas.microsoft.com/office/2006/documentManagement/types"/>
    <ds:schemaRef ds:uri="http://purl.org/dc/elements/1.1/"/>
    <ds:schemaRef ds:uri="http://schemas.microsoft.com/office/2006/metadata/properties"/>
    <ds:schemaRef ds:uri="http://www.w3.org/XML/1998/namespace"/>
    <ds:schemaRef ds:uri="5995251d-a28d-4ce1-9fee-bcf924d7aaa7"/>
    <ds:schemaRef ds:uri="http://purl.org/dc/dcmitype/"/>
    <ds:schemaRef ds:uri="http://schemas.microsoft.com/office/infopath/2007/PartnerControl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8</TotalTime>
  <Words>1307</Words>
  <Application>Microsoft Office PowerPoint</Application>
  <PresentationFormat>Custom</PresentationFormat>
  <Paragraphs>101</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Times New Roman Bold</vt:lpstr>
      <vt:lpstr>Times New Roman</vt:lpstr>
      <vt:lpstr>Questrial</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Orange Gradient Annual Meeting Presentation</dc:title>
  <dc:creator>Prabakaran</dc:creator>
  <cp:lastModifiedBy>Prabakaran N</cp:lastModifiedBy>
  <cp:revision>6</cp:revision>
  <dcterms:created xsi:type="dcterms:W3CDTF">2006-08-16T00:00:00Z</dcterms:created>
  <dcterms:modified xsi:type="dcterms:W3CDTF">2025-12-05T13:24:11Z</dcterms:modified>
  <dc:identifier>DAG6brsp3Hg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0x010100C2108381F23EA246BCE3E4C0F446933C</vt:lpwstr>
  </property>
</Properties>
</file>
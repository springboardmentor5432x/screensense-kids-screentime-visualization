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7C835-6846-4126-B9DB-3D7F5212B7B2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7F9E-55F4-43AB-BAA4-7920B0A08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55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7F9E-55F4-43AB-BAA4-7920B0A08B1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8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88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59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0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4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57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8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14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40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48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5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834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260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7340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3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1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0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80479-2652-47C0-8091-74BF1A00F877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26B961-D723-4530-84ED-0C11DDB3B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63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4" r:id="rId1"/>
    <p:sldLayoutId id="2147484315" r:id="rId2"/>
    <p:sldLayoutId id="2147484316" r:id="rId3"/>
    <p:sldLayoutId id="2147484317" r:id="rId4"/>
    <p:sldLayoutId id="2147484318" r:id="rId5"/>
    <p:sldLayoutId id="2147484319" r:id="rId6"/>
    <p:sldLayoutId id="2147484320" r:id="rId7"/>
    <p:sldLayoutId id="2147484321" r:id="rId8"/>
    <p:sldLayoutId id="2147484322" r:id="rId9"/>
    <p:sldLayoutId id="2147484323" r:id="rId10"/>
    <p:sldLayoutId id="2147484324" r:id="rId11"/>
    <p:sldLayoutId id="2147484325" r:id="rId12"/>
    <p:sldLayoutId id="2147484326" r:id="rId13"/>
    <p:sldLayoutId id="2147484327" r:id="rId14"/>
    <p:sldLayoutId id="2147484328" r:id="rId15"/>
    <p:sldLayoutId id="21474843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46AA-FE21-71EF-BA32-38F7967BA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 err="1"/>
              <a:t>ScreenSense</a:t>
            </a:r>
            <a:r>
              <a:rPr lang="en-IN" sz="4400" dirty="0"/>
              <a:t>: Kids’ Screentime Visualization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480019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2965-0426-D658-8E18-ACB33F5E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1. 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D8C4-68DC-9820-1D38-D9A74344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 err="1"/>
              <a:t>ScreenSense</a:t>
            </a:r>
            <a:r>
              <a:rPr lang="en-US" sz="2200" dirty="0"/>
              <a:t> is a data visualization project designed to analyze digital screentime patterns among children and young adults. With digital devices becoming a central part of entertainment, learning, and communication, understanding screentime </a:t>
            </a:r>
            <a:r>
              <a:rPr lang="en-US" sz="2200" dirty="0" err="1"/>
              <a:t>behaviour</a:t>
            </a:r>
            <a:r>
              <a:rPr lang="en-US" sz="2200" dirty="0"/>
              <a:t> has become increasingly important. This project explores how digital device usage influences daily routines, health, and productivity, and provides insights that support the development of healthier digital habits.</a:t>
            </a:r>
          </a:p>
          <a:p>
            <a:pPr marL="0" indent="0">
              <a:buNone/>
            </a:pPr>
            <a:r>
              <a:rPr lang="en-US" sz="2200" dirty="0"/>
              <a:t>This project uses an interactive Power BI dashboard to explore usage patterns across age, gender, and location, identify health impacts, compare educational vs recreational time, and understand device preferences.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78418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BA06-8C5A-3C30-3396-03FF94A0C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0217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2.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CB1F-1201-80F3-CAEF-24D84BFCA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major objectives of this project are: </a:t>
            </a:r>
          </a:p>
          <a:p>
            <a:pPr marL="0" indent="0">
              <a:buNone/>
            </a:pPr>
            <a:r>
              <a:rPr lang="en-US" sz="2200" dirty="0"/>
              <a:t>	1. To understand the screentime patterns of users across demographics</a:t>
            </a:r>
          </a:p>
          <a:p>
            <a:pPr marL="0" indent="0">
              <a:buNone/>
            </a:pPr>
            <a:r>
              <a:rPr lang="en-US" sz="2200" dirty="0"/>
              <a:t>	2.To visualize screen usage across devices, locations, and age groups </a:t>
            </a:r>
          </a:p>
          <a:p>
            <a:pPr marL="0" indent="0">
              <a:buNone/>
            </a:pPr>
            <a:r>
              <a:rPr lang="en-US" sz="2200" dirty="0"/>
              <a:t>	3.To analyze health impacts due to excessive screen exposure </a:t>
            </a:r>
          </a:p>
          <a:p>
            <a:pPr marL="0" indent="0">
              <a:buNone/>
            </a:pPr>
            <a:r>
              <a:rPr lang="en-US" sz="2200" dirty="0"/>
              <a:t>	4.To examine the educational-to-recreational usage ratio </a:t>
            </a:r>
          </a:p>
          <a:p>
            <a:pPr marL="0" indent="0">
              <a:buNone/>
            </a:pPr>
            <a:r>
              <a:rPr lang="en-US" sz="2200" dirty="0"/>
              <a:t>	5.To prepare an interactive dashboard for insights </a:t>
            </a:r>
          </a:p>
          <a:p>
            <a:pPr marL="0" indent="0">
              <a:buNone/>
            </a:pPr>
            <a:r>
              <a:rPr lang="en-US" sz="2200" dirty="0"/>
              <a:t>	6.To document findings in a final report and presentation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4962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38AE-06FD-C520-8B3B-ECA70D4B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7869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3. Dataset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0138-4F9A-D49C-090A-6A78BCC8A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5277"/>
            <a:ext cx="6191865" cy="2271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Dataset Name: Indian Kids Screentime 2025 </a:t>
            </a:r>
          </a:p>
          <a:p>
            <a:pPr marL="0" indent="0">
              <a:buNone/>
            </a:pPr>
            <a:r>
              <a:rPr lang="en-US" sz="2200" dirty="0"/>
              <a:t>Source: Kaggle</a:t>
            </a:r>
          </a:p>
          <a:p>
            <a:pPr marL="0" indent="0">
              <a:buNone/>
            </a:pPr>
            <a:r>
              <a:rPr lang="en-US" sz="2200" dirty="0"/>
              <a:t>Rows:9712</a:t>
            </a:r>
          </a:p>
          <a:p>
            <a:pPr marL="0" indent="0">
              <a:buNone/>
            </a:pPr>
            <a:r>
              <a:rPr lang="en-US" sz="2200" dirty="0"/>
              <a:t>Columns: 8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2136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7E25-5C1B-AFF1-E35E-2C5F75BE3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2619"/>
            <a:ext cx="10515600" cy="5744344"/>
          </a:xfrm>
        </p:spPr>
        <p:txBody>
          <a:bodyPr>
            <a:normAutofit/>
          </a:bodyPr>
          <a:lstStyle/>
          <a:p>
            <a:r>
              <a:rPr lang="en-IN" sz="2200" dirty="0"/>
              <a:t>Column Details </a:t>
            </a:r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AABB25-378C-D3DB-1D39-DCBF4E3EC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305186"/>
              </p:ext>
            </p:extLst>
          </p:nvPr>
        </p:nvGraphicFramePr>
        <p:xfrm>
          <a:off x="1855020" y="927127"/>
          <a:ext cx="8508180" cy="472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090">
                  <a:extLst>
                    <a:ext uri="{9D8B030D-6E8A-4147-A177-3AD203B41FA5}">
                      <a16:colId xmlns:a16="http://schemas.microsoft.com/office/drawing/2014/main" val="4224595322"/>
                    </a:ext>
                  </a:extLst>
                </a:gridCol>
                <a:gridCol w="4254090">
                  <a:extLst>
                    <a:ext uri="{9D8B030D-6E8A-4147-A177-3AD203B41FA5}">
                      <a16:colId xmlns:a16="http://schemas.microsoft.com/office/drawing/2014/main" val="1221244586"/>
                    </a:ext>
                  </a:extLst>
                </a:gridCol>
              </a:tblGrid>
              <a:tr h="510795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023961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Child’s age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27862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/>
                        <a:t>Gender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Male/Female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25784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US" dirty="0" err="1"/>
                        <a:t>Avg_Daily_Screen_Time_hr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Daily hours spent on screens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957597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 err="1"/>
                        <a:t>Primary_Device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Mobile, Laptop, Tablet, or TV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36090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 err="1"/>
                        <a:t>Exceeded_Recommended_Limit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Yes/No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175557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 err="1"/>
                        <a:t>Educational_to_Recreational_Ratio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Ratio of productive to entertainment usage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472079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 err="1"/>
                        <a:t>Health_Impacts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Headache, eye strain, etc.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755362"/>
                  </a:ext>
                </a:extLst>
              </a:tr>
              <a:tr h="510795">
                <a:tc>
                  <a:txBody>
                    <a:bodyPr/>
                    <a:lstStyle/>
                    <a:p>
                      <a:r>
                        <a:rPr lang="en-IN" dirty="0" err="1"/>
                        <a:t>Urban_or_Rural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Location type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91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148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988BD-9E9D-4C2E-35C3-5CF1BBBF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4. Data Preprocessing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11C1-A321-9E8A-1967-7503A9780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The following steps were performed based on Week1–Week2 work: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4.1 Handling Missing Values </a:t>
            </a:r>
            <a:br>
              <a:rPr lang="en-US" sz="2200" b="1" dirty="0"/>
            </a:br>
            <a:r>
              <a:rPr lang="en-US" sz="2200" b="1" dirty="0"/>
              <a:t>	</a:t>
            </a:r>
            <a:r>
              <a:rPr lang="en-US" sz="2200" dirty="0"/>
              <a:t>3218 missing health impact entries replaced with “None”. </a:t>
            </a:r>
          </a:p>
          <a:p>
            <a:pPr marL="0" indent="0">
              <a:buNone/>
            </a:pPr>
            <a:r>
              <a:rPr lang="en-US" sz="2200" dirty="0"/>
              <a:t>	Records with </a:t>
            </a:r>
            <a:r>
              <a:rPr lang="en-US" sz="2200" dirty="0" err="1"/>
              <a:t>Avg_Daily_Screen_Time_hr</a:t>
            </a:r>
            <a:r>
              <a:rPr lang="en-US" sz="2200" dirty="0"/>
              <a:t> = 0.0 were replaced with gender-wise mean values, ensuring realistic representation.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4.2 Removing Duplicates </a:t>
            </a:r>
          </a:p>
          <a:p>
            <a:pPr marL="0" indent="0">
              <a:buNone/>
            </a:pPr>
            <a:r>
              <a:rPr lang="en-US" sz="2200" dirty="0"/>
              <a:t>	Duplicate records were identified and removed to avoid bias.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8194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4817-83FF-53BA-038B-154FB3EA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955"/>
            <a:ext cx="10515600" cy="57640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/>
              <a:t>4.3 Creating Derived Columns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 A. Age Bands</a:t>
            </a:r>
          </a:p>
          <a:p>
            <a:pPr marL="0" indent="0">
              <a:buNone/>
            </a:pPr>
            <a:r>
              <a:rPr lang="en-US" sz="2200" b="1" dirty="0"/>
              <a:t> </a:t>
            </a:r>
            <a:r>
              <a:rPr lang="en-US" sz="2200" dirty="0"/>
              <a:t>Created using </a:t>
            </a:r>
            <a:r>
              <a:rPr lang="en-US" sz="2200" dirty="0" err="1"/>
              <a:t>pd.cut</a:t>
            </a:r>
            <a:r>
              <a:rPr lang="en-US" sz="2200" dirty="0"/>
              <a:t>()</a:t>
            </a:r>
          </a:p>
          <a:p>
            <a:pPr marL="0" indent="0">
              <a:buNone/>
            </a:pPr>
            <a:r>
              <a:rPr lang="en-US" sz="2200" dirty="0"/>
              <a:t> Groups: 5–10, 11–15, 16–20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B. Date and Day Type </a:t>
            </a:r>
          </a:p>
          <a:p>
            <a:pPr marL="0" indent="0">
              <a:buNone/>
            </a:pPr>
            <a:r>
              <a:rPr lang="en-US" sz="2200" dirty="0"/>
              <a:t>Random dates assigned within October 2025 </a:t>
            </a:r>
          </a:p>
          <a:p>
            <a:pPr marL="0" indent="0">
              <a:buNone/>
            </a:pPr>
            <a:r>
              <a:rPr lang="en-US" sz="2200" dirty="0" err="1"/>
              <a:t>Day_Type</a:t>
            </a:r>
            <a:r>
              <a:rPr lang="en-US" sz="2200" dirty="0"/>
              <a:t> column derived → </a:t>
            </a:r>
            <a:r>
              <a:rPr lang="en-US" sz="2200" b="1" dirty="0"/>
              <a:t>Weekday / Weekend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IN" sz="2200" b="1" dirty="0"/>
              <a:t>C. Device Share </a:t>
            </a:r>
            <a:endParaRPr lang="en-US" sz="2200" b="1" dirty="0"/>
          </a:p>
          <a:p>
            <a:pPr marL="0" indent="0">
              <a:buNone/>
            </a:pPr>
            <a:r>
              <a:rPr lang="en-US" sz="2200" dirty="0"/>
              <a:t>Total screen time grouped by </a:t>
            </a:r>
            <a:r>
              <a:rPr lang="en-US" sz="2200" dirty="0" err="1"/>
              <a:t>Primary_Device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dirty="0"/>
              <a:t>Calculated the percentage contribution of each device </a:t>
            </a:r>
          </a:p>
        </p:txBody>
      </p:sp>
    </p:spTree>
    <p:extLst>
      <p:ext uri="{BB962C8B-B14F-4D97-AF65-F5344CB8AC3E}">
        <p14:creationId xmlns:p14="http://schemas.microsoft.com/office/powerpoint/2010/main" val="170020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C5B5-008C-47BA-A852-2AF4329B4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219"/>
            <a:ext cx="10515600" cy="513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D. Educational &amp; Recreational Time </a:t>
            </a:r>
          </a:p>
          <a:p>
            <a:pPr marL="0" indent="0">
              <a:buNone/>
            </a:pPr>
            <a:r>
              <a:rPr lang="en-US" sz="2200" dirty="0"/>
              <a:t>Educational Time = </a:t>
            </a:r>
            <a:r>
              <a:rPr lang="en-US" sz="2200" dirty="0" err="1"/>
              <a:t>Avg_Screen_Time</a:t>
            </a:r>
            <a:r>
              <a:rPr lang="en-US" sz="2200" dirty="0"/>
              <a:t> × Ratio </a:t>
            </a:r>
          </a:p>
          <a:p>
            <a:pPr marL="0" indent="0">
              <a:buNone/>
            </a:pPr>
            <a:r>
              <a:rPr lang="en-US" sz="2200" dirty="0"/>
              <a:t>Recreational Time = Total − Educational Time </a:t>
            </a:r>
          </a:p>
          <a:p>
            <a:pPr marL="0" indent="0">
              <a:buNone/>
            </a:pPr>
            <a:r>
              <a:rPr lang="en-US" sz="2200" dirty="0"/>
              <a:t>Share (%) calculated for visualization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4.4 Saving Preprocessed Data </a:t>
            </a:r>
          </a:p>
          <a:p>
            <a:pPr marL="0" indent="0">
              <a:buNone/>
            </a:pPr>
            <a:r>
              <a:rPr lang="en-US" sz="2200" dirty="0"/>
              <a:t>Final cleaned dataset saved as </a:t>
            </a:r>
            <a:r>
              <a:rPr lang="en-US" sz="2200" b="1" dirty="0"/>
              <a:t>preprocessed_data.csv </a:t>
            </a:r>
            <a:r>
              <a:rPr lang="en-US" sz="2200" dirty="0"/>
              <a:t>for </a:t>
            </a:r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8449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508B-97C2-86DC-C7FD-260CFE794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5. Dashboard Development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D7F3-2ED7-0203-4DF2-B9644D426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220"/>
            <a:ext cx="10515600" cy="5134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 </a:t>
            </a:r>
            <a:r>
              <a:rPr lang="en-US" sz="2200" b="1" dirty="0"/>
              <a:t>two-page</a:t>
            </a:r>
            <a:r>
              <a:rPr lang="en-US" sz="2200" dirty="0"/>
              <a:t> </a:t>
            </a:r>
            <a:r>
              <a:rPr lang="en-US" sz="2200" b="1" dirty="0"/>
              <a:t>Power BI dashboard </a:t>
            </a:r>
            <a:r>
              <a:rPr lang="en-US" sz="2200" dirty="0"/>
              <a:t>was created as the final deliverable. </a:t>
            </a:r>
          </a:p>
          <a:p>
            <a:pPr marL="0" indent="0">
              <a:buNone/>
            </a:pPr>
            <a:r>
              <a:rPr lang="en-US" sz="2200" b="1" dirty="0"/>
              <a:t>Page 1 – Overview Dashboard 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A9704-40EA-F359-4967-87D7600F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1868129"/>
            <a:ext cx="10294374" cy="462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1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A4E09-3B38-3CC5-A46E-5D3310FB8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56951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KPI Cards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b="1" u="sng" dirty="0"/>
              <a:t> </a:t>
            </a:r>
            <a:r>
              <a:rPr lang="en-US" sz="2400" b="1" dirty="0"/>
              <a:t>1. Total Users: </a:t>
            </a:r>
            <a:r>
              <a:rPr lang="en-US" sz="2400" dirty="0"/>
              <a:t>This card shows </a:t>
            </a:r>
            <a:r>
              <a:rPr lang="en-US" sz="2400" b="1" dirty="0"/>
              <a:t>the total number of participants (9,668) </a:t>
            </a:r>
            <a:r>
              <a:rPr lang="en-US" sz="2400" dirty="0"/>
              <a:t>included in the dataset. It represents the complete sample size used for the screentime analysis.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/>
              <a:t>2. Average Screentime: </a:t>
            </a:r>
            <a:r>
              <a:rPr lang="en-US" sz="2400" dirty="0"/>
              <a:t>This KPI displays the </a:t>
            </a:r>
            <a:r>
              <a:rPr lang="en-US" sz="2400" b="1" dirty="0"/>
              <a:t>overall average daily screen time (4.13 hours) </a:t>
            </a:r>
            <a:r>
              <a:rPr lang="en-US" sz="2400" dirty="0"/>
              <a:t>across all users. It provides a quick summary of typical digital device usage.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3. Gender (Selected Filter Output): </a:t>
            </a:r>
            <a:r>
              <a:rPr lang="en-US" sz="2400" dirty="0"/>
              <a:t>Shows the </a:t>
            </a:r>
            <a:r>
              <a:rPr lang="en-US" sz="2400" b="1" dirty="0"/>
              <a:t>currently filtered gender category </a:t>
            </a:r>
            <a:r>
              <a:rPr lang="en-US" sz="2400" dirty="0"/>
              <a:t>from the slicer. In the screenshot, the selected gender is </a:t>
            </a:r>
            <a:r>
              <a:rPr lang="en-US" sz="2400" b="1" dirty="0"/>
              <a:t>Female</a:t>
            </a:r>
            <a:r>
              <a:rPr lang="en-US" sz="2400" dirty="0"/>
              <a:t>, meaning all visuals update based on female users.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4. Age Band (Selected Filter Output): </a:t>
            </a:r>
            <a:r>
              <a:rPr lang="en-US" sz="2400" dirty="0"/>
              <a:t>Displays the </a:t>
            </a:r>
            <a:r>
              <a:rPr lang="en-US" sz="2400" b="1" dirty="0"/>
              <a:t>active age segment </a:t>
            </a:r>
            <a:r>
              <a:rPr lang="en-US" sz="2400" dirty="0"/>
              <a:t>chosen using the slicer. Here, the selected group is </a:t>
            </a:r>
            <a:r>
              <a:rPr lang="en-US" sz="2400" b="1" dirty="0"/>
              <a:t>11–15 years</a:t>
            </a:r>
            <a:r>
              <a:rPr lang="en-US" sz="2400" dirty="0"/>
              <a:t>, so all visuals reflect data for that category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709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D53F-34C6-AAA2-5E0E-89426C252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200" b="1" dirty="0"/>
              <a:t>5. Primary Device (Selected Filter Output): </a:t>
            </a:r>
          </a:p>
          <a:p>
            <a:pPr marL="0" indent="0">
              <a:buNone/>
            </a:pPr>
            <a:r>
              <a:rPr lang="en-US" sz="2200" dirty="0"/>
              <a:t>Shows the </a:t>
            </a:r>
            <a:r>
              <a:rPr lang="en-US" sz="2200" b="1" dirty="0"/>
              <a:t>primary device selected </a:t>
            </a:r>
            <a:r>
              <a:rPr lang="en-US" sz="2200" dirty="0"/>
              <a:t>in the slicer—in this case,</a:t>
            </a:r>
            <a:r>
              <a:rPr lang="en-US" sz="2200" b="1" dirty="0"/>
              <a:t> Laptop</a:t>
            </a:r>
            <a:r>
              <a:rPr lang="en-US" sz="2200" dirty="0"/>
              <a:t>. All charts adjust based on this filter.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u="sng" dirty="0"/>
              <a:t> Main Dashboard Visuals</a:t>
            </a:r>
          </a:p>
          <a:p>
            <a:pPr marL="0" indent="0">
              <a:buNone/>
            </a:pPr>
            <a:endParaRPr lang="en-US" sz="2200" b="1" u="sng" dirty="0"/>
          </a:p>
          <a:p>
            <a:pPr marL="457200" indent="-457200">
              <a:buAutoNum type="arabicPeriod"/>
            </a:pPr>
            <a:r>
              <a:rPr lang="en-US" sz="2200" b="1" dirty="0"/>
              <a:t>Age Band Distribution (BarChart)</a:t>
            </a:r>
          </a:p>
          <a:p>
            <a:pPr marL="0" indent="0">
              <a:buNone/>
            </a:pPr>
            <a:r>
              <a:rPr lang="en-US" sz="2200" dirty="0"/>
              <a:t>This bar chart shows the </a:t>
            </a:r>
            <a:r>
              <a:rPr lang="en-US" sz="2200" b="1" dirty="0"/>
              <a:t>distribution of users across age groups </a:t>
            </a:r>
            <a:r>
              <a:rPr lang="en-US" sz="2200" dirty="0"/>
              <a:t>(6–10, 11–15, 16–20).</a:t>
            </a:r>
          </a:p>
          <a:p>
            <a:pPr marL="0" indent="0">
              <a:buNone/>
            </a:pPr>
            <a:r>
              <a:rPr lang="en-US" sz="2200" dirty="0"/>
              <a:t>It helps identify </a:t>
            </a:r>
            <a:r>
              <a:rPr lang="en-US" sz="2200" b="1" dirty="0"/>
              <a:t>which age group is most active </a:t>
            </a:r>
            <a:r>
              <a:rPr lang="en-US" sz="2200" dirty="0"/>
              <a:t>and how screen time varies between groups.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2. Primary Device Distribution (Horizontal Bar Chart) </a:t>
            </a:r>
          </a:p>
          <a:p>
            <a:pPr marL="0" indent="0">
              <a:buNone/>
            </a:pPr>
            <a:r>
              <a:rPr lang="en-US" sz="2200" dirty="0"/>
              <a:t>This chart displays the </a:t>
            </a:r>
            <a:r>
              <a:rPr lang="en-US" sz="2200" b="1" dirty="0"/>
              <a:t>count or average screentime for each primary device </a:t>
            </a:r>
            <a:r>
              <a:rPr lang="en-US" sz="2200" dirty="0"/>
              <a:t>(Smartphone, TV, Laptop, Tablet).</a:t>
            </a:r>
          </a:p>
        </p:txBody>
      </p:sp>
    </p:spTree>
    <p:extLst>
      <p:ext uri="{BB962C8B-B14F-4D97-AF65-F5344CB8AC3E}">
        <p14:creationId xmlns:p14="http://schemas.microsoft.com/office/powerpoint/2010/main" val="103326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7C93-CB1F-BDE3-623E-732D3EF45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7516"/>
            <a:ext cx="10515600" cy="55994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It reveals which device category is used the most, with smartphones being the dominant device.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3. Urban or Rural Distribution (Pie Chart) </a:t>
            </a:r>
          </a:p>
          <a:p>
            <a:pPr marL="0" indent="0">
              <a:buNone/>
            </a:pPr>
            <a:r>
              <a:rPr lang="en-US" sz="2200" dirty="0"/>
              <a:t>Shows the </a:t>
            </a:r>
            <a:r>
              <a:rPr lang="en-US" sz="2200" b="1" dirty="0"/>
              <a:t>percentage split of users based on geographic location</a:t>
            </a:r>
            <a:r>
              <a:rPr lang="en-US" sz="2200" dirty="0"/>
              <a:t>—Urban or Rural. </a:t>
            </a:r>
          </a:p>
          <a:p>
            <a:pPr marL="0" indent="0">
              <a:buNone/>
            </a:pPr>
            <a:r>
              <a:rPr lang="en-US" sz="2200" dirty="0"/>
              <a:t>It helps identify whether screentime trends are more common in urban regions or rural areas.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4. Gender Distribution (Donut Chart) </a:t>
            </a:r>
          </a:p>
          <a:p>
            <a:pPr marL="0" indent="0">
              <a:buNone/>
            </a:pPr>
            <a:r>
              <a:rPr lang="en-US" sz="2200" dirty="0"/>
              <a:t>This donut chart shows the </a:t>
            </a:r>
            <a:r>
              <a:rPr lang="en-US" sz="2200" b="1" dirty="0"/>
              <a:t>overall male vs female ratio </a:t>
            </a:r>
            <a:r>
              <a:rPr lang="en-US" sz="2200" dirty="0"/>
              <a:t>in the dataset. </a:t>
            </a:r>
          </a:p>
          <a:p>
            <a:pPr marL="0" indent="0">
              <a:buNone/>
            </a:pPr>
            <a:r>
              <a:rPr lang="en-US" sz="2200" dirty="0"/>
              <a:t>It highlights that the dataset is nearly evenly split (approx. 50% each), indicating a balanced gender representation.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9485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CC3A-A0F1-7C06-5B8A-6ACD1735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465"/>
            <a:ext cx="10515600" cy="5852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Page 2 – Deep Insights Dashboard </a:t>
            </a:r>
          </a:p>
          <a:p>
            <a:pPr marL="0" indent="0">
              <a:buNone/>
            </a:pPr>
            <a:endParaRPr lang="en-IN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07376-D7B0-22D6-42B4-15CDCE06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816078"/>
            <a:ext cx="10314038" cy="496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74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55366-0AEA-7710-F8ED-FB6AB790D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93505"/>
          </a:xfrm>
        </p:spPr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en-US" sz="2200" b="1" dirty="0"/>
              <a:t>Exceeded Recommended Limit 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Definition: </a:t>
            </a:r>
            <a:r>
              <a:rPr lang="en-US" sz="2200" dirty="0"/>
              <a:t>This chart shows the average screen time for users who exceeded the recommended screen time limit versus those who did not. </a:t>
            </a:r>
          </a:p>
          <a:p>
            <a:pPr marL="0" indent="0">
              <a:buNone/>
            </a:pPr>
            <a:r>
              <a:rPr lang="en-US" sz="2200" b="1" dirty="0"/>
              <a:t>Insight: </a:t>
            </a:r>
            <a:r>
              <a:rPr lang="en-US" sz="2200" dirty="0"/>
              <a:t>Users who exceeded the limit averaged 4.58 hours of screen t </a:t>
            </a:r>
            <a:r>
              <a:rPr lang="en-US" sz="2200" dirty="0" err="1"/>
              <a:t>ime</a:t>
            </a:r>
            <a:r>
              <a:rPr lang="en-US" sz="2200" dirty="0"/>
              <a:t>, while those within limits averaged 1.39 hours. </a:t>
            </a:r>
          </a:p>
          <a:p>
            <a:pPr marL="0" indent="0">
              <a:buNone/>
            </a:pPr>
            <a:r>
              <a:rPr lang="en-US" sz="2200" b="1" dirty="0"/>
              <a:t>Purpose: </a:t>
            </a:r>
            <a:r>
              <a:rPr lang="en-US" sz="2200" dirty="0"/>
              <a:t>Helps identify the proportion of users at risk of overexposure to digital devices.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2. Day Type Distribution 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Definition: </a:t>
            </a:r>
            <a:r>
              <a:rPr lang="en-US" sz="2200" dirty="0"/>
              <a:t>Compares average screen time on weekdays vs. weekends. </a:t>
            </a:r>
          </a:p>
          <a:p>
            <a:pPr marL="0" indent="0">
              <a:buNone/>
            </a:pPr>
            <a:r>
              <a:rPr lang="en-US" sz="2200" b="1" dirty="0"/>
              <a:t>Insight: </a:t>
            </a:r>
            <a:r>
              <a:rPr lang="en-US" sz="2200" dirty="0"/>
              <a:t>Screen time slightly decreases on weekends (4.09 </a:t>
            </a:r>
            <a:r>
              <a:rPr lang="en-US" sz="2200" dirty="0" err="1"/>
              <a:t>hrs</a:t>
            </a:r>
            <a:r>
              <a:rPr lang="en-US" sz="2200" dirty="0"/>
              <a:t>) compared to weekdays (4.14 </a:t>
            </a:r>
            <a:r>
              <a:rPr lang="en-US" sz="2200" dirty="0" err="1"/>
              <a:t>hrs</a:t>
            </a:r>
            <a:r>
              <a:rPr lang="en-US" sz="2200" dirty="0"/>
              <a:t>), suggesting weekday usage is marginally higher. </a:t>
            </a:r>
          </a:p>
          <a:p>
            <a:pPr marL="0" indent="0">
              <a:buNone/>
            </a:pPr>
            <a:r>
              <a:rPr lang="en-US" sz="2200" b="1" dirty="0"/>
              <a:t>Purpose: </a:t>
            </a:r>
            <a:r>
              <a:rPr lang="en-US" sz="2200" dirty="0"/>
              <a:t>Shows how daily routines affect digital device usage.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728334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C68C-BE44-1E41-9A75-96DDEEF4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754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3. Count of Average Screen Time (</a:t>
            </a:r>
            <a:r>
              <a:rPr lang="en-US" sz="2200" b="1" dirty="0" err="1"/>
              <a:t>hrs</a:t>
            </a:r>
            <a:r>
              <a:rPr lang="en-US" sz="2200" b="1" dirty="0"/>
              <a:t>) by Health Impacts 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Definition: </a:t>
            </a:r>
            <a:r>
              <a:rPr lang="en-US" sz="2200" dirty="0"/>
              <a:t>Bar chart linking average screen time to associated health risks like poor sleep, eye strain, anxiety, and obesity.</a:t>
            </a:r>
          </a:p>
          <a:p>
            <a:pPr marL="0" indent="0">
              <a:buNone/>
            </a:pPr>
            <a:r>
              <a:rPr lang="en-US" sz="2200" b="1" dirty="0"/>
              <a:t>Insight: </a:t>
            </a:r>
            <a:r>
              <a:rPr lang="en-US" sz="2200" dirty="0"/>
              <a:t>Most users (3180) reported no health impact, while fewer users experienced multiple or severe health risks (e.g., only 35 in highest risk category).</a:t>
            </a:r>
          </a:p>
          <a:p>
            <a:pPr marL="0" indent="0">
              <a:buNone/>
            </a:pPr>
            <a:r>
              <a:rPr lang="en-US" sz="2200" b="1" dirty="0"/>
              <a:t>Purpose: </a:t>
            </a:r>
            <a:r>
              <a:rPr lang="en-US" sz="2200" dirty="0"/>
              <a:t>Helps assess how screen time correlates with physical and mental health.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4. Educational to Recreational Ratio by Gender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Definition: </a:t>
            </a:r>
            <a:r>
              <a:rPr lang="en-US" sz="2200" dirty="0"/>
              <a:t>Compares average hours spent on educational activities versus recreational activities by different age bands.</a:t>
            </a:r>
          </a:p>
          <a:p>
            <a:pPr marL="0" indent="0">
              <a:buNone/>
            </a:pPr>
            <a:r>
              <a:rPr lang="en-US" sz="2200" b="1" dirty="0"/>
              <a:t>Insight: </a:t>
            </a:r>
            <a:r>
              <a:rPr lang="en-US" sz="2200" dirty="0"/>
              <a:t>Younger age group (6–10) has a slightly higher educational-to recreational ratio (0.50) than older groups (11–20, 0.40). </a:t>
            </a:r>
          </a:p>
          <a:p>
            <a:pPr marL="0" indent="0">
              <a:buNone/>
            </a:pPr>
            <a:r>
              <a:rPr lang="en-US" sz="2200" b="1" dirty="0"/>
              <a:t>Purpose: </a:t>
            </a:r>
            <a:r>
              <a:rPr lang="en-US" sz="2200" dirty="0"/>
              <a:t>Helps understand learning versus leisure balance across ages.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896321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F4461-9A4D-DC54-9FC5-CC6AD2FBB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5. Educational to Recreational Ratio by Device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Definition: </a:t>
            </a:r>
            <a:r>
              <a:rPr lang="en-US" sz="2200" dirty="0"/>
              <a:t>Pie chart showing which devices are used primarily for educational versus recreational purposes.</a:t>
            </a:r>
          </a:p>
          <a:p>
            <a:pPr marL="0" indent="0">
              <a:buNone/>
            </a:pPr>
            <a:r>
              <a:rPr lang="en-US" sz="2200" b="1" dirty="0"/>
              <a:t>Insight: </a:t>
            </a:r>
            <a:r>
              <a:rPr lang="en-US" sz="2200" dirty="0"/>
              <a:t>Smartphones dominate usage (46.38%), followed by laptops (26.63%), TVs (13.83%), and tablets (13.16%).</a:t>
            </a:r>
          </a:p>
          <a:p>
            <a:pPr marL="0" indent="0">
              <a:buNone/>
            </a:pPr>
            <a:r>
              <a:rPr lang="en-US" sz="2200" b="1" dirty="0"/>
              <a:t>Purpose: </a:t>
            </a:r>
            <a:r>
              <a:rPr lang="en-US" sz="2200" dirty="0"/>
              <a:t>Identifies which devices contribute most to educational or recreational screen time. 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834772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8580-9FA8-8A75-B6EB-6A2BE88B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6. Insights &amp; Observations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9FA5-F07D-AA6F-7946-329138D90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32908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US" sz="2200" b="1" dirty="0"/>
              <a:t>Age-based Usage </a:t>
            </a:r>
          </a:p>
          <a:p>
            <a:pPr marL="0" indent="0">
              <a:buNone/>
            </a:pPr>
            <a:r>
              <a:rPr lang="en-US" sz="2200" dirty="0"/>
              <a:t>	Teenagers (11–15) show the </a:t>
            </a:r>
            <a:r>
              <a:rPr lang="en-US" sz="2200" b="1" dirty="0"/>
              <a:t>highest daily screen hours. </a:t>
            </a:r>
          </a:p>
          <a:p>
            <a:pPr marL="0" indent="0">
              <a:buNone/>
            </a:pPr>
            <a:r>
              <a:rPr lang="en-US" sz="2200" dirty="0"/>
              <a:t>	Younger children (5–10) have lower screen usage.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2. Gender-based Usage </a:t>
            </a:r>
          </a:p>
          <a:p>
            <a:pPr marL="0" indent="0">
              <a:buNone/>
            </a:pPr>
            <a:r>
              <a:rPr lang="en-US" sz="2200" dirty="0"/>
              <a:t>	Screen usage is slightly higher among boys across all age groups.</a:t>
            </a:r>
          </a:p>
          <a:p>
            <a:pPr marL="0" indent="0">
              <a:buNone/>
            </a:pP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en-US" sz="2200" b="1" dirty="0"/>
              <a:t>3. Device Trends</a:t>
            </a:r>
          </a:p>
          <a:p>
            <a:pPr marL="0" indent="0">
              <a:buNone/>
            </a:pPr>
            <a:r>
              <a:rPr lang="en-US" sz="2200" dirty="0"/>
              <a:t>	Mobile phones contribute the </a:t>
            </a:r>
            <a:r>
              <a:rPr lang="en-US" sz="2200" b="1" dirty="0"/>
              <a:t>highest share </a:t>
            </a:r>
            <a:r>
              <a:rPr lang="en-US" sz="2200" dirty="0"/>
              <a:t>of total screen time.</a:t>
            </a:r>
          </a:p>
          <a:p>
            <a:pPr marL="0" indent="0">
              <a:buNone/>
            </a:pPr>
            <a:r>
              <a:rPr lang="en-US" sz="2200" dirty="0"/>
              <a:t>	Tablets and laptops have moderate usage</a:t>
            </a:r>
            <a:r>
              <a:rPr lang="en-US" sz="2200" b="1" dirty="0"/>
              <a:t>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 4. Location Patterns </a:t>
            </a:r>
          </a:p>
          <a:p>
            <a:pPr marL="0" indent="0">
              <a:buNone/>
            </a:pPr>
            <a:r>
              <a:rPr lang="en-US" sz="2200" dirty="0"/>
              <a:t>	Urban children have significantly </a:t>
            </a:r>
            <a:r>
              <a:rPr lang="en-US" sz="2200" b="1" dirty="0"/>
              <a:t>higher screen exposure </a:t>
            </a:r>
            <a:r>
              <a:rPr lang="en-US" sz="2200" dirty="0"/>
              <a:t>than rural children.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09679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5CB5-D424-31BB-8F9B-A5CDCA7DF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935"/>
            <a:ext cx="10515600" cy="5587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5. Educational vs Recreational Time 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Recreational screen time dominates (gaming, entertainment).</a:t>
            </a:r>
          </a:p>
          <a:p>
            <a:pPr marL="0" indent="0">
              <a:buNone/>
            </a:pPr>
            <a:r>
              <a:rPr lang="en-US" sz="2200" dirty="0"/>
              <a:t>	Educational usage decreases with increasing age.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6. Health Impacts 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Children crossing 4+ hours/day show more </a:t>
            </a:r>
            <a:r>
              <a:rPr lang="en-US" sz="2200" b="1" dirty="0"/>
              <a:t>eye strain, headaches, </a:t>
            </a:r>
            <a:r>
              <a:rPr lang="en-US" sz="2200" dirty="0"/>
              <a:t>and </a:t>
            </a:r>
            <a:r>
              <a:rPr lang="en-US" sz="2200" b="1" dirty="0"/>
              <a:t>fatigue.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7. Weekday vs Weekend </a:t>
            </a:r>
          </a:p>
          <a:p>
            <a:pPr marL="0" indent="0">
              <a:buNone/>
            </a:pPr>
            <a:r>
              <a:rPr lang="en-US" sz="2200" dirty="0"/>
              <a:t>	Weekend screen usage is </a:t>
            </a:r>
            <a:r>
              <a:rPr lang="en-US" sz="2200" b="1" dirty="0"/>
              <a:t>25–40% higher </a:t>
            </a:r>
            <a:r>
              <a:rPr lang="en-US" sz="2200" dirty="0"/>
              <a:t>than weekday usage. 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2801919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4670-5D19-BB1C-9847-E04317B2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7. Key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FFDD-1A98-F99F-61E2-25687693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1305"/>
            <a:ext cx="10515600" cy="4155658"/>
          </a:xfrm>
        </p:spPr>
        <p:txBody>
          <a:bodyPr>
            <a:normAutofit/>
          </a:bodyPr>
          <a:lstStyle/>
          <a:p>
            <a:r>
              <a:rPr lang="en-US" sz="2200" dirty="0"/>
              <a:t>Most children exceed recommended limits, especially mobile users. </a:t>
            </a:r>
          </a:p>
          <a:p>
            <a:r>
              <a:rPr lang="en-US" sz="2200" dirty="0"/>
              <a:t> Screen time increases steadily with age </a:t>
            </a:r>
          </a:p>
          <a:p>
            <a:r>
              <a:rPr lang="en-US" sz="2200" dirty="0"/>
              <a:t>Recreational activities dominate over educational ones. </a:t>
            </a:r>
          </a:p>
          <a:p>
            <a:r>
              <a:rPr lang="en-US" sz="2200" dirty="0"/>
              <a:t>Digital device usage strongly correlates with health complaints. </a:t>
            </a:r>
          </a:p>
          <a:p>
            <a:r>
              <a:rPr lang="en-US" sz="2200" dirty="0"/>
              <a:t> Urban lifestyle increases screen usage intensity.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062177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B1A0-0034-8A0C-6C62-8E3B587E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/>
              <a:t>8. 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B4D6E-D162-875F-426F-67F862C79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115"/>
            <a:ext cx="10515600" cy="4190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The </a:t>
            </a:r>
            <a:r>
              <a:rPr lang="en-US" sz="2200" dirty="0" err="1"/>
              <a:t>ScreenSense</a:t>
            </a:r>
            <a:r>
              <a:rPr lang="en-US" sz="2200" dirty="0"/>
              <a:t> project provides a comprehensive view of screentime behavior among children, highlighting crucial patterns in device usage, health impacts, educational engagement, and exceeding recommended screen time. </a:t>
            </a:r>
          </a:p>
          <a:p>
            <a:pPr marL="0" indent="0">
              <a:buNone/>
            </a:pPr>
            <a:r>
              <a:rPr lang="en-US" sz="2200" dirty="0"/>
              <a:t>This dashboard can support parents, educators, and policymakers in making informed decisions and encouraging healthier digital habits.</a:t>
            </a:r>
          </a:p>
          <a:p>
            <a:pPr marL="0" indent="0">
              <a:buNone/>
            </a:pPr>
            <a:r>
              <a:rPr lang="en-US" sz="2200" dirty="0"/>
              <a:t> Future improvements may include integrating machine learning for prediction, age-specific recommendations, and real-time monitoring dashboards.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4752501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1455</Words>
  <Application>Microsoft Office PowerPoint</Application>
  <PresentationFormat>Widescreen</PresentationFormat>
  <Paragraphs>158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Trebuchet MS</vt:lpstr>
      <vt:lpstr>Wingdings 3</vt:lpstr>
      <vt:lpstr>Facet</vt:lpstr>
      <vt:lpstr>ScreenSense: Kids’ Screentime Visualization </vt:lpstr>
      <vt:lpstr>1. Project Overview </vt:lpstr>
      <vt:lpstr>2. Objectives</vt:lpstr>
      <vt:lpstr>3. Dataset Description </vt:lpstr>
      <vt:lpstr>PowerPoint Presentation</vt:lpstr>
      <vt:lpstr>4. Data Preprocessing </vt:lpstr>
      <vt:lpstr>PowerPoint Presentation</vt:lpstr>
      <vt:lpstr>PowerPoint Presentation</vt:lpstr>
      <vt:lpstr>5. Dashboard Development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Insights &amp; Observations </vt:lpstr>
      <vt:lpstr>PowerPoint Presentation</vt:lpstr>
      <vt:lpstr>7. Key Findings </vt:lpstr>
      <vt:lpstr>8.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R</dc:creator>
  <cp:lastModifiedBy>Swetha R</cp:lastModifiedBy>
  <cp:revision>4</cp:revision>
  <dcterms:created xsi:type="dcterms:W3CDTF">2025-12-02T14:11:01Z</dcterms:created>
  <dcterms:modified xsi:type="dcterms:W3CDTF">2025-12-05T15:20:42Z</dcterms:modified>
</cp:coreProperties>
</file>
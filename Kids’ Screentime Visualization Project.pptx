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Now Bold" charset="1" panose="020B0804030202020204"/>
      <p:regular r:id="rId17"/>
    </p:embeddedFont>
    <p:embeddedFont>
      <p:font typeface="Roboto Mono" charset="1" panose="00000000000000000000"/>
      <p:regular r:id="rId18"/>
    </p:embeddedFont>
    <p:embeddedFont>
      <p:font typeface="Roboto Mono Bold Italics" charset="1" panose="00000000000000000000"/>
      <p:regular r:id="rId19"/>
    </p:embeddedFont>
    <p:embeddedFont>
      <p:font typeface="Helvetica Now" charset="1" panose="020B050403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6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9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7.png" Type="http://schemas.openxmlformats.org/officeDocument/2006/relationships/image"/><Relationship Id="rId6" Target="../media/image21.png" Type="http://schemas.openxmlformats.org/officeDocument/2006/relationships/image"/><Relationship Id="rId7" Target="../media/image18.png" Type="http://schemas.openxmlformats.org/officeDocument/2006/relationships/image"/><Relationship Id="rId8" Target="../media/image30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44865" y="472010"/>
            <a:ext cx="4067729" cy="556690"/>
            <a:chOff x="0" y="0"/>
            <a:chExt cx="1071336" cy="146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1336" cy="146618"/>
            </a:xfrm>
            <a:custGeom>
              <a:avLst/>
              <a:gdLst/>
              <a:ahLst/>
              <a:cxnLst/>
              <a:rect r="r" b="b" t="t" l="l"/>
              <a:pathLst>
                <a:path h="146618" w="1071336">
                  <a:moveTo>
                    <a:pt x="0" y="0"/>
                  </a:moveTo>
                  <a:lnTo>
                    <a:pt x="1071336" y="0"/>
                  </a:lnTo>
                  <a:lnTo>
                    <a:pt x="1071336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071336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8419671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8419671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6238791"/>
            <a:ext cx="9705975" cy="1828455"/>
            <a:chOff x="0" y="0"/>
            <a:chExt cx="2556306" cy="481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6306" cy="481568"/>
            </a:xfrm>
            <a:custGeom>
              <a:avLst/>
              <a:gdLst/>
              <a:ahLst/>
              <a:cxnLst/>
              <a:rect r="r" b="b" t="t" l="l"/>
              <a:pathLst>
                <a:path h="481568" w="2556306">
                  <a:moveTo>
                    <a:pt x="17548" y="0"/>
                  </a:moveTo>
                  <a:lnTo>
                    <a:pt x="2538758" y="0"/>
                  </a:lnTo>
                  <a:cubicBezTo>
                    <a:pt x="2543412" y="0"/>
                    <a:pt x="2547875" y="1849"/>
                    <a:pt x="2551166" y="5140"/>
                  </a:cubicBezTo>
                  <a:cubicBezTo>
                    <a:pt x="2554457" y="8431"/>
                    <a:pt x="2556306" y="12894"/>
                    <a:pt x="2556306" y="17548"/>
                  </a:cubicBezTo>
                  <a:lnTo>
                    <a:pt x="2556306" y="464020"/>
                  </a:lnTo>
                  <a:cubicBezTo>
                    <a:pt x="2556306" y="473712"/>
                    <a:pt x="2548450" y="481568"/>
                    <a:pt x="2538758" y="481568"/>
                  </a:cubicBezTo>
                  <a:lnTo>
                    <a:pt x="17548" y="481568"/>
                  </a:lnTo>
                  <a:cubicBezTo>
                    <a:pt x="7857" y="481568"/>
                    <a:pt x="0" y="473712"/>
                    <a:pt x="0" y="464020"/>
                  </a:cubicBezTo>
                  <a:lnTo>
                    <a:pt x="0" y="17548"/>
                  </a:lnTo>
                  <a:cubicBezTo>
                    <a:pt x="0" y="12894"/>
                    <a:pt x="1849" y="8431"/>
                    <a:pt x="5140" y="5140"/>
                  </a:cubicBezTo>
                  <a:cubicBezTo>
                    <a:pt x="8431" y="1849"/>
                    <a:pt x="12894" y="0"/>
                    <a:pt x="17548" y="0"/>
                  </a:cubicBezTo>
                  <a:close/>
                </a:path>
              </a:pathLst>
            </a:custGeom>
            <a:solidFill>
              <a:srgbClr val="759D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556306" cy="45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354044" y="2113244"/>
            <a:ext cx="6933956" cy="6955693"/>
          </a:xfrm>
          <a:custGeom>
            <a:avLst/>
            <a:gdLst/>
            <a:ahLst/>
            <a:cxnLst/>
            <a:rect r="r" b="b" t="t" l="l"/>
            <a:pathLst>
              <a:path h="6955693" w="6933956">
                <a:moveTo>
                  <a:pt x="0" y="0"/>
                </a:moveTo>
                <a:lnTo>
                  <a:pt x="6933956" y="0"/>
                </a:lnTo>
                <a:lnTo>
                  <a:pt x="6933956" y="6955693"/>
                </a:lnTo>
                <a:lnTo>
                  <a:pt x="0" y="6955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68521" y="472010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07193" y="3576470"/>
            <a:ext cx="4612471" cy="5324642"/>
          </a:xfrm>
          <a:custGeom>
            <a:avLst/>
            <a:gdLst/>
            <a:ahLst/>
            <a:cxnLst/>
            <a:rect r="r" b="b" t="t" l="l"/>
            <a:pathLst>
              <a:path h="5324642" w="4612471">
                <a:moveTo>
                  <a:pt x="0" y="0"/>
                </a:moveTo>
                <a:lnTo>
                  <a:pt x="4612471" y="0"/>
                </a:lnTo>
                <a:lnTo>
                  <a:pt x="4612471" y="5324642"/>
                </a:lnTo>
                <a:lnTo>
                  <a:pt x="0" y="5324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3943" y="4920098"/>
            <a:ext cx="9395564" cy="47625"/>
          </a:xfrm>
          <a:custGeom>
            <a:avLst/>
            <a:gdLst/>
            <a:ahLst/>
            <a:cxnLst/>
            <a:rect r="r" b="b" t="t" l="l"/>
            <a:pathLst>
              <a:path h="47625" w="9395564">
                <a:moveTo>
                  <a:pt x="0" y="0"/>
                </a:moveTo>
                <a:lnTo>
                  <a:pt x="9395564" y="0"/>
                </a:lnTo>
                <a:lnTo>
                  <a:pt x="9395564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2266" b="-12697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5368" y="2964759"/>
            <a:ext cx="9734550" cy="18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6107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KIDS’ SCREENTIME VISUALIZATION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4456" y="6457866"/>
            <a:ext cx="9644227" cy="139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243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Student: Afzal Hussain S</a:t>
            </a:r>
          </a:p>
          <a:p>
            <a:pPr algn="l">
              <a:lnSpc>
                <a:spcPts val="2849"/>
              </a:lnSpc>
            </a:pPr>
            <a:r>
              <a:rPr lang="en-US" sz="2243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Mentor: Sirisha</a:t>
            </a:r>
          </a:p>
          <a:p>
            <a:pPr algn="l">
              <a:lnSpc>
                <a:spcPts val="2849"/>
              </a:lnSpc>
            </a:pPr>
            <a:r>
              <a:rPr lang="en-US" sz="2243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Role: Data Analytics Intern — Infosys Springboard 6.0</a:t>
            </a:r>
          </a:p>
          <a:p>
            <a:pPr algn="l">
              <a:lnSpc>
                <a:spcPts val="2849"/>
              </a:lnSpc>
            </a:pPr>
            <a:r>
              <a:rPr lang="en-US" sz="2243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Timeline: 8 Weeks (Oct–Dec 2025)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48207" y="587478"/>
            <a:ext cx="26110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INTRODUCTION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1798238"/>
            <a:ext cx="8391251" cy="116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b="true">
                <a:solidFill>
                  <a:srgbClr val="3E77F4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SCREENSENSE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943" y="5219034"/>
            <a:ext cx="10763250" cy="37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b="true" sz="2503" i="true">
                <a:solidFill>
                  <a:srgbClr val="000000"/>
                </a:solidFill>
                <a:latin typeface="Roboto Mono Bold Italics"/>
                <a:ea typeface="Roboto Mono Bold Italics"/>
                <a:cs typeface="Roboto Mono Bold Italics"/>
                <a:sym typeface="Roboto Mono Bold Italics"/>
              </a:rPr>
              <a:t>Data-Driven Insights for Public Health Intervention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44865" y="472010"/>
            <a:ext cx="4067729" cy="556690"/>
            <a:chOff x="0" y="0"/>
            <a:chExt cx="1071336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336" cy="146618"/>
            </a:xfrm>
            <a:custGeom>
              <a:avLst/>
              <a:gdLst/>
              <a:ahLst/>
              <a:cxnLst/>
              <a:rect r="r" b="b" t="t" l="l"/>
              <a:pathLst>
                <a:path h="146618" w="1071336">
                  <a:moveTo>
                    <a:pt x="0" y="0"/>
                  </a:moveTo>
                  <a:lnTo>
                    <a:pt x="1071336" y="0"/>
                  </a:lnTo>
                  <a:lnTo>
                    <a:pt x="1071336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71336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15586" y="6669405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80" y="0"/>
                </a:lnTo>
                <a:lnTo>
                  <a:pt x="1975480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24807" y="2979209"/>
            <a:ext cx="5228841" cy="5328755"/>
          </a:xfrm>
          <a:custGeom>
            <a:avLst/>
            <a:gdLst/>
            <a:ahLst/>
            <a:cxnLst/>
            <a:rect r="r" b="b" t="t" l="l"/>
            <a:pathLst>
              <a:path h="5328755" w="5228841">
                <a:moveTo>
                  <a:pt x="0" y="0"/>
                </a:moveTo>
                <a:lnTo>
                  <a:pt x="5228841" y="0"/>
                </a:lnTo>
                <a:lnTo>
                  <a:pt x="5228841" y="5328755"/>
                </a:lnTo>
                <a:lnTo>
                  <a:pt x="0" y="5328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6553227"/>
            <a:ext cx="3666702" cy="2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b="true" sz="17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PROJECT GOAL: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98958"/>
            <a:ext cx="8372478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Why This Project Matters?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9854" y="4337420"/>
            <a:ext cx="8933951" cy="158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How much screentime kids are actually consuming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Which groups are at highest risk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What devices and activities contribute most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What interventions could reduce health risks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8207" y="587478"/>
            <a:ext cx="26110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2/10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124678"/>
            <a:ext cx="12687300" cy="86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Indian children (ages 8–18) are experiencing rapidly increasing screen exposure.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Parents, educators, and policymakers lack clear data 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9854" y="6841504"/>
            <a:ext cx="8933951" cy="7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ransform raw screentime data into actionable insights for healthier digital habits.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44865" y="472010"/>
            <a:ext cx="4067729" cy="556690"/>
            <a:chOff x="0" y="0"/>
            <a:chExt cx="1071336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336" cy="146618"/>
            </a:xfrm>
            <a:custGeom>
              <a:avLst/>
              <a:gdLst/>
              <a:ahLst/>
              <a:cxnLst/>
              <a:rect r="r" b="b" t="t" l="l"/>
              <a:pathLst>
                <a:path h="146618" w="1071336">
                  <a:moveTo>
                    <a:pt x="0" y="0"/>
                  </a:moveTo>
                  <a:lnTo>
                    <a:pt x="1071336" y="0"/>
                  </a:lnTo>
                  <a:lnTo>
                    <a:pt x="1071336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71336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0861" y="7062320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80133">
            <a:off x="5018666" y="2857580"/>
            <a:ext cx="965225" cy="1333644"/>
          </a:xfrm>
          <a:custGeom>
            <a:avLst/>
            <a:gdLst/>
            <a:ahLst/>
            <a:cxnLst/>
            <a:rect r="r" b="b" t="t" l="l"/>
            <a:pathLst>
              <a:path h="1333644" w="965225">
                <a:moveTo>
                  <a:pt x="0" y="0"/>
                </a:moveTo>
                <a:lnTo>
                  <a:pt x="965225" y="0"/>
                </a:lnTo>
                <a:lnTo>
                  <a:pt x="965225" y="1333644"/>
                </a:lnTo>
                <a:lnTo>
                  <a:pt x="0" y="1333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71640" y="3769206"/>
            <a:ext cx="5826184" cy="3088971"/>
            <a:chOff x="0" y="0"/>
            <a:chExt cx="153304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0563" y="0"/>
                  </a:moveTo>
                  <a:lnTo>
                    <a:pt x="1502479" y="0"/>
                  </a:lnTo>
                  <a:cubicBezTo>
                    <a:pt x="1519358" y="0"/>
                    <a:pt x="1533042" y="13683"/>
                    <a:pt x="1533042" y="30563"/>
                  </a:cubicBezTo>
                  <a:lnTo>
                    <a:pt x="1533042" y="782237"/>
                  </a:lnTo>
                  <a:cubicBezTo>
                    <a:pt x="1533042" y="799117"/>
                    <a:pt x="1519358" y="812800"/>
                    <a:pt x="1502479" y="812800"/>
                  </a:cubicBezTo>
                  <a:lnTo>
                    <a:pt x="30563" y="812800"/>
                  </a:lnTo>
                  <a:cubicBezTo>
                    <a:pt x="13683" y="812800"/>
                    <a:pt x="0" y="799117"/>
                    <a:pt x="0" y="782237"/>
                  </a:cubicBezTo>
                  <a:lnTo>
                    <a:pt x="0" y="30563"/>
                  </a:lnTo>
                  <a:cubicBezTo>
                    <a:pt x="0" y="13683"/>
                    <a:pt x="13683" y="0"/>
                    <a:pt x="3056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701" r="0" b="-6701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true" flipV="false" rot="6169394">
            <a:off x="4024027" y="5854689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0" y="0"/>
                </a:moveTo>
                <a:lnTo>
                  <a:pt x="0" y="0"/>
                </a:lnTo>
                <a:lnTo>
                  <a:pt x="0" y="1517369"/>
                </a:lnTo>
                <a:lnTo>
                  <a:pt x="587980" y="1517369"/>
                </a:lnTo>
                <a:lnTo>
                  <a:pt x="5879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155610">
            <a:off x="4197141" y="4504137"/>
            <a:ext cx="965225" cy="1333644"/>
          </a:xfrm>
          <a:custGeom>
            <a:avLst/>
            <a:gdLst/>
            <a:ahLst/>
            <a:cxnLst/>
            <a:rect r="r" b="b" t="t" l="l"/>
            <a:pathLst>
              <a:path h="1333644" w="965225">
                <a:moveTo>
                  <a:pt x="0" y="0"/>
                </a:moveTo>
                <a:lnTo>
                  <a:pt x="965226" y="0"/>
                </a:lnTo>
                <a:lnTo>
                  <a:pt x="965226" y="1333644"/>
                </a:lnTo>
                <a:lnTo>
                  <a:pt x="0" y="1333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77350" y="2674577"/>
            <a:ext cx="1695826" cy="3719032"/>
          </a:xfrm>
          <a:custGeom>
            <a:avLst/>
            <a:gdLst/>
            <a:ahLst/>
            <a:cxnLst/>
            <a:rect r="r" b="b" t="t" l="l"/>
            <a:pathLst>
              <a:path h="3719032" w="1695826">
                <a:moveTo>
                  <a:pt x="0" y="0"/>
                </a:moveTo>
                <a:lnTo>
                  <a:pt x="1695826" y="0"/>
                </a:lnTo>
                <a:lnTo>
                  <a:pt x="1695826" y="3719032"/>
                </a:lnTo>
                <a:lnTo>
                  <a:pt x="0" y="3719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771522" y="998958"/>
            <a:ext cx="12123030" cy="90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Dataset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48207" y="587478"/>
            <a:ext cx="32703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DATA FOUNDATION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3/10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522" y="2636477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Dataset: 9,712 Indian children (ages 8–18)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1522" y="4726307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100% clean data, zero nulls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1522" y="5828792"/>
            <a:ext cx="7092990" cy="62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Source: Kaggle — Indian Kids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Screentime 2025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99785" y="3140334"/>
            <a:ext cx="7092990" cy="4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Feature Engineering (Milestone 1 &amp; 2):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29918" y="3776442"/>
            <a:ext cx="7220776" cy="278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Age Bands (Child/Teen/Young Adult)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Urban/Rural Segmentation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Device Categories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Activity Types (Learning, Balanced, Entertainment)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Cohort Analysis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Usage &amp; Health Indicator Columns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73002" y="7650574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This foundation enabled deeper behavioral and health-pattern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44865" y="472010"/>
            <a:ext cx="4067729" cy="556690"/>
            <a:chOff x="0" y="0"/>
            <a:chExt cx="1071336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336" cy="146618"/>
            </a:xfrm>
            <a:custGeom>
              <a:avLst/>
              <a:gdLst/>
              <a:ahLst/>
              <a:cxnLst/>
              <a:rect r="r" b="b" t="t" l="l"/>
              <a:pathLst>
                <a:path h="146618" w="1071336">
                  <a:moveTo>
                    <a:pt x="0" y="0"/>
                  </a:moveTo>
                  <a:lnTo>
                    <a:pt x="1071336" y="0"/>
                  </a:lnTo>
                  <a:lnTo>
                    <a:pt x="1071336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71336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30861" y="7062320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6169394">
            <a:off x="4024027" y="6247392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0" y="0"/>
                </a:moveTo>
                <a:lnTo>
                  <a:pt x="0" y="0"/>
                </a:lnTo>
                <a:lnTo>
                  <a:pt x="0" y="1517369"/>
                </a:lnTo>
                <a:lnTo>
                  <a:pt x="587980" y="1517369"/>
                </a:lnTo>
                <a:lnTo>
                  <a:pt x="58798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155610">
            <a:off x="4197141" y="4896840"/>
            <a:ext cx="965225" cy="1333644"/>
          </a:xfrm>
          <a:custGeom>
            <a:avLst/>
            <a:gdLst/>
            <a:ahLst/>
            <a:cxnLst/>
            <a:rect r="r" b="b" t="t" l="l"/>
            <a:pathLst>
              <a:path h="1333644" w="965225">
                <a:moveTo>
                  <a:pt x="0" y="0"/>
                </a:moveTo>
                <a:lnTo>
                  <a:pt x="965226" y="0"/>
                </a:lnTo>
                <a:lnTo>
                  <a:pt x="965226" y="1333644"/>
                </a:lnTo>
                <a:lnTo>
                  <a:pt x="0" y="1333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1522" y="5119010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Young Adults: 7.8+ hours/day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22" y="6221495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61.8% over recommended limit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23029" y="4323478"/>
            <a:ext cx="5826184" cy="3088971"/>
            <a:chOff x="0" y="0"/>
            <a:chExt cx="1533042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0563" y="0"/>
                  </a:moveTo>
                  <a:lnTo>
                    <a:pt x="1502479" y="0"/>
                  </a:lnTo>
                  <a:cubicBezTo>
                    <a:pt x="1519358" y="0"/>
                    <a:pt x="1533042" y="13683"/>
                    <a:pt x="1533042" y="30563"/>
                  </a:cubicBezTo>
                  <a:lnTo>
                    <a:pt x="1533042" y="782237"/>
                  </a:lnTo>
                  <a:cubicBezTo>
                    <a:pt x="1533042" y="799117"/>
                    <a:pt x="1519358" y="812800"/>
                    <a:pt x="1502479" y="812800"/>
                  </a:cubicBezTo>
                  <a:lnTo>
                    <a:pt x="30563" y="812800"/>
                  </a:lnTo>
                  <a:cubicBezTo>
                    <a:pt x="13683" y="812800"/>
                    <a:pt x="0" y="799117"/>
                    <a:pt x="0" y="782237"/>
                  </a:cubicBezTo>
                  <a:lnTo>
                    <a:pt x="0" y="30563"/>
                  </a:lnTo>
                  <a:cubicBezTo>
                    <a:pt x="0" y="13683"/>
                    <a:pt x="13683" y="0"/>
                    <a:pt x="30563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308" r="0" b="-3308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5480133">
            <a:off x="4640416" y="4169072"/>
            <a:ext cx="965225" cy="1333644"/>
          </a:xfrm>
          <a:custGeom>
            <a:avLst/>
            <a:gdLst/>
            <a:ahLst/>
            <a:cxnLst/>
            <a:rect r="r" b="b" t="t" l="l"/>
            <a:pathLst>
              <a:path h="1333644" w="965225">
                <a:moveTo>
                  <a:pt x="0" y="0"/>
                </a:moveTo>
                <a:lnTo>
                  <a:pt x="965226" y="0"/>
                </a:lnTo>
                <a:lnTo>
                  <a:pt x="965226" y="1333644"/>
                </a:lnTo>
                <a:lnTo>
                  <a:pt x="0" y="13336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1522" y="998958"/>
            <a:ext cx="9926302" cy="90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Population-Level Findings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48207" y="587478"/>
            <a:ext cx="327039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MILESTONE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4/10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169434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Avg daily screentime: 4.35 hours (recommended &lt;2 hrs)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9730" y="4334103"/>
            <a:ext cx="7092990" cy="4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H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ealth Impacts: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9863" y="4970211"/>
            <a:ext cx="7220776" cy="158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Eye Strain: 67%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Poor Sleep: 63.2%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Anxiety: 58.2%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Obesity Risk: 61%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73002" y="7650574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Basically, 6 out of every 10 kids are unhealthy today, not in the future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1522" y="3933633"/>
            <a:ext cx="7092990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66.9% show at least one health issue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036121" y="2244946"/>
            <a:ext cx="5826184" cy="3088971"/>
            <a:chOff x="0" y="0"/>
            <a:chExt cx="1533042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0563" y="0"/>
                  </a:moveTo>
                  <a:lnTo>
                    <a:pt x="1502479" y="0"/>
                  </a:lnTo>
                  <a:cubicBezTo>
                    <a:pt x="1519358" y="0"/>
                    <a:pt x="1533042" y="13683"/>
                    <a:pt x="1533042" y="30563"/>
                  </a:cubicBezTo>
                  <a:lnTo>
                    <a:pt x="1533042" y="782237"/>
                  </a:lnTo>
                  <a:cubicBezTo>
                    <a:pt x="1533042" y="799117"/>
                    <a:pt x="1519358" y="812800"/>
                    <a:pt x="1502479" y="812800"/>
                  </a:cubicBezTo>
                  <a:lnTo>
                    <a:pt x="30563" y="812800"/>
                  </a:lnTo>
                  <a:cubicBezTo>
                    <a:pt x="13683" y="812800"/>
                    <a:pt x="0" y="799117"/>
                    <a:pt x="0" y="782237"/>
                  </a:cubicBezTo>
                  <a:lnTo>
                    <a:pt x="0" y="30563"/>
                  </a:lnTo>
                  <a:cubicBezTo>
                    <a:pt x="0" y="13683"/>
                    <a:pt x="13683" y="0"/>
                    <a:pt x="30563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099" r="0" b="-3099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5480133">
            <a:off x="7381900" y="3173024"/>
            <a:ext cx="965225" cy="1333644"/>
          </a:xfrm>
          <a:custGeom>
            <a:avLst/>
            <a:gdLst/>
            <a:ahLst/>
            <a:cxnLst/>
            <a:rect r="r" b="b" t="t" l="l"/>
            <a:pathLst>
              <a:path h="1333644" w="965225">
                <a:moveTo>
                  <a:pt x="0" y="0"/>
                </a:moveTo>
                <a:lnTo>
                  <a:pt x="965225" y="0"/>
                </a:lnTo>
                <a:lnTo>
                  <a:pt x="965225" y="1333645"/>
                </a:lnTo>
                <a:lnTo>
                  <a:pt x="0" y="1333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178125" y="472010"/>
            <a:ext cx="4434469" cy="556690"/>
            <a:chOff x="0" y="0"/>
            <a:chExt cx="1167926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7926" cy="146618"/>
            </a:xfrm>
            <a:custGeom>
              <a:avLst/>
              <a:gdLst/>
              <a:ahLst/>
              <a:cxnLst/>
              <a:rect r="r" b="b" t="t" l="l"/>
              <a:pathLst>
                <a:path h="146618" w="1167926">
                  <a:moveTo>
                    <a:pt x="0" y="0"/>
                  </a:moveTo>
                  <a:lnTo>
                    <a:pt x="1167926" y="0"/>
                  </a:lnTo>
                  <a:lnTo>
                    <a:pt x="1167926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167926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27904"/>
            <a:ext cx="10191737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Why activity &amp; device matter?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07537" y="351555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80" y="0"/>
                </a:lnTo>
                <a:lnTo>
                  <a:pt x="1975480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4372237"/>
            <a:ext cx="4299958" cy="2289924"/>
            <a:chOff x="0" y="0"/>
            <a:chExt cx="5733277" cy="30532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33277" cy="2670044"/>
            </a:xfrm>
            <a:custGeom>
              <a:avLst/>
              <a:gdLst/>
              <a:ahLst/>
              <a:cxnLst/>
              <a:rect r="r" b="b" t="t" l="l"/>
              <a:pathLst>
                <a:path h="2670044" w="5733277">
                  <a:moveTo>
                    <a:pt x="0" y="0"/>
                  </a:moveTo>
                  <a:lnTo>
                    <a:pt x="5733277" y="0"/>
                  </a:lnTo>
                  <a:lnTo>
                    <a:pt x="5733277" y="2670044"/>
                  </a:lnTo>
                  <a:lnTo>
                    <a:pt x="0" y="267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-5421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781210"/>
              <a:ext cx="5733277" cy="1272023"/>
            </a:xfrm>
            <a:custGeom>
              <a:avLst/>
              <a:gdLst/>
              <a:ahLst/>
              <a:cxnLst/>
              <a:rect r="r" b="b" t="t" l="l"/>
              <a:pathLst>
                <a:path h="1272023" w="5733277">
                  <a:moveTo>
                    <a:pt x="0" y="0"/>
                  </a:moveTo>
                  <a:lnTo>
                    <a:pt x="5733277" y="0"/>
                  </a:lnTo>
                  <a:lnTo>
                    <a:pt x="5733277" y="1272022"/>
                  </a:lnTo>
                  <a:lnTo>
                    <a:pt x="0" y="1272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-223699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863610" y="4372237"/>
            <a:ext cx="4299958" cy="2297601"/>
            <a:chOff x="0" y="0"/>
            <a:chExt cx="5733277" cy="30634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33277" cy="2670044"/>
            </a:xfrm>
            <a:custGeom>
              <a:avLst/>
              <a:gdLst/>
              <a:ahLst/>
              <a:cxnLst/>
              <a:rect r="r" b="b" t="t" l="l"/>
              <a:pathLst>
                <a:path h="2670044" w="5733277">
                  <a:moveTo>
                    <a:pt x="0" y="0"/>
                  </a:moveTo>
                  <a:lnTo>
                    <a:pt x="5733277" y="0"/>
                  </a:lnTo>
                  <a:lnTo>
                    <a:pt x="5733277" y="2670044"/>
                  </a:lnTo>
                  <a:lnTo>
                    <a:pt x="0" y="267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-54212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791445"/>
              <a:ext cx="5733277" cy="1272023"/>
            </a:xfrm>
            <a:custGeom>
              <a:avLst/>
              <a:gdLst/>
              <a:ahLst/>
              <a:cxnLst/>
              <a:rect r="r" b="b" t="t" l="l"/>
              <a:pathLst>
                <a:path h="1272023" w="5733277">
                  <a:moveTo>
                    <a:pt x="0" y="0"/>
                  </a:moveTo>
                  <a:lnTo>
                    <a:pt x="5733277" y="0"/>
                  </a:lnTo>
                  <a:lnTo>
                    <a:pt x="5733277" y="1272023"/>
                  </a:lnTo>
                  <a:lnTo>
                    <a:pt x="0" y="1272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-223699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2690251"/>
            <a:ext cx="10866577" cy="82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For that, 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I compared activity types —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Learning vs Balanced vs Entertainment.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65033" y="2261859"/>
            <a:ext cx="5826184" cy="3088971"/>
            <a:chOff x="0" y="0"/>
            <a:chExt cx="153304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0563" y="0"/>
                  </a:moveTo>
                  <a:lnTo>
                    <a:pt x="1502479" y="0"/>
                  </a:lnTo>
                  <a:cubicBezTo>
                    <a:pt x="1519358" y="0"/>
                    <a:pt x="1533042" y="13683"/>
                    <a:pt x="1533042" y="30563"/>
                  </a:cubicBezTo>
                  <a:lnTo>
                    <a:pt x="1533042" y="782237"/>
                  </a:lnTo>
                  <a:cubicBezTo>
                    <a:pt x="1533042" y="799117"/>
                    <a:pt x="1519358" y="812800"/>
                    <a:pt x="1502479" y="812800"/>
                  </a:cubicBezTo>
                  <a:lnTo>
                    <a:pt x="30563" y="812800"/>
                  </a:lnTo>
                  <a:cubicBezTo>
                    <a:pt x="13683" y="812800"/>
                    <a:pt x="0" y="799117"/>
                    <a:pt x="0" y="782237"/>
                  </a:cubicBezTo>
                  <a:lnTo>
                    <a:pt x="0" y="30563"/>
                  </a:lnTo>
                  <a:cubicBezTo>
                    <a:pt x="0" y="13683"/>
                    <a:pt x="13683" y="0"/>
                    <a:pt x="3056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485" r="0" b="-3485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163568" y="5350831"/>
            <a:ext cx="1979834" cy="1166302"/>
          </a:xfrm>
          <a:custGeom>
            <a:avLst/>
            <a:gdLst/>
            <a:ahLst/>
            <a:cxnLst/>
            <a:rect r="r" b="b" t="t" l="l"/>
            <a:pathLst>
              <a:path h="1166302" w="1979834">
                <a:moveTo>
                  <a:pt x="0" y="0"/>
                </a:moveTo>
                <a:lnTo>
                  <a:pt x="1979833" y="0"/>
                </a:lnTo>
                <a:lnTo>
                  <a:pt x="1979833" y="1166302"/>
                </a:lnTo>
                <a:lnTo>
                  <a:pt x="0" y="11663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32882" y="4958098"/>
            <a:ext cx="3666702" cy="124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Entertainment kids → 68% unhealthy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Learning-focused kids → only 18% unhealthy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91489" y="587478"/>
            <a:ext cx="286781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MILESTONE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92866" y="4958098"/>
            <a:ext cx="3423787" cy="124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Smartphones are the worst — 68% unhealthy.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 Laptops are the safest — just 4% unhealthy.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5/10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25402" y="7802974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Small screen vs large screen alone creates a 23-point ergonomics gap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1146" y="3738335"/>
            <a:ext cx="7699460" cy="3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The results were brutally clear: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4753" y="6841288"/>
            <a:ext cx="4947852" cy="59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7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That’s a 50-point gap, just based </a:t>
            </a:r>
          </a:p>
          <a:p>
            <a:pPr algn="ctr">
              <a:lnSpc>
                <a:spcPts val="2474"/>
              </a:lnSpc>
            </a:pPr>
            <a:r>
              <a:rPr lang="en-US" sz="17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on what they watch.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30833" y="6841288"/>
            <a:ext cx="4947852" cy="593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7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Devices showed another huge </a:t>
            </a:r>
          </a:p>
          <a:p>
            <a:pPr algn="ctr">
              <a:lnSpc>
                <a:spcPts val="2474"/>
              </a:lnSpc>
            </a:pPr>
            <a:r>
              <a:rPr lang="en-US" sz="17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difference.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62033" y="472010"/>
            <a:ext cx="5350561" cy="556690"/>
            <a:chOff x="0" y="0"/>
            <a:chExt cx="1409201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9201" cy="146618"/>
            </a:xfrm>
            <a:custGeom>
              <a:avLst/>
              <a:gdLst/>
              <a:ahLst/>
              <a:cxnLst/>
              <a:rect r="r" b="b" t="t" l="l"/>
              <a:pathLst>
                <a:path h="146618" w="1409201">
                  <a:moveTo>
                    <a:pt x="0" y="0"/>
                  </a:moveTo>
                  <a:lnTo>
                    <a:pt x="1409201" y="0"/>
                  </a:lnTo>
                  <a:lnTo>
                    <a:pt x="1409201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409201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2978833"/>
            <a:ext cx="3600995" cy="1584929"/>
            <a:chOff x="0" y="0"/>
            <a:chExt cx="948410" cy="4174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8410" cy="417430"/>
            </a:xfrm>
            <a:custGeom>
              <a:avLst/>
              <a:gdLst/>
              <a:ahLst/>
              <a:cxnLst/>
              <a:rect r="r" b="b" t="t" l="l"/>
              <a:pathLst>
                <a:path h="417430" w="948410">
                  <a:moveTo>
                    <a:pt x="0" y="0"/>
                  </a:moveTo>
                  <a:lnTo>
                    <a:pt x="948410" y="0"/>
                  </a:lnTo>
                  <a:lnTo>
                    <a:pt x="948410" y="417430"/>
                  </a:lnTo>
                  <a:lnTo>
                    <a:pt x="0" y="417430"/>
                  </a:ln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8410" cy="388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69949" y="3105860"/>
            <a:ext cx="3349098" cy="1330875"/>
            <a:chOff x="0" y="0"/>
            <a:chExt cx="882067" cy="3505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2067" cy="350519"/>
            </a:xfrm>
            <a:custGeom>
              <a:avLst/>
              <a:gdLst/>
              <a:ahLst/>
              <a:cxnLst/>
              <a:rect r="r" b="b" t="t" l="l"/>
              <a:pathLst>
                <a:path h="350519" w="882067">
                  <a:moveTo>
                    <a:pt x="0" y="0"/>
                  </a:moveTo>
                  <a:lnTo>
                    <a:pt x="882067" y="0"/>
                  </a:lnTo>
                  <a:lnTo>
                    <a:pt x="882067" y="350519"/>
                  </a:lnTo>
                  <a:lnTo>
                    <a:pt x="0" y="350519"/>
                  </a:ln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882067" cy="32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96032" y="2659735"/>
            <a:ext cx="638196" cy="6381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58232" y="2721935"/>
            <a:ext cx="513795" cy="5137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9604592" y="2806118"/>
            <a:ext cx="221075" cy="345429"/>
          </a:xfrm>
          <a:custGeom>
            <a:avLst/>
            <a:gdLst/>
            <a:ahLst/>
            <a:cxnLst/>
            <a:rect r="r" b="b" t="t" l="l"/>
            <a:pathLst>
              <a:path h="345429" w="221075">
                <a:moveTo>
                  <a:pt x="0" y="0"/>
                </a:moveTo>
                <a:lnTo>
                  <a:pt x="221075" y="0"/>
                </a:lnTo>
                <a:lnTo>
                  <a:pt x="221075" y="345430"/>
                </a:lnTo>
                <a:lnTo>
                  <a:pt x="0" y="345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6263334"/>
            <a:ext cx="3600995" cy="1584929"/>
            <a:chOff x="0" y="0"/>
            <a:chExt cx="948410" cy="4174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8410" cy="417430"/>
            </a:xfrm>
            <a:custGeom>
              <a:avLst/>
              <a:gdLst/>
              <a:ahLst/>
              <a:cxnLst/>
              <a:rect r="r" b="b" t="t" l="l"/>
              <a:pathLst>
                <a:path h="417430" w="948410">
                  <a:moveTo>
                    <a:pt x="0" y="0"/>
                  </a:moveTo>
                  <a:lnTo>
                    <a:pt x="948410" y="0"/>
                  </a:lnTo>
                  <a:lnTo>
                    <a:pt x="948410" y="417430"/>
                  </a:lnTo>
                  <a:lnTo>
                    <a:pt x="0" y="417430"/>
                  </a:ln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948410" cy="388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69949" y="6390361"/>
            <a:ext cx="3349098" cy="1330875"/>
            <a:chOff x="0" y="0"/>
            <a:chExt cx="882067" cy="3505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2067" cy="350519"/>
            </a:xfrm>
            <a:custGeom>
              <a:avLst/>
              <a:gdLst/>
              <a:ahLst/>
              <a:cxnLst/>
              <a:rect r="r" b="b" t="t" l="l"/>
              <a:pathLst>
                <a:path h="350519" w="882067">
                  <a:moveTo>
                    <a:pt x="0" y="0"/>
                  </a:moveTo>
                  <a:lnTo>
                    <a:pt x="882067" y="0"/>
                  </a:lnTo>
                  <a:lnTo>
                    <a:pt x="882067" y="350519"/>
                  </a:lnTo>
                  <a:lnTo>
                    <a:pt x="0" y="350519"/>
                  </a:ln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882067" cy="32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96032" y="5944236"/>
            <a:ext cx="638196" cy="63819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58232" y="6006436"/>
            <a:ext cx="513795" cy="51379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9604592" y="6090619"/>
            <a:ext cx="221075" cy="345429"/>
          </a:xfrm>
          <a:custGeom>
            <a:avLst/>
            <a:gdLst/>
            <a:ahLst/>
            <a:cxnLst/>
            <a:rect r="r" b="b" t="t" l="l"/>
            <a:pathLst>
              <a:path h="345429" w="221075">
                <a:moveTo>
                  <a:pt x="0" y="0"/>
                </a:moveTo>
                <a:lnTo>
                  <a:pt x="221075" y="0"/>
                </a:lnTo>
                <a:lnTo>
                  <a:pt x="221075" y="345430"/>
                </a:lnTo>
                <a:lnTo>
                  <a:pt x="0" y="345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658305" y="2978833"/>
            <a:ext cx="3600995" cy="1584929"/>
            <a:chOff x="0" y="0"/>
            <a:chExt cx="948410" cy="4174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8410" cy="417430"/>
            </a:xfrm>
            <a:custGeom>
              <a:avLst/>
              <a:gdLst/>
              <a:ahLst/>
              <a:cxnLst/>
              <a:rect r="r" b="b" t="t" l="l"/>
              <a:pathLst>
                <a:path h="417430" w="948410">
                  <a:moveTo>
                    <a:pt x="0" y="0"/>
                  </a:moveTo>
                  <a:lnTo>
                    <a:pt x="948410" y="0"/>
                  </a:lnTo>
                  <a:lnTo>
                    <a:pt x="948410" y="417430"/>
                  </a:lnTo>
                  <a:lnTo>
                    <a:pt x="0" y="417430"/>
                  </a:ln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948410" cy="388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84254" y="3105860"/>
            <a:ext cx="3349098" cy="1330875"/>
            <a:chOff x="0" y="0"/>
            <a:chExt cx="882067" cy="3505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2067" cy="350519"/>
            </a:xfrm>
            <a:custGeom>
              <a:avLst/>
              <a:gdLst/>
              <a:ahLst/>
              <a:cxnLst/>
              <a:rect r="r" b="b" t="t" l="l"/>
              <a:pathLst>
                <a:path h="350519" w="882067">
                  <a:moveTo>
                    <a:pt x="0" y="0"/>
                  </a:moveTo>
                  <a:lnTo>
                    <a:pt x="882067" y="0"/>
                  </a:lnTo>
                  <a:lnTo>
                    <a:pt x="882067" y="350519"/>
                  </a:lnTo>
                  <a:lnTo>
                    <a:pt x="0" y="350519"/>
                  </a:ln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882067" cy="32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910337" y="2659735"/>
            <a:ext cx="638196" cy="63819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972537" y="2721935"/>
            <a:ext cx="513795" cy="51379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5400000">
            <a:off x="14118897" y="2806118"/>
            <a:ext cx="221075" cy="345429"/>
          </a:xfrm>
          <a:custGeom>
            <a:avLst/>
            <a:gdLst/>
            <a:ahLst/>
            <a:cxnLst/>
            <a:rect r="r" b="b" t="t" l="l"/>
            <a:pathLst>
              <a:path h="345429" w="221075">
                <a:moveTo>
                  <a:pt x="0" y="0"/>
                </a:moveTo>
                <a:lnTo>
                  <a:pt x="221075" y="0"/>
                </a:lnTo>
                <a:lnTo>
                  <a:pt x="221075" y="345430"/>
                </a:lnTo>
                <a:lnTo>
                  <a:pt x="0" y="345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3658305" y="6263334"/>
            <a:ext cx="3600995" cy="1584929"/>
            <a:chOff x="0" y="0"/>
            <a:chExt cx="948410" cy="4174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48410" cy="417430"/>
            </a:xfrm>
            <a:custGeom>
              <a:avLst/>
              <a:gdLst/>
              <a:ahLst/>
              <a:cxnLst/>
              <a:rect r="r" b="b" t="t" l="l"/>
              <a:pathLst>
                <a:path h="417430" w="948410">
                  <a:moveTo>
                    <a:pt x="0" y="0"/>
                  </a:moveTo>
                  <a:lnTo>
                    <a:pt x="948410" y="0"/>
                  </a:lnTo>
                  <a:lnTo>
                    <a:pt x="948410" y="417430"/>
                  </a:lnTo>
                  <a:lnTo>
                    <a:pt x="0" y="417430"/>
                  </a:ln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28575"/>
              <a:ext cx="948410" cy="388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84254" y="6390361"/>
            <a:ext cx="3349098" cy="1330875"/>
            <a:chOff x="0" y="0"/>
            <a:chExt cx="882067" cy="3505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82067" cy="350519"/>
            </a:xfrm>
            <a:custGeom>
              <a:avLst/>
              <a:gdLst/>
              <a:ahLst/>
              <a:cxnLst/>
              <a:rect r="r" b="b" t="t" l="l"/>
              <a:pathLst>
                <a:path h="350519" w="882067">
                  <a:moveTo>
                    <a:pt x="0" y="0"/>
                  </a:moveTo>
                  <a:lnTo>
                    <a:pt x="882067" y="0"/>
                  </a:lnTo>
                  <a:lnTo>
                    <a:pt x="882067" y="350519"/>
                  </a:lnTo>
                  <a:lnTo>
                    <a:pt x="0" y="350519"/>
                  </a:ln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28575"/>
              <a:ext cx="882067" cy="32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910337" y="5944236"/>
            <a:ext cx="638196" cy="638196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77F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72537" y="6006436"/>
            <a:ext cx="513795" cy="51379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303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5400000">
            <a:off x="14118897" y="6090619"/>
            <a:ext cx="221075" cy="345429"/>
          </a:xfrm>
          <a:custGeom>
            <a:avLst/>
            <a:gdLst/>
            <a:ahLst/>
            <a:cxnLst/>
            <a:rect r="r" b="b" t="t" l="l"/>
            <a:pathLst>
              <a:path h="345429" w="221075">
                <a:moveTo>
                  <a:pt x="0" y="0"/>
                </a:moveTo>
                <a:lnTo>
                  <a:pt x="221075" y="0"/>
                </a:lnTo>
                <a:lnTo>
                  <a:pt x="221075" y="345430"/>
                </a:lnTo>
                <a:lnTo>
                  <a:pt x="0" y="345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1028700" y="873534"/>
            <a:ext cx="10109592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Urban vs Rural Key Numbers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0150552" y="533483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24174" y="3038342"/>
            <a:ext cx="6567276" cy="3481890"/>
            <a:chOff x="0" y="0"/>
            <a:chExt cx="1533042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27114" y="0"/>
                  </a:moveTo>
                  <a:lnTo>
                    <a:pt x="1505928" y="0"/>
                  </a:lnTo>
                  <a:cubicBezTo>
                    <a:pt x="1513119" y="0"/>
                    <a:pt x="1520015" y="2857"/>
                    <a:pt x="1525100" y="7941"/>
                  </a:cubicBezTo>
                  <a:cubicBezTo>
                    <a:pt x="1530185" y="13026"/>
                    <a:pt x="1533042" y="19923"/>
                    <a:pt x="1533042" y="27114"/>
                  </a:cubicBezTo>
                  <a:lnTo>
                    <a:pt x="1533042" y="785686"/>
                  </a:lnTo>
                  <a:cubicBezTo>
                    <a:pt x="1533042" y="792877"/>
                    <a:pt x="1530185" y="799774"/>
                    <a:pt x="1525100" y="804859"/>
                  </a:cubicBezTo>
                  <a:cubicBezTo>
                    <a:pt x="1520015" y="809943"/>
                    <a:pt x="1513119" y="812800"/>
                    <a:pt x="1505928" y="812800"/>
                  </a:cubicBezTo>
                  <a:lnTo>
                    <a:pt x="27114" y="812800"/>
                  </a:lnTo>
                  <a:cubicBezTo>
                    <a:pt x="19923" y="812800"/>
                    <a:pt x="13026" y="809943"/>
                    <a:pt x="7941" y="804859"/>
                  </a:cubicBezTo>
                  <a:cubicBezTo>
                    <a:pt x="2857" y="799774"/>
                    <a:pt x="0" y="792877"/>
                    <a:pt x="0" y="785686"/>
                  </a:cubicBezTo>
                  <a:lnTo>
                    <a:pt x="0" y="27114"/>
                  </a:lnTo>
                  <a:cubicBezTo>
                    <a:pt x="0" y="19923"/>
                    <a:pt x="2857" y="13026"/>
                    <a:pt x="7941" y="7941"/>
                  </a:cubicBezTo>
                  <a:cubicBezTo>
                    <a:pt x="13026" y="2857"/>
                    <a:pt x="19923" y="0"/>
                    <a:pt x="27114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154" r="0" b="-3154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66" id="66"/>
          <p:cNvSpPr/>
          <p:nvPr/>
        </p:nvSpPr>
        <p:spPr>
          <a:xfrm flipH="true" flipV="false" rot="0">
            <a:off x="6801533" y="5937081"/>
            <a:ext cx="1979834" cy="1166302"/>
          </a:xfrm>
          <a:custGeom>
            <a:avLst/>
            <a:gdLst/>
            <a:ahLst/>
            <a:cxnLst/>
            <a:rect r="r" b="b" t="t" l="l"/>
            <a:pathLst>
              <a:path h="1166302" w="1979834">
                <a:moveTo>
                  <a:pt x="1979834" y="0"/>
                </a:moveTo>
                <a:lnTo>
                  <a:pt x="0" y="0"/>
                </a:lnTo>
                <a:lnTo>
                  <a:pt x="0" y="1166302"/>
                </a:lnTo>
                <a:lnTo>
                  <a:pt x="1979834" y="1166302"/>
                </a:lnTo>
                <a:lnTo>
                  <a:pt x="197983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9542415" y="3450331"/>
            <a:ext cx="3160657" cy="61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526" indent="-225763" lvl="1">
              <a:lnSpc>
                <a:spcPts val="2509"/>
              </a:lnSpc>
              <a:buFont typeface="Arial"/>
              <a:buChar char="•"/>
            </a:pPr>
            <a:r>
              <a:rPr lang="en-US" sz="2091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Urban: 71%</a:t>
            </a:r>
          </a:p>
          <a:p>
            <a:pPr algn="l" marL="451526" indent="-225763" lvl="1">
              <a:lnSpc>
                <a:spcPts val="2509"/>
              </a:lnSpc>
              <a:buFont typeface="Arial"/>
              <a:buChar char="•"/>
            </a:pPr>
            <a:r>
              <a:rPr lang="en-US" sz="2091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Rural: 29%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144000" y="5473755"/>
            <a:ext cx="3666702" cy="2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b="true" sz="17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RISK GROUP: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584338" y="6735491"/>
            <a:ext cx="2720320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 - Child (27.0%)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098643" y="3450990"/>
            <a:ext cx="2720320" cy="80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Urban: Higher usage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Rural: Lower, but rising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056720" y="6582432"/>
            <a:ext cx="3034709" cy="1066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 impact priority: Apps, School Programs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Rural impact priority: SMS, Awareness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6/10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078293" y="2255929"/>
            <a:ext cx="3666702" cy="2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POPU</a:t>
            </a:r>
            <a:r>
              <a:rPr lang="en-US" b="true" sz="17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LATION SPLIT: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658305" y="5473755"/>
            <a:ext cx="3666702" cy="2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INTERVEN</a:t>
            </a:r>
            <a:r>
              <a:rPr lang="en-US" b="true" sz="17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TION FOCUS POINTS: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658305" y="2255929"/>
            <a:ext cx="3666702" cy="25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SCREE</a:t>
            </a:r>
            <a:r>
              <a:rPr lang="en-US" b="true" sz="17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 TIME (AVERAGE):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584338" y="7211714"/>
            <a:ext cx="2720320" cy="26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2F2F2"/>
                </a:solidFill>
                <a:latin typeface="Helvetica Now"/>
                <a:ea typeface="Helvetica Now"/>
                <a:cs typeface="Helvetica Now"/>
                <a:sym typeface="Helvetica Now"/>
              </a:rPr>
              <a:t>Rural - Child (26.7%)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391489" y="587478"/>
            <a:ext cx="286781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MILESTONE 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92441" y="472010"/>
            <a:ext cx="5220152" cy="556690"/>
            <a:chOff x="0" y="0"/>
            <a:chExt cx="1374855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855" cy="146618"/>
            </a:xfrm>
            <a:custGeom>
              <a:avLst/>
              <a:gdLst/>
              <a:ahLst/>
              <a:cxnLst/>
              <a:rect r="r" b="b" t="t" l="l"/>
              <a:pathLst>
                <a:path h="146618" w="1374855">
                  <a:moveTo>
                    <a:pt x="0" y="0"/>
                  </a:moveTo>
                  <a:lnTo>
                    <a:pt x="1374855" y="0"/>
                  </a:lnTo>
                  <a:lnTo>
                    <a:pt x="1374855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374855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09070" y="932283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816656"/>
            <a:ext cx="12435086" cy="82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I didn’t stop there. I wanted to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 know where exactly the risk is concentrated,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Turns out, 54% of the entire problem comes from just 5 groups.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63624" y="2264287"/>
            <a:ext cx="5195676" cy="2754684"/>
            <a:chOff x="0" y="0"/>
            <a:chExt cx="153304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4272" y="0"/>
                  </a:moveTo>
                  <a:lnTo>
                    <a:pt x="1498770" y="0"/>
                  </a:lnTo>
                  <a:cubicBezTo>
                    <a:pt x="1507860" y="0"/>
                    <a:pt x="1516577" y="3611"/>
                    <a:pt x="1523004" y="10038"/>
                  </a:cubicBezTo>
                  <a:cubicBezTo>
                    <a:pt x="1529431" y="16465"/>
                    <a:pt x="1533042" y="25182"/>
                    <a:pt x="1533042" y="34272"/>
                  </a:cubicBezTo>
                  <a:lnTo>
                    <a:pt x="1533042" y="778528"/>
                  </a:lnTo>
                  <a:cubicBezTo>
                    <a:pt x="1533042" y="787618"/>
                    <a:pt x="1529431" y="796335"/>
                    <a:pt x="1523004" y="802762"/>
                  </a:cubicBezTo>
                  <a:cubicBezTo>
                    <a:pt x="1516577" y="809189"/>
                    <a:pt x="1507860" y="812800"/>
                    <a:pt x="1498770" y="812800"/>
                  </a:cubicBezTo>
                  <a:lnTo>
                    <a:pt x="34272" y="812800"/>
                  </a:lnTo>
                  <a:cubicBezTo>
                    <a:pt x="25182" y="812800"/>
                    <a:pt x="16465" y="809189"/>
                    <a:pt x="10038" y="802762"/>
                  </a:cubicBezTo>
                  <a:cubicBezTo>
                    <a:pt x="3611" y="796335"/>
                    <a:pt x="0" y="787618"/>
                    <a:pt x="0" y="778528"/>
                  </a:cubicBezTo>
                  <a:lnTo>
                    <a:pt x="0" y="34272"/>
                  </a:lnTo>
                  <a:cubicBezTo>
                    <a:pt x="0" y="25182"/>
                    <a:pt x="3611" y="16465"/>
                    <a:pt x="10038" y="10038"/>
                  </a:cubicBezTo>
                  <a:cubicBezTo>
                    <a:pt x="16465" y="3611"/>
                    <a:pt x="25182" y="0"/>
                    <a:pt x="3427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454" r="0" b="-3454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60469" y="4460234"/>
            <a:ext cx="7940709" cy="2510529"/>
          </a:xfrm>
          <a:custGeom>
            <a:avLst/>
            <a:gdLst/>
            <a:ahLst/>
            <a:cxnLst/>
            <a:rect r="r" b="b" t="t" l="l"/>
            <a:pathLst>
              <a:path h="2510529" w="7940709">
                <a:moveTo>
                  <a:pt x="0" y="0"/>
                </a:moveTo>
                <a:lnTo>
                  <a:pt x="7940709" y="0"/>
                </a:lnTo>
                <a:lnTo>
                  <a:pt x="7940709" y="2510528"/>
                </a:lnTo>
                <a:lnTo>
                  <a:pt x="0" y="251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98958"/>
            <a:ext cx="8372478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Where the danger is concentrated?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7/10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957105"/>
            <a:ext cx="7699460" cy="37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All of them have one thing in common: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73002" y="7827967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This means if you target just these groups, you can fix half the problem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7843469">
            <a:off x="3245791" y="6933814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1" y="0"/>
                </a:moveTo>
                <a:lnTo>
                  <a:pt x="0" y="0"/>
                </a:lnTo>
                <a:lnTo>
                  <a:pt x="0" y="1517369"/>
                </a:lnTo>
                <a:lnTo>
                  <a:pt x="587981" y="1517369"/>
                </a:lnTo>
                <a:lnTo>
                  <a:pt x="58798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063624" y="5251077"/>
            <a:ext cx="7092990" cy="4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Common P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atterns: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3757" y="5887185"/>
            <a:ext cx="7220776" cy="11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Entertainment-dominated usage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High smartphone dependence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Mostly urban environment</a:t>
            </a:r>
          </a:p>
        </p:txBody>
      </p:sp>
      <p:sp>
        <p:nvSpPr>
          <p:cNvPr name="Freeform 22" id="22"/>
          <p:cNvSpPr/>
          <p:nvPr/>
        </p:nvSpPr>
        <p:spPr>
          <a:xfrm flipH="true" flipV="true" rot="4895915">
            <a:off x="10908577" y="3403816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0" y="1517369"/>
                </a:moveTo>
                <a:lnTo>
                  <a:pt x="0" y="1517369"/>
                </a:lnTo>
                <a:lnTo>
                  <a:pt x="0" y="0"/>
                </a:lnTo>
                <a:lnTo>
                  <a:pt x="587980" y="0"/>
                </a:lnTo>
                <a:lnTo>
                  <a:pt x="587980" y="151736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391489" y="587478"/>
            <a:ext cx="286781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MILESTONE 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92441" y="472010"/>
            <a:ext cx="5220152" cy="556690"/>
            <a:chOff x="0" y="0"/>
            <a:chExt cx="1374855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855" cy="146618"/>
            </a:xfrm>
            <a:custGeom>
              <a:avLst/>
              <a:gdLst/>
              <a:ahLst/>
              <a:cxnLst/>
              <a:rect r="r" b="b" t="t" l="l"/>
              <a:pathLst>
                <a:path h="146618" w="1374855">
                  <a:moveTo>
                    <a:pt x="0" y="0"/>
                  </a:moveTo>
                  <a:lnTo>
                    <a:pt x="1374855" y="0"/>
                  </a:lnTo>
                  <a:lnTo>
                    <a:pt x="1374855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374855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09070" y="932283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816656"/>
            <a:ext cx="12435086" cy="82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This is the part t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hat actually surprised me —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When I simulated interventions using What-If parameters: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854010" y="1875613"/>
            <a:ext cx="5195676" cy="2754684"/>
            <a:chOff x="0" y="0"/>
            <a:chExt cx="153304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3042" cy="812800"/>
            </a:xfrm>
            <a:custGeom>
              <a:avLst/>
              <a:gdLst/>
              <a:ahLst/>
              <a:cxnLst/>
              <a:rect r="r" b="b" t="t" l="l"/>
              <a:pathLst>
                <a:path h="812800" w="1533042">
                  <a:moveTo>
                    <a:pt x="34272" y="0"/>
                  </a:moveTo>
                  <a:lnTo>
                    <a:pt x="1498770" y="0"/>
                  </a:lnTo>
                  <a:cubicBezTo>
                    <a:pt x="1507860" y="0"/>
                    <a:pt x="1516577" y="3611"/>
                    <a:pt x="1523004" y="10038"/>
                  </a:cubicBezTo>
                  <a:cubicBezTo>
                    <a:pt x="1529431" y="16465"/>
                    <a:pt x="1533042" y="25182"/>
                    <a:pt x="1533042" y="34272"/>
                  </a:cubicBezTo>
                  <a:lnTo>
                    <a:pt x="1533042" y="778528"/>
                  </a:lnTo>
                  <a:cubicBezTo>
                    <a:pt x="1533042" y="787618"/>
                    <a:pt x="1529431" y="796335"/>
                    <a:pt x="1523004" y="802762"/>
                  </a:cubicBezTo>
                  <a:cubicBezTo>
                    <a:pt x="1516577" y="809189"/>
                    <a:pt x="1507860" y="812800"/>
                    <a:pt x="1498770" y="812800"/>
                  </a:cubicBezTo>
                  <a:lnTo>
                    <a:pt x="34272" y="812800"/>
                  </a:lnTo>
                  <a:cubicBezTo>
                    <a:pt x="25182" y="812800"/>
                    <a:pt x="16465" y="809189"/>
                    <a:pt x="10038" y="802762"/>
                  </a:cubicBezTo>
                  <a:cubicBezTo>
                    <a:pt x="3611" y="796335"/>
                    <a:pt x="0" y="787618"/>
                    <a:pt x="0" y="778528"/>
                  </a:cubicBezTo>
                  <a:lnTo>
                    <a:pt x="0" y="34272"/>
                  </a:lnTo>
                  <a:cubicBezTo>
                    <a:pt x="0" y="25182"/>
                    <a:pt x="3611" y="16465"/>
                    <a:pt x="10038" y="10038"/>
                  </a:cubicBezTo>
                  <a:cubicBezTo>
                    <a:pt x="16465" y="3611"/>
                    <a:pt x="25182" y="0"/>
                    <a:pt x="3427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276" r="0" b="-3276"/>
              </a:stretch>
            </a:blip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5209555"/>
            <a:ext cx="7699460" cy="193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479F7"/>
                </a:solidFill>
                <a:latin typeface="Helvetica Now"/>
                <a:ea typeface="Helvetica Now"/>
                <a:cs typeface="Helvetica Now"/>
                <a:sym typeface="Helvetica Now"/>
              </a:rPr>
              <a:t>If we achieve even 60% effectiveness: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Healthy kids go from 33% → 70%.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479F7"/>
                </a:solidFill>
                <a:latin typeface="Helvetica Now"/>
                <a:ea typeface="Helvetica Now"/>
                <a:cs typeface="Helvetica Now"/>
                <a:sym typeface="Helvetica Now"/>
              </a:rPr>
              <a:t>With a blended strategy: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We can realistically reach 90.9% healthy.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73002" y="7827967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So yes — this is 100% fixable with the right approach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-6140030">
            <a:off x="10332749" y="2169507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1" y="0"/>
                </a:moveTo>
                <a:lnTo>
                  <a:pt x="0" y="0"/>
                </a:lnTo>
                <a:lnTo>
                  <a:pt x="0" y="1517369"/>
                </a:lnTo>
                <a:lnTo>
                  <a:pt x="587981" y="1517369"/>
                </a:lnTo>
                <a:lnTo>
                  <a:pt x="5879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5760854">
            <a:off x="7433521" y="4566928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0" y="1517369"/>
                </a:moveTo>
                <a:lnTo>
                  <a:pt x="587981" y="1517369"/>
                </a:lnTo>
                <a:lnTo>
                  <a:pt x="587981" y="0"/>
                </a:lnTo>
                <a:lnTo>
                  <a:pt x="0" y="0"/>
                </a:lnTo>
                <a:lnTo>
                  <a:pt x="0" y="151736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998958"/>
            <a:ext cx="8372478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Can this problem be fixed?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8/10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81762" y="4927200"/>
            <a:ext cx="7092990" cy="42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Intervention Effec</a:t>
            </a:r>
            <a:r>
              <a:rPr lang="en-US" sz="24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tiveness Breakdown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22767" y="5770895"/>
            <a:ext cx="8138715" cy="158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Parental Control Apps: 65% → 1,879 improved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School Programs: 58% → 1,818 improved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Rural SMS Campaigns: 48% → 1,379 improved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Device Recommendation: 35% → 3,399 improved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865339"/>
            <a:ext cx="7699460" cy="115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Current State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Healthy: 33.1% (3,222)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Unhealthy: 66.9% (6,490)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11895" y="5374686"/>
            <a:ext cx="7092990" cy="4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Eg: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91489" y="587478"/>
            <a:ext cx="286781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MILESTONE 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35722" y="472010"/>
            <a:ext cx="5076872" cy="556690"/>
            <a:chOff x="0" y="0"/>
            <a:chExt cx="1337118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7118" cy="146618"/>
            </a:xfrm>
            <a:custGeom>
              <a:avLst/>
              <a:gdLst/>
              <a:ahLst/>
              <a:cxnLst/>
              <a:rect r="r" b="b" t="t" l="l"/>
              <a:pathLst>
                <a:path h="146618" w="1337118">
                  <a:moveTo>
                    <a:pt x="0" y="0"/>
                  </a:moveTo>
                  <a:lnTo>
                    <a:pt x="1337118" y="0"/>
                  </a:lnTo>
                  <a:lnTo>
                    <a:pt x="1337118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337118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1357604" y="898889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80" y="0"/>
                </a:lnTo>
                <a:lnTo>
                  <a:pt x="1975480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726827" y="2560349"/>
            <a:ext cx="8572715" cy="4371300"/>
            <a:chOff x="0" y="0"/>
            <a:chExt cx="11430287" cy="5828400"/>
          </a:xfrm>
        </p:grpSpPr>
        <p:sp>
          <p:nvSpPr>
            <p:cNvPr name="Freeform 12" id="12"/>
            <p:cNvSpPr/>
            <p:nvPr/>
          </p:nvSpPr>
          <p:spPr>
            <a:xfrm flipH="false" flipV="false" rot="-1096488">
              <a:off x="355286" y="832489"/>
              <a:ext cx="5603152" cy="3167268"/>
            </a:xfrm>
            <a:custGeom>
              <a:avLst/>
              <a:gdLst/>
              <a:ahLst/>
              <a:cxnLst/>
              <a:rect r="r" b="b" t="t" l="l"/>
              <a:pathLst>
                <a:path h="3167268" w="5603152">
                  <a:moveTo>
                    <a:pt x="0" y="0"/>
                  </a:moveTo>
                  <a:lnTo>
                    <a:pt x="5603152" y="0"/>
                  </a:lnTo>
                  <a:lnTo>
                    <a:pt x="5603152" y="3167268"/>
                  </a:lnTo>
                  <a:lnTo>
                    <a:pt x="0" y="3167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128310">
              <a:off x="5484294" y="815560"/>
              <a:ext cx="5584558" cy="3167268"/>
            </a:xfrm>
            <a:custGeom>
              <a:avLst/>
              <a:gdLst/>
              <a:ahLst/>
              <a:cxnLst/>
              <a:rect r="r" b="b" t="t" l="l"/>
              <a:pathLst>
                <a:path h="3167268" w="5584558">
                  <a:moveTo>
                    <a:pt x="0" y="0"/>
                  </a:moveTo>
                  <a:lnTo>
                    <a:pt x="5584558" y="0"/>
                  </a:lnTo>
                  <a:lnTo>
                    <a:pt x="5584558" y="3167269"/>
                  </a:lnTo>
                  <a:lnTo>
                    <a:pt x="0" y="3167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997945" y="1685930"/>
              <a:ext cx="5494360" cy="3093616"/>
            </a:xfrm>
            <a:custGeom>
              <a:avLst/>
              <a:gdLst/>
              <a:ahLst/>
              <a:cxnLst/>
              <a:rect r="r" b="b" t="t" l="l"/>
              <a:pathLst>
                <a:path h="3093616" w="5494360">
                  <a:moveTo>
                    <a:pt x="0" y="0"/>
                  </a:moveTo>
                  <a:lnTo>
                    <a:pt x="5494360" y="0"/>
                  </a:lnTo>
                  <a:lnTo>
                    <a:pt x="5494360" y="3093616"/>
                  </a:lnTo>
                  <a:lnTo>
                    <a:pt x="0" y="3093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47596" y="1648228"/>
              <a:ext cx="7395060" cy="4180172"/>
            </a:xfrm>
            <a:custGeom>
              <a:avLst/>
              <a:gdLst/>
              <a:ahLst/>
              <a:cxnLst/>
              <a:rect r="r" b="b" t="t" l="l"/>
              <a:pathLst>
                <a:path h="4180172" w="7395060">
                  <a:moveTo>
                    <a:pt x="0" y="0"/>
                  </a:moveTo>
                  <a:lnTo>
                    <a:pt x="7395059" y="0"/>
                  </a:lnTo>
                  <a:lnTo>
                    <a:pt x="7395059" y="4180172"/>
                  </a:lnTo>
                  <a:lnTo>
                    <a:pt x="0" y="418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166822"/>
            <a:ext cx="10109592" cy="90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Dashboard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12937" y="587478"/>
            <a:ext cx="384636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9/10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237803"/>
            <a:ext cx="7092990" cy="82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To support dec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ision-making, I built a full 7-page dashboard: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4174" y="3243752"/>
            <a:ext cx="5973374" cy="1980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Univariate &amp; bivariate analysis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Activity-device interaction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Urban vs rural patterns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Cohort profiling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What-If simulator for intervention ROI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65121" y="7463439"/>
            <a:ext cx="12741995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This wasn’t just visualization — It’s a decision support system.</a:t>
            </a:r>
          </a:p>
        </p:txBody>
      </p:sp>
      <p:sp>
        <p:nvSpPr>
          <p:cNvPr name="Freeform 22" id="22"/>
          <p:cNvSpPr/>
          <p:nvPr/>
        </p:nvSpPr>
        <p:spPr>
          <a:xfrm flipH="false" flipV="true" rot="4861831">
            <a:off x="7637594" y="3032295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0" y="1517369"/>
                </a:moveTo>
                <a:lnTo>
                  <a:pt x="587981" y="1517369"/>
                </a:lnTo>
                <a:lnTo>
                  <a:pt x="587981" y="0"/>
                </a:lnTo>
                <a:lnTo>
                  <a:pt x="0" y="0"/>
                </a:lnTo>
                <a:lnTo>
                  <a:pt x="0" y="151736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5467108"/>
            <a:ext cx="7092990" cy="4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Intervention Effec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tiveness Breakdown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4174" y="6044378"/>
            <a:ext cx="8138715" cy="1980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27+ visuals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15+ KPIs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Cross-filtering &amp; slicers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Dynamic What-If parameters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Clean UX &amp; color-coded risk indicators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670674" y="472010"/>
            <a:ext cx="3941920" cy="556690"/>
            <a:chOff x="0" y="0"/>
            <a:chExt cx="1038201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8201" cy="146618"/>
            </a:xfrm>
            <a:custGeom>
              <a:avLst/>
              <a:gdLst/>
              <a:ahLst/>
              <a:cxnLst/>
              <a:rect r="r" b="b" t="t" l="l"/>
              <a:pathLst>
                <a:path h="146618" w="1038201">
                  <a:moveTo>
                    <a:pt x="0" y="0"/>
                  </a:moveTo>
                  <a:lnTo>
                    <a:pt x="1038201" y="0"/>
                  </a:lnTo>
                  <a:lnTo>
                    <a:pt x="1038201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38201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715963"/>
            <a:ext cx="8009998" cy="90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tru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70674" y="587478"/>
            <a:ext cx="2588626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WHAT NEXT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19273" y="568428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411849" y="8753578"/>
            <a:ext cx="2847451" cy="51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10/10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4174" y="1918445"/>
            <a:ext cx="7092990" cy="82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Based on all findings, here are </a:t>
            </a:r>
            <a:r>
              <a:rPr lang="en-US" sz="2399">
                <a:solidFill>
                  <a:srgbClr val="4C7EE9"/>
                </a:solidFill>
                <a:latin typeface="Helvetica Now"/>
                <a:ea typeface="Helvetica Now"/>
                <a:cs typeface="Helvetica Now"/>
                <a:sym typeface="Helvetica Now"/>
              </a:rPr>
              <a:t>the strongest interventions: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4174" y="7456690"/>
            <a:ext cx="9935878" cy="3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These four alone can shift 5,600+ kids into the healthy zone.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85029" y="3089519"/>
            <a:ext cx="7789168" cy="4054409"/>
            <a:chOff x="0" y="0"/>
            <a:chExt cx="10385557" cy="540587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423548" y="0"/>
              <a:ext cx="8962009" cy="1270428"/>
              <a:chOff x="0" y="0"/>
              <a:chExt cx="1717956" cy="24353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1795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1717956">
                    <a:moveTo>
                      <a:pt x="0" y="0"/>
                    </a:moveTo>
                    <a:lnTo>
                      <a:pt x="1717956" y="0"/>
                    </a:lnTo>
                    <a:lnTo>
                      <a:pt x="1717956" y="243532"/>
                    </a:lnTo>
                    <a:lnTo>
                      <a:pt x="0" y="243532"/>
                    </a:ln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28575"/>
                <a:ext cx="1717956" cy="214957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97683" y="196933"/>
              <a:ext cx="8613738" cy="876563"/>
              <a:chOff x="0" y="0"/>
              <a:chExt cx="1651195" cy="16803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651195" cy="168031"/>
              </a:xfrm>
              <a:custGeom>
                <a:avLst/>
                <a:gdLst/>
                <a:ahLst/>
                <a:cxnLst/>
                <a:rect r="r" b="b" t="t" l="l"/>
                <a:pathLst>
                  <a:path h="168031" w="1651195">
                    <a:moveTo>
                      <a:pt x="0" y="0"/>
                    </a:moveTo>
                    <a:lnTo>
                      <a:pt x="1651195" y="0"/>
                    </a:lnTo>
                    <a:lnTo>
                      <a:pt x="1651195" y="168031"/>
                    </a:lnTo>
                    <a:lnTo>
                      <a:pt x="0" y="168031"/>
                    </a:ln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28575"/>
                <a:ext cx="1651195" cy="139456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 marL="0" indent="0" lvl="0">
                  <a:lnSpc>
                    <a:spcPts val="263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90816"/>
              <a:ext cx="1088797" cy="1088797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6117" y="196933"/>
              <a:ext cx="876563" cy="87656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55816" y="340553"/>
              <a:ext cx="377166" cy="589322"/>
            </a:xfrm>
            <a:custGeom>
              <a:avLst/>
              <a:gdLst/>
              <a:ahLst/>
              <a:cxnLst/>
              <a:rect r="r" b="b" t="t" l="l"/>
              <a:pathLst>
                <a:path h="589322" w="377166">
                  <a:moveTo>
                    <a:pt x="0" y="0"/>
                  </a:moveTo>
                  <a:lnTo>
                    <a:pt x="377165" y="0"/>
                  </a:lnTo>
                  <a:lnTo>
                    <a:pt x="377165" y="589322"/>
                  </a:lnTo>
                  <a:lnTo>
                    <a:pt x="0" y="58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5400000">
              <a:off x="2056373" y="2671540"/>
              <a:ext cx="303743" cy="474599"/>
            </a:xfrm>
            <a:custGeom>
              <a:avLst/>
              <a:gdLst/>
              <a:ahLst/>
              <a:cxnLst/>
              <a:rect r="r" b="b" t="t" l="l"/>
              <a:pathLst>
                <a:path h="474599" w="303743">
                  <a:moveTo>
                    <a:pt x="0" y="0"/>
                  </a:moveTo>
                  <a:lnTo>
                    <a:pt x="303743" y="0"/>
                  </a:lnTo>
                  <a:lnTo>
                    <a:pt x="303743" y="474598"/>
                  </a:lnTo>
                  <a:lnTo>
                    <a:pt x="0" y="4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1423548" y="1378484"/>
              <a:ext cx="8962009" cy="1270428"/>
              <a:chOff x="0" y="0"/>
              <a:chExt cx="1717956" cy="24353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1795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1717956">
                    <a:moveTo>
                      <a:pt x="0" y="0"/>
                    </a:moveTo>
                    <a:lnTo>
                      <a:pt x="1717956" y="0"/>
                    </a:lnTo>
                    <a:lnTo>
                      <a:pt x="1717956" y="243532"/>
                    </a:lnTo>
                    <a:lnTo>
                      <a:pt x="0" y="243532"/>
                    </a:ln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28575"/>
                <a:ext cx="1717956" cy="214957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597683" y="1575416"/>
              <a:ext cx="8613738" cy="876563"/>
              <a:chOff x="0" y="0"/>
              <a:chExt cx="1651195" cy="16803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651195" cy="168031"/>
              </a:xfrm>
              <a:custGeom>
                <a:avLst/>
                <a:gdLst/>
                <a:ahLst/>
                <a:cxnLst/>
                <a:rect r="r" b="b" t="t" l="l"/>
                <a:pathLst>
                  <a:path h="168031" w="1651195">
                    <a:moveTo>
                      <a:pt x="0" y="0"/>
                    </a:moveTo>
                    <a:lnTo>
                      <a:pt x="1651195" y="0"/>
                    </a:lnTo>
                    <a:lnTo>
                      <a:pt x="1651195" y="168031"/>
                    </a:lnTo>
                    <a:lnTo>
                      <a:pt x="0" y="168031"/>
                    </a:ln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28575"/>
                <a:ext cx="1651195" cy="139456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 marL="0" indent="0" lvl="0">
                  <a:lnSpc>
                    <a:spcPts val="263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1469299"/>
              <a:ext cx="1088797" cy="1088797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06117" y="1575416"/>
              <a:ext cx="876563" cy="876563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355816" y="1719037"/>
              <a:ext cx="377166" cy="589322"/>
            </a:xfrm>
            <a:custGeom>
              <a:avLst/>
              <a:gdLst/>
              <a:ahLst/>
              <a:cxnLst/>
              <a:rect r="r" b="b" t="t" l="l"/>
              <a:pathLst>
                <a:path h="589322" w="377166">
                  <a:moveTo>
                    <a:pt x="0" y="0"/>
                  </a:moveTo>
                  <a:lnTo>
                    <a:pt x="377165" y="0"/>
                  </a:lnTo>
                  <a:lnTo>
                    <a:pt x="377165" y="589321"/>
                  </a:lnTo>
                  <a:lnTo>
                    <a:pt x="0" y="58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1423548" y="2756967"/>
              <a:ext cx="8962009" cy="1270428"/>
              <a:chOff x="0" y="0"/>
              <a:chExt cx="1717956" cy="24353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71795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1717956">
                    <a:moveTo>
                      <a:pt x="0" y="0"/>
                    </a:moveTo>
                    <a:lnTo>
                      <a:pt x="1717956" y="0"/>
                    </a:lnTo>
                    <a:lnTo>
                      <a:pt x="1717956" y="243532"/>
                    </a:lnTo>
                    <a:lnTo>
                      <a:pt x="0" y="243532"/>
                    </a:ln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28575"/>
                <a:ext cx="1717956" cy="214957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597683" y="2953900"/>
              <a:ext cx="8613738" cy="876563"/>
              <a:chOff x="0" y="0"/>
              <a:chExt cx="1651195" cy="16803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651195" cy="168031"/>
              </a:xfrm>
              <a:custGeom>
                <a:avLst/>
                <a:gdLst/>
                <a:ahLst/>
                <a:cxnLst/>
                <a:rect r="r" b="b" t="t" l="l"/>
                <a:pathLst>
                  <a:path h="168031" w="1651195">
                    <a:moveTo>
                      <a:pt x="0" y="0"/>
                    </a:moveTo>
                    <a:lnTo>
                      <a:pt x="1651195" y="0"/>
                    </a:lnTo>
                    <a:lnTo>
                      <a:pt x="1651195" y="168031"/>
                    </a:lnTo>
                    <a:lnTo>
                      <a:pt x="0" y="168031"/>
                    </a:ln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8575"/>
                <a:ext cx="1651195" cy="139456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 marL="0" indent="0" lvl="0">
                  <a:lnSpc>
                    <a:spcPts val="263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2847783"/>
              <a:ext cx="1088797" cy="1088797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06117" y="2953900"/>
              <a:ext cx="876563" cy="876563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355816" y="3097521"/>
              <a:ext cx="377166" cy="589322"/>
            </a:xfrm>
            <a:custGeom>
              <a:avLst/>
              <a:gdLst/>
              <a:ahLst/>
              <a:cxnLst/>
              <a:rect r="r" b="b" t="t" l="l"/>
              <a:pathLst>
                <a:path h="589322" w="377166">
                  <a:moveTo>
                    <a:pt x="0" y="0"/>
                  </a:moveTo>
                  <a:lnTo>
                    <a:pt x="377165" y="0"/>
                  </a:lnTo>
                  <a:lnTo>
                    <a:pt x="377165" y="589321"/>
                  </a:lnTo>
                  <a:lnTo>
                    <a:pt x="0" y="58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7" id="57"/>
            <p:cNvGrpSpPr/>
            <p:nvPr/>
          </p:nvGrpSpPr>
          <p:grpSpPr>
            <a:xfrm rot="0">
              <a:off x="1423548" y="4135451"/>
              <a:ext cx="8962009" cy="1270428"/>
              <a:chOff x="0" y="0"/>
              <a:chExt cx="1717956" cy="24353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717956" cy="243532"/>
              </a:xfrm>
              <a:custGeom>
                <a:avLst/>
                <a:gdLst/>
                <a:ahLst/>
                <a:cxnLst/>
                <a:rect r="r" b="b" t="t" l="l"/>
                <a:pathLst>
                  <a:path h="243532" w="1717956">
                    <a:moveTo>
                      <a:pt x="0" y="0"/>
                    </a:moveTo>
                    <a:lnTo>
                      <a:pt x="1717956" y="0"/>
                    </a:lnTo>
                    <a:lnTo>
                      <a:pt x="1717956" y="243532"/>
                    </a:lnTo>
                    <a:lnTo>
                      <a:pt x="0" y="243532"/>
                    </a:ln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28575"/>
                <a:ext cx="1717956" cy="214957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597683" y="4332384"/>
              <a:ext cx="8613738" cy="876563"/>
              <a:chOff x="0" y="0"/>
              <a:chExt cx="1651195" cy="16803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651195" cy="168031"/>
              </a:xfrm>
              <a:custGeom>
                <a:avLst/>
                <a:gdLst/>
                <a:ahLst/>
                <a:cxnLst/>
                <a:rect r="r" b="b" t="t" l="l"/>
                <a:pathLst>
                  <a:path h="168031" w="1651195">
                    <a:moveTo>
                      <a:pt x="0" y="0"/>
                    </a:moveTo>
                    <a:lnTo>
                      <a:pt x="1651195" y="0"/>
                    </a:lnTo>
                    <a:lnTo>
                      <a:pt x="1651195" y="168031"/>
                    </a:lnTo>
                    <a:lnTo>
                      <a:pt x="0" y="168031"/>
                    </a:ln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8575"/>
                <a:ext cx="1651195" cy="139456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 marL="0" indent="0" lvl="0">
                  <a:lnSpc>
                    <a:spcPts val="263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4226266"/>
              <a:ext cx="1088797" cy="1088797"/>
              <a:chOff x="0" y="0"/>
              <a:chExt cx="812800" cy="8128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77F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06117" y="4332384"/>
              <a:ext cx="876563" cy="876563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3036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2347" lIns="52347" bIns="52347" rIns="52347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  <p:sp>
          <p:nvSpPr>
            <p:cNvPr name="Freeform 69" id="69"/>
            <p:cNvSpPr/>
            <p:nvPr/>
          </p:nvSpPr>
          <p:spPr>
            <a:xfrm flipH="false" flipV="false" rot="0">
              <a:off x="355816" y="4476004"/>
              <a:ext cx="377166" cy="589322"/>
            </a:xfrm>
            <a:custGeom>
              <a:avLst/>
              <a:gdLst/>
              <a:ahLst/>
              <a:cxnLst/>
              <a:rect r="r" b="b" t="t" l="l"/>
              <a:pathLst>
                <a:path h="589322" w="377166">
                  <a:moveTo>
                    <a:pt x="0" y="0"/>
                  </a:moveTo>
                  <a:lnTo>
                    <a:pt x="377165" y="0"/>
                  </a:lnTo>
                  <a:lnTo>
                    <a:pt x="377165" y="589322"/>
                  </a:lnTo>
                  <a:lnTo>
                    <a:pt x="0" y="58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 rot="0">
              <a:off x="1780472" y="442474"/>
              <a:ext cx="7503052" cy="375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5"/>
                </a:lnSpc>
              </a:pP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Parental control apps for urban young adults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780472" y="1820958"/>
              <a:ext cx="8316650" cy="375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5"/>
                </a:lnSpc>
              </a:pP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Device recommendation (shift from phone to laptop/TV)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823628" y="3199442"/>
              <a:ext cx="7503052" cy="742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5"/>
                </a:lnSpc>
              </a:pP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Sch</a:t>
              </a: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ool digital wellness programs</a:t>
              </a:r>
            </a:p>
            <a:p>
              <a:pPr algn="l">
                <a:lnSpc>
                  <a:spcPts val="2225"/>
                </a:lnSpc>
              </a:pP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780472" y="4515167"/>
              <a:ext cx="7503052" cy="742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5"/>
                </a:lnSpc>
              </a:pP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Ru</a:t>
              </a:r>
              <a:r>
                <a:rPr lang="en-US" sz="1854">
                  <a:solidFill>
                    <a:srgbClr val="F2F2F2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ral SMS-based awareness</a:t>
              </a:r>
            </a:p>
            <a:p>
              <a:pPr algn="l">
                <a:lnSpc>
                  <a:spcPts val="2225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1040882" y="2308851"/>
            <a:ext cx="5039284" cy="7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Target: Urban Young Adults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Biggest measurable impact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40882" y="3839949"/>
            <a:ext cx="5039284" cy="7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Promote large-screen usage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Low cost, high ROI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31710" y="5371430"/>
            <a:ext cx="5039284" cy="7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Target: 13–15 age group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Sustainable long-term impact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040882" y="6734544"/>
            <a:ext cx="5039284" cy="7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SMS-based nudges</a:t>
            </a:r>
          </a:p>
          <a:p>
            <a:pPr algn="l" marL="489485" indent="-244742" lvl="1">
              <a:lnSpc>
                <a:spcPts val="3174"/>
              </a:lnSpc>
              <a:buFont typeface="Arial"/>
              <a:buChar char="•"/>
            </a:pPr>
            <a:r>
              <a:rPr lang="en-US" sz="2267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Improves digital literacy</a:t>
            </a:r>
          </a:p>
        </p:txBody>
      </p:sp>
      <p:sp>
        <p:nvSpPr>
          <p:cNvPr name="Freeform 78" id="78"/>
          <p:cNvSpPr/>
          <p:nvPr/>
        </p:nvSpPr>
        <p:spPr>
          <a:xfrm flipH="false" flipV="true" rot="4861831">
            <a:off x="9875449" y="1959551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0" y="1517369"/>
                </a:moveTo>
                <a:lnTo>
                  <a:pt x="587980" y="1517369"/>
                </a:lnTo>
                <a:lnTo>
                  <a:pt x="587980" y="0"/>
                </a:lnTo>
                <a:lnTo>
                  <a:pt x="0" y="0"/>
                </a:lnTo>
                <a:lnTo>
                  <a:pt x="0" y="151736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true" rot="4861831">
            <a:off x="9875449" y="3490649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0" y="1517369"/>
                </a:moveTo>
                <a:lnTo>
                  <a:pt x="587980" y="1517369"/>
                </a:lnTo>
                <a:lnTo>
                  <a:pt x="587980" y="0"/>
                </a:lnTo>
                <a:lnTo>
                  <a:pt x="0" y="0"/>
                </a:lnTo>
                <a:lnTo>
                  <a:pt x="0" y="151736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true" flipV="true" rot="5400000">
            <a:off x="9912007" y="6554945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0" y="1517369"/>
                </a:moveTo>
                <a:lnTo>
                  <a:pt x="0" y="1517369"/>
                </a:lnTo>
                <a:lnTo>
                  <a:pt x="0" y="0"/>
                </a:lnTo>
                <a:lnTo>
                  <a:pt x="587980" y="0"/>
                </a:lnTo>
                <a:lnTo>
                  <a:pt x="587980" y="151736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true" flipV="true" rot="5050931">
            <a:off x="9953143" y="5153130"/>
            <a:ext cx="587981" cy="1517369"/>
          </a:xfrm>
          <a:custGeom>
            <a:avLst/>
            <a:gdLst/>
            <a:ahLst/>
            <a:cxnLst/>
            <a:rect r="r" b="b" t="t" l="l"/>
            <a:pathLst>
              <a:path h="1517369" w="587981">
                <a:moveTo>
                  <a:pt x="587980" y="1517369"/>
                </a:moveTo>
                <a:lnTo>
                  <a:pt x="0" y="1517369"/>
                </a:lnTo>
                <a:lnTo>
                  <a:pt x="0" y="0"/>
                </a:lnTo>
                <a:lnTo>
                  <a:pt x="587980" y="0"/>
                </a:lnTo>
                <a:lnTo>
                  <a:pt x="587980" y="151736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9283" y="8307964"/>
            <a:ext cx="18666566" cy="3086100"/>
            <a:chOff x="0" y="0"/>
            <a:chExt cx="49162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297" cy="812800"/>
            </a:xfrm>
            <a:custGeom>
              <a:avLst/>
              <a:gdLst/>
              <a:ahLst/>
              <a:cxnLst/>
              <a:rect r="r" b="b" t="t" l="l"/>
              <a:pathLst>
                <a:path h="812800" w="4916297">
                  <a:moveTo>
                    <a:pt x="0" y="0"/>
                  </a:moveTo>
                  <a:lnTo>
                    <a:pt x="4916297" y="0"/>
                  </a:lnTo>
                  <a:lnTo>
                    <a:pt x="49162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53036"/>
            </a:solidFill>
            <a:ln w="57150" cap="sq">
              <a:solidFill>
                <a:srgbClr val="3E77F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916297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09720" y="472010"/>
            <a:ext cx="6802874" cy="556690"/>
            <a:chOff x="0" y="0"/>
            <a:chExt cx="1791703" cy="146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1703" cy="146618"/>
            </a:xfrm>
            <a:custGeom>
              <a:avLst/>
              <a:gdLst/>
              <a:ahLst/>
              <a:cxnLst/>
              <a:rect r="r" b="b" t="t" l="l"/>
              <a:pathLst>
                <a:path h="146618" w="1791703">
                  <a:moveTo>
                    <a:pt x="0" y="0"/>
                  </a:moveTo>
                  <a:lnTo>
                    <a:pt x="1791703" y="0"/>
                  </a:lnTo>
                  <a:lnTo>
                    <a:pt x="1791703" y="146618"/>
                  </a:lnTo>
                  <a:lnTo>
                    <a:pt x="0" y="146618"/>
                  </a:lnTo>
                  <a:close/>
                </a:path>
              </a:pathLst>
            </a:custGeom>
            <a:solidFill>
              <a:srgbClr val="3E7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791703" cy="118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0630358" y="1432248"/>
            <a:ext cx="7547707" cy="7547707"/>
          </a:xfrm>
          <a:custGeom>
            <a:avLst/>
            <a:gdLst/>
            <a:ahLst/>
            <a:cxnLst/>
            <a:rect r="r" b="b" t="t" l="l"/>
            <a:pathLst>
              <a:path h="7547707" w="7547707">
                <a:moveTo>
                  <a:pt x="7547708" y="0"/>
                </a:moveTo>
                <a:lnTo>
                  <a:pt x="0" y="0"/>
                </a:lnTo>
                <a:lnTo>
                  <a:pt x="0" y="7547707"/>
                </a:lnTo>
                <a:lnTo>
                  <a:pt x="7547708" y="7547707"/>
                </a:lnTo>
                <a:lnTo>
                  <a:pt x="754770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99738"/>
            <a:ext cx="9601658" cy="178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b="true" sz="6399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So,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at 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did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 p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oj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ect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ach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</a:t>
            </a:r>
            <a:r>
              <a:rPr lang="en-US" b="true" sz="6399" strike="noStrike" u="none">
                <a:solidFill>
                  <a:srgbClr val="253036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eve?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09720" y="587478"/>
            <a:ext cx="544958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b="true" sz="2400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THANK YOU FOR YOUR ATTENTION!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174" y="2947864"/>
            <a:ext cx="9970985" cy="25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Identified a major national health issue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Pinpointed the exact groups to target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Measured the impact of multiple interventions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Built a professional 7-page dashboard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Demonstrated complete data → insights → strategy pipeline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740521" y="1432248"/>
            <a:ext cx="1975479" cy="797600"/>
          </a:xfrm>
          <a:custGeom>
            <a:avLst/>
            <a:gdLst/>
            <a:ahLst/>
            <a:cxnLst/>
            <a:rect r="r" b="b" t="t" l="l"/>
            <a:pathLst>
              <a:path h="797600" w="1975479">
                <a:moveTo>
                  <a:pt x="0" y="0"/>
                </a:moveTo>
                <a:lnTo>
                  <a:pt x="1975479" y="0"/>
                </a:lnTo>
                <a:lnTo>
                  <a:pt x="1975479" y="797600"/>
                </a:lnTo>
                <a:lnTo>
                  <a:pt x="0" y="79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411849" y="8753578"/>
            <a:ext cx="28474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b="true">
                <a:solidFill>
                  <a:srgbClr val="F2F2F2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10/10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8410283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737346"/>
            <a:ext cx="9970985" cy="40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479F7"/>
                </a:solidFill>
                <a:latin typeface="Helvetica Now"/>
                <a:ea typeface="Helvetica Now"/>
                <a:cs typeface="Helvetica Now"/>
                <a:sym typeface="Helvetica Now"/>
              </a:rPr>
              <a:t>And most importantly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2200" y="6308900"/>
            <a:ext cx="9674933" cy="82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53036"/>
                </a:solidFill>
                <a:latin typeface="Helvetica Now"/>
                <a:ea typeface="Helvetica Now"/>
                <a:cs typeface="Helvetica Now"/>
                <a:sym typeface="Helvetica Now"/>
              </a:rPr>
              <a:t>This project converts raw data into real-world public health action.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7251984"/>
            <a:ext cx="6654171" cy="90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9"/>
              </a:lnSpc>
              <a:spcBef>
                <a:spcPct val="0"/>
              </a:spcBef>
            </a:pPr>
            <a:r>
              <a:rPr lang="en-US" sz="6399">
                <a:solidFill>
                  <a:srgbClr val="253036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-US" sz="6399" strike="noStrike" u="none">
                <a:solidFill>
                  <a:srgbClr val="253036"/>
                </a:solidFill>
                <a:latin typeface="Roboto Mono"/>
                <a:ea typeface="Roboto Mono"/>
                <a:cs typeface="Roboto Mono"/>
                <a:sym typeface="Roboto Mono"/>
              </a:rPr>
              <a:t>hank yo</a:t>
            </a:r>
            <a:r>
              <a:rPr lang="en-US" sz="6399" strike="noStrike" u="none">
                <a:solidFill>
                  <a:srgbClr val="253036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DAG6ts-aSyI</dc:identifier>
  <dcterms:modified xsi:type="dcterms:W3CDTF">2011-08-01T06:04:30Z</dcterms:modified>
  <cp:revision>1</cp:revision>
  <dc:title>Kids’ Screentime Visualization Project</dc:title>
</cp:coreProperties>
</file>
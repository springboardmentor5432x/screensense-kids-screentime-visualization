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50" d="100"/>
          <a:sy n="50" d="100"/>
        </p:scale>
        <p:origin x="1234" y="9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4E3C-5C47-69D0-C2E7-5A06BFD387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9FC31F-D639-8996-F645-C4EC3424F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A58CBD-BEED-4281-B3B8-B9987A31CEB8}"/>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B71BA5A8-4036-D847-4955-DCE70A554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4C8881-F327-80C9-ED5C-2E65543737DC}"/>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2828815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D003-F65C-281A-C60B-0C59F214D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9B495D-DC1E-56C7-8638-4677711B8A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90319E-0138-D5B3-5D69-D0D8CCBE4BED}"/>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E79B5A02-19FF-0549-FF95-D6ECC8452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2C10B-5ABE-A81B-441C-17CE92BD29AE}"/>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3939000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EFEF-37D4-3D98-6FA6-B84DC70DE1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093272-F0E4-2119-ECE2-4ADA1A1FEC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156F01-7298-7F5E-BC4A-2C885ADFFA48}"/>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A320175A-DF3D-2778-0B6B-72F6A7DB93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C992AB-073A-911A-E23D-747A32A296D7}"/>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3608501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7D471-A1DD-38B0-A114-A8E6335F8B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4CA2CC-0E94-13D9-6CD0-6B56119DF5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2C5750-5A83-5F96-E6B5-8223CE4F48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C3CC30-A6C3-24D8-54A7-8FCA43DB8FD4}"/>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6" name="Footer Placeholder 5">
            <a:extLst>
              <a:ext uri="{FF2B5EF4-FFF2-40B4-BE49-F238E27FC236}">
                <a16:creationId xmlns:a16="http://schemas.microsoft.com/office/drawing/2014/main" id="{58613DB1-564D-6B6E-2BD1-AC6A6B7EA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3D2D9-08E9-A5B2-325E-CE907AD827D9}"/>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139762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0779-530B-E00B-3354-22D8A354C0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28838A-2746-DE90-AF44-29BD32447E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6E63BE-D236-FC0B-34DB-1D312B101C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807F1F-73E1-1D5D-7F42-378DFA07DE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5714B9-9DAF-D139-2224-079C6D5C71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C7F744-5007-9ECD-672D-18CD14323A06}"/>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8" name="Footer Placeholder 7">
            <a:extLst>
              <a:ext uri="{FF2B5EF4-FFF2-40B4-BE49-F238E27FC236}">
                <a16:creationId xmlns:a16="http://schemas.microsoft.com/office/drawing/2014/main" id="{5A5A9598-A135-D7BE-DED5-1D6D934B02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FEAE13-E14B-08BD-B4D0-069CC2DBA35C}"/>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4021484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0BFD7-F961-E61F-D488-1B2E6E7E98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B4E897-975D-05D7-557D-8F6CB0AC9D11}"/>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4" name="Footer Placeholder 3">
            <a:extLst>
              <a:ext uri="{FF2B5EF4-FFF2-40B4-BE49-F238E27FC236}">
                <a16:creationId xmlns:a16="http://schemas.microsoft.com/office/drawing/2014/main" id="{68E5DB0D-2B44-48FE-F77F-43A6267F7B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F7B591-581E-A7DA-3BF5-C059AD33CB2C}"/>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2410247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741CA-B3D0-244A-670C-16558670E091}"/>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3" name="Footer Placeholder 2">
            <a:extLst>
              <a:ext uri="{FF2B5EF4-FFF2-40B4-BE49-F238E27FC236}">
                <a16:creationId xmlns:a16="http://schemas.microsoft.com/office/drawing/2014/main" id="{97402E2B-473F-3F35-91B7-8918945F1D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397AD1-4B76-5256-7A70-A91CF46FD14C}"/>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3848331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85F4-6310-38C9-E73E-0A56B2DDF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FB9309-88B4-3EDF-9611-9E1D81C6DE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DD5309-3E79-4B37-0EF4-CA6FB1207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A016E9-2A09-B95E-A273-580EEBBA4369}"/>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6" name="Footer Placeholder 5">
            <a:extLst>
              <a:ext uri="{FF2B5EF4-FFF2-40B4-BE49-F238E27FC236}">
                <a16:creationId xmlns:a16="http://schemas.microsoft.com/office/drawing/2014/main" id="{9A420C60-4D08-7FEB-5EE6-FB63427CF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F144C3-56A0-F02A-865A-F13177A59F47}"/>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2218367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3B29-0611-6D32-5B28-398BAC16AA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C5077C-794E-FC00-77AA-65E8654B89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BE510-49E0-CF8A-512F-E8ED39415C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66AF19-8C4E-9625-83AE-D6D2EE279C05}"/>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6" name="Footer Placeholder 5">
            <a:extLst>
              <a:ext uri="{FF2B5EF4-FFF2-40B4-BE49-F238E27FC236}">
                <a16:creationId xmlns:a16="http://schemas.microsoft.com/office/drawing/2014/main" id="{8544F45A-719A-5017-E138-5FFFE7FFB5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34788-D66F-218F-F631-4AAC31A544F5}"/>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886513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58EA-9944-ABBA-8FFF-172605A3B9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60B724-8D73-8473-4D86-19C609865B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312A7-9909-9A36-19AD-237A34A29045}"/>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8FF8CDEB-1DB0-986A-9745-6B9BBD513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398FB-D567-48BA-CB74-832805526A23}"/>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198334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6B504D-D00F-E154-719F-9AF62C9956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2FF5B4-1EFC-2C70-2C6E-CCB6384848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C49FF-1569-C7FF-6364-9060A35A51AE}"/>
              </a:ext>
            </a:extLst>
          </p:cNvPr>
          <p:cNvSpPr>
            <a:spLocks noGrp="1"/>
          </p:cNvSpPr>
          <p:nvPr>
            <p:ph type="dt" sz="half" idx="10"/>
          </p:nvPr>
        </p:nvSpPr>
        <p:spPr/>
        <p:txBody>
          <a:body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B54171B1-870A-D216-6CDC-4932D10309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584EC-E762-9595-35BB-1CED269EF179}"/>
              </a:ext>
            </a:extLst>
          </p:cNvPr>
          <p:cNvSpPr>
            <a:spLocks noGrp="1"/>
          </p:cNvSpPr>
          <p:nvPr>
            <p:ph type="sldNum" sz="quarter" idx="12"/>
          </p:nvPr>
        </p:nvSpPr>
        <p:spPr/>
        <p:txBody>
          <a:bodyPr/>
          <a:lstStyle/>
          <a:p>
            <a:fld id="{CEB66A8E-C499-4D9C-8D18-5D955D4302EA}" type="slidenum">
              <a:rPr lang="en-US" smtClean="0"/>
              <a:t>‹#›</a:t>
            </a:fld>
            <a:endParaRPr lang="en-US"/>
          </a:p>
        </p:txBody>
      </p:sp>
    </p:spTree>
    <p:extLst>
      <p:ext uri="{BB962C8B-B14F-4D97-AF65-F5344CB8AC3E}">
        <p14:creationId xmlns:p14="http://schemas.microsoft.com/office/powerpoint/2010/main" val="882282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EA8A0-80D4-7DE4-33F7-59B3717A44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77290C-9BF4-CE55-5B78-81C8B29E8F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1F3695-415A-658B-E04F-22525849E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70ACCE-778B-489B-8B8C-805AAD106F4F}" type="datetimeFigureOut">
              <a:rPr lang="en-US" smtClean="0"/>
              <a:t>10/17/2025</a:t>
            </a:fld>
            <a:endParaRPr lang="en-US"/>
          </a:p>
        </p:txBody>
      </p:sp>
      <p:sp>
        <p:nvSpPr>
          <p:cNvPr id="5" name="Footer Placeholder 4">
            <a:extLst>
              <a:ext uri="{FF2B5EF4-FFF2-40B4-BE49-F238E27FC236}">
                <a16:creationId xmlns:a16="http://schemas.microsoft.com/office/drawing/2014/main" id="{AB5FFC97-E216-7CCE-7DC9-2B50B4F189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B2871D-2498-8C02-E39C-A143175F73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B66A8E-C499-4D9C-8D18-5D955D4302EA}" type="slidenum">
              <a:rPr lang="en-US" smtClean="0"/>
              <a:t>‹#›</a:t>
            </a:fld>
            <a:endParaRPr lang="en-US"/>
          </a:p>
        </p:txBody>
      </p:sp>
    </p:spTree>
    <p:extLst>
      <p:ext uri="{BB962C8B-B14F-4D97-AF65-F5344CB8AC3E}">
        <p14:creationId xmlns:p14="http://schemas.microsoft.com/office/powerpoint/2010/main" val="502113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1F71-3B09-688F-C681-1A229812F435}"/>
              </a:ext>
            </a:extLst>
          </p:cNvPr>
          <p:cNvSpPr>
            <a:spLocks noGrp="1"/>
          </p:cNvSpPr>
          <p:nvPr>
            <p:ph type="ctrTitle"/>
          </p:nvPr>
        </p:nvSpPr>
        <p:spPr>
          <a:xfrm>
            <a:off x="1328420" y="245533"/>
            <a:ext cx="9144000" cy="812800"/>
          </a:xfrm>
        </p:spPr>
        <p:txBody>
          <a:bodyPr>
            <a:normAutofit/>
          </a:bodyPr>
          <a:lstStyle/>
          <a:p>
            <a:r>
              <a:rPr lang="en-US" sz="4000" b="1" dirty="0"/>
              <a:t>Analysis of Kid’s Screen Time</a:t>
            </a:r>
          </a:p>
        </p:txBody>
      </p:sp>
      <p:sp>
        <p:nvSpPr>
          <p:cNvPr id="3" name="Subtitle 2">
            <a:extLst>
              <a:ext uri="{FF2B5EF4-FFF2-40B4-BE49-F238E27FC236}">
                <a16:creationId xmlns:a16="http://schemas.microsoft.com/office/drawing/2014/main" id="{C2F0026D-C558-B524-2192-B39C216772B8}"/>
              </a:ext>
            </a:extLst>
          </p:cNvPr>
          <p:cNvSpPr>
            <a:spLocks noGrp="1"/>
          </p:cNvSpPr>
          <p:nvPr>
            <p:ph type="subTitle" idx="1"/>
          </p:nvPr>
        </p:nvSpPr>
        <p:spPr>
          <a:xfrm>
            <a:off x="1524000" y="1371601"/>
            <a:ext cx="9144000" cy="499532"/>
          </a:xfrm>
        </p:spPr>
        <p:txBody>
          <a:bodyPr/>
          <a:lstStyle/>
          <a:p>
            <a:r>
              <a:rPr lang="en-US" dirty="0"/>
              <a:t>Week 1 Report – Project Initialization and Data Setup </a:t>
            </a:r>
          </a:p>
        </p:txBody>
      </p:sp>
      <p:sp>
        <p:nvSpPr>
          <p:cNvPr id="4" name="TextBox 3">
            <a:extLst>
              <a:ext uri="{FF2B5EF4-FFF2-40B4-BE49-F238E27FC236}">
                <a16:creationId xmlns:a16="http://schemas.microsoft.com/office/drawing/2014/main" id="{A5B090BE-4022-650A-F0C3-693CAEE52782}"/>
              </a:ext>
            </a:extLst>
          </p:cNvPr>
          <p:cNvSpPr txBox="1"/>
          <p:nvPr/>
        </p:nvSpPr>
        <p:spPr>
          <a:xfrm>
            <a:off x="762000" y="2184401"/>
            <a:ext cx="10911840" cy="3724096"/>
          </a:xfrm>
          <a:prstGeom prst="rect">
            <a:avLst/>
          </a:prstGeom>
          <a:noFill/>
        </p:spPr>
        <p:txBody>
          <a:bodyPr wrap="square" rtlCol="0">
            <a:spAutoFit/>
          </a:bodyPr>
          <a:lstStyle/>
          <a:p>
            <a:r>
              <a:rPr lang="en-US" sz="2000" b="1" dirty="0">
                <a:solidFill>
                  <a:schemeClr val="accent1">
                    <a:lumMod val="60000"/>
                    <a:lumOff val="40000"/>
                  </a:schemeClr>
                </a:solidFill>
              </a:rPr>
              <a:t>Purpose of the Week 1:</a:t>
            </a:r>
          </a:p>
          <a:p>
            <a:r>
              <a:rPr lang="en-US" dirty="0"/>
              <a:t>The primary objective for Week 1 was to set up the project environment, import the dataset, and examine its structure to assess data quality and identify key patterns. This phase serves as the groundwork for upcoming stages — including preprocessing, feature engineering, and visualization — focused on analyzing children’s screen time habits to provide meaningful insights for parents, teachers, and policymakers.</a:t>
            </a:r>
          </a:p>
          <a:p>
            <a:endParaRPr lang="en-US" dirty="0"/>
          </a:p>
          <a:p>
            <a:r>
              <a:rPr lang="en-US" sz="2000" b="1" dirty="0">
                <a:solidFill>
                  <a:schemeClr val="accent1">
                    <a:lumMod val="60000"/>
                    <a:lumOff val="40000"/>
                  </a:schemeClr>
                </a:solidFill>
              </a:rPr>
              <a:t>2. IMPLEMENTATION</a:t>
            </a:r>
            <a:br>
              <a:rPr lang="en-US" dirty="0"/>
            </a:br>
            <a:r>
              <a:rPr lang="en-US" b="1" dirty="0"/>
              <a:t>Step 1: </a:t>
            </a:r>
            <a:r>
              <a:rPr lang="en-US" sz="1600" b="1" dirty="0"/>
              <a:t>Importing Essential Libraries</a:t>
            </a:r>
            <a:br>
              <a:rPr lang="en-US" sz="1600" dirty="0"/>
            </a:br>
            <a:r>
              <a:rPr lang="en-US" dirty="0"/>
              <a:t>Python libraries like </a:t>
            </a:r>
            <a:r>
              <a:rPr lang="en-US" b="1" dirty="0"/>
              <a:t>Pandas</a:t>
            </a:r>
            <a:r>
              <a:rPr lang="en-US" dirty="0"/>
              <a:t>, </a:t>
            </a:r>
            <a:r>
              <a:rPr lang="en-US" b="1" dirty="0"/>
              <a:t>NumPy</a:t>
            </a:r>
            <a:r>
              <a:rPr lang="en-US" dirty="0"/>
              <a:t>, </a:t>
            </a:r>
            <a:r>
              <a:rPr lang="en-US" b="1" dirty="0"/>
              <a:t>Matplotlib</a:t>
            </a:r>
            <a:r>
              <a:rPr lang="en-US" dirty="0"/>
              <a:t>, and </a:t>
            </a:r>
            <a:r>
              <a:rPr lang="en-US" b="1" dirty="0"/>
              <a:t>Seaborn</a:t>
            </a:r>
            <a:r>
              <a:rPr lang="en-US" dirty="0"/>
              <a:t> were imported to support data manipulation, analysis, and visualization tasks. These libraries form the backbone of the project, enabling efficient data processing and insightful graphical representation.</a:t>
            </a:r>
          </a:p>
          <a:p>
            <a:endParaRPr lang="en-US" dirty="0"/>
          </a:p>
          <a:p>
            <a:endParaRPr lang="en-US" dirty="0"/>
          </a:p>
        </p:txBody>
      </p:sp>
      <p:pic>
        <p:nvPicPr>
          <p:cNvPr id="7" name="Picture 6">
            <a:extLst>
              <a:ext uri="{FF2B5EF4-FFF2-40B4-BE49-F238E27FC236}">
                <a16:creationId xmlns:a16="http://schemas.microsoft.com/office/drawing/2014/main" id="{5039B27B-AA85-37DF-385C-59E20E6B95CE}"/>
              </a:ext>
            </a:extLst>
          </p:cNvPr>
          <p:cNvPicPr>
            <a:picLocks noChangeAspect="1"/>
          </p:cNvPicPr>
          <p:nvPr/>
        </p:nvPicPr>
        <p:blipFill>
          <a:blip r:embed="rId2"/>
          <a:stretch>
            <a:fillRect/>
          </a:stretch>
        </p:blipFill>
        <p:spPr>
          <a:xfrm>
            <a:off x="1950720" y="5485550"/>
            <a:ext cx="6563360" cy="1126917"/>
          </a:xfrm>
          <a:prstGeom prst="rect">
            <a:avLst/>
          </a:prstGeom>
        </p:spPr>
      </p:pic>
    </p:spTree>
    <p:extLst>
      <p:ext uri="{BB962C8B-B14F-4D97-AF65-F5344CB8AC3E}">
        <p14:creationId xmlns:p14="http://schemas.microsoft.com/office/powerpoint/2010/main" val="1787744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A38730-2A3E-C978-51C9-4E4E5FBE001E}"/>
              </a:ext>
            </a:extLst>
          </p:cNvPr>
          <p:cNvSpPr>
            <a:spLocks noGrp="1"/>
          </p:cNvSpPr>
          <p:nvPr>
            <p:ph idx="1"/>
          </p:nvPr>
        </p:nvSpPr>
        <p:spPr>
          <a:xfrm>
            <a:off x="838200" y="372532"/>
            <a:ext cx="10515600" cy="6373707"/>
          </a:xfrm>
        </p:spPr>
        <p:txBody>
          <a:bodyPr>
            <a:normAutofit/>
          </a:bodyPr>
          <a:lstStyle/>
          <a:p>
            <a:pPr marL="0" indent="0">
              <a:buNone/>
            </a:pPr>
            <a:r>
              <a:rPr lang="en-US" sz="2000" b="1" dirty="0">
                <a:solidFill>
                  <a:schemeClr val="accent1">
                    <a:lumMod val="60000"/>
                    <a:lumOff val="40000"/>
                  </a:schemeClr>
                </a:solidFill>
              </a:rPr>
              <a:t>Step 2</a:t>
            </a:r>
            <a:r>
              <a:rPr lang="en-US" sz="2000" dirty="0"/>
              <a:t>: Dataset Loading Loaded the 'Indian Kids Screentime 2025' dataset and verified successful import with 9,712 rows and 8 columns.</a:t>
            </a:r>
          </a:p>
          <a:p>
            <a:endParaRPr lang="en-US" sz="2000" dirty="0"/>
          </a:p>
          <a:p>
            <a:endParaRPr lang="en-US" sz="2000" b="1" dirty="0"/>
          </a:p>
          <a:p>
            <a:pPr marL="0" indent="0">
              <a:buNone/>
            </a:pPr>
            <a:r>
              <a:rPr lang="en-US" sz="2000" b="1" dirty="0">
                <a:solidFill>
                  <a:schemeClr val="accent1">
                    <a:lumMod val="60000"/>
                    <a:lumOff val="40000"/>
                  </a:schemeClr>
                </a:solidFill>
              </a:rPr>
              <a:t>Step 3</a:t>
            </a:r>
            <a:r>
              <a:rPr lang="en-US" sz="2000" b="1" dirty="0"/>
              <a:t>: Data Structure and Summary Analysis</a:t>
            </a:r>
            <a:br>
              <a:rPr lang="en-US" sz="2000" dirty="0"/>
            </a:br>
            <a:r>
              <a:rPr lang="en-US" sz="2000" dirty="0"/>
              <a:t>To gain an initial understanding of the dataset, the functions </a:t>
            </a:r>
            <a:r>
              <a:rPr lang="en-US" sz="2000" b="1" dirty="0"/>
              <a:t>df.info()</a:t>
            </a:r>
            <a:r>
              <a:rPr lang="en-US" sz="2000" dirty="0"/>
              <a:t> and </a:t>
            </a:r>
            <a:r>
              <a:rPr lang="en-US" sz="2000" b="1" dirty="0" err="1"/>
              <a:t>df.describe</a:t>
            </a:r>
            <a:r>
              <a:rPr lang="en-US" sz="2000" b="1" dirty="0"/>
              <a:t>()</a:t>
            </a:r>
            <a:r>
              <a:rPr lang="en-US" sz="2000" dirty="0"/>
              <a:t> were used. The </a:t>
            </a:r>
            <a:r>
              <a:rPr lang="en-US" sz="2000" b="1" dirty="0"/>
              <a:t>df.info()</a:t>
            </a:r>
            <a:r>
              <a:rPr lang="en-US" sz="2000" dirty="0"/>
              <a:t> method provided a detailed overview of the dataset’s structure, including the number of entries, column names, and their respective data types. Meanwhile, </a:t>
            </a:r>
            <a:r>
              <a:rPr lang="en-US" sz="2000" b="1" dirty="0" err="1"/>
              <a:t>df.describe</a:t>
            </a:r>
            <a:r>
              <a:rPr lang="en-US" sz="2000" b="1" dirty="0"/>
              <a:t>()</a:t>
            </a:r>
            <a:r>
              <a:rPr lang="en-US" sz="2000" dirty="0"/>
              <a:t> generated summary statistics such as mean, median, standard deviation, minimum, and maximum values for numerical features.</a:t>
            </a:r>
          </a:p>
          <a:p>
            <a:endParaRPr lang="en-US" sz="2000" dirty="0"/>
          </a:p>
          <a:p>
            <a:endParaRPr lang="en-US" sz="2000" b="1" dirty="0"/>
          </a:p>
          <a:p>
            <a:endParaRPr lang="en-US" sz="2000" b="1" dirty="0"/>
          </a:p>
          <a:p>
            <a:endParaRPr lang="en-US" sz="2000" b="1" dirty="0"/>
          </a:p>
          <a:p>
            <a:endParaRPr lang="en-US" sz="2000" dirty="0"/>
          </a:p>
          <a:p>
            <a:endParaRPr lang="en-US" sz="2000" dirty="0"/>
          </a:p>
          <a:p>
            <a:endParaRPr lang="en-US" sz="2000" dirty="0"/>
          </a:p>
        </p:txBody>
      </p:sp>
      <p:pic>
        <p:nvPicPr>
          <p:cNvPr id="5" name="Picture 4">
            <a:extLst>
              <a:ext uri="{FF2B5EF4-FFF2-40B4-BE49-F238E27FC236}">
                <a16:creationId xmlns:a16="http://schemas.microsoft.com/office/drawing/2014/main" id="{1ED294D1-531F-124B-AFEB-487AC25E2B05}"/>
              </a:ext>
            </a:extLst>
          </p:cNvPr>
          <p:cNvPicPr>
            <a:picLocks noChangeAspect="1"/>
          </p:cNvPicPr>
          <p:nvPr/>
        </p:nvPicPr>
        <p:blipFill>
          <a:blip r:embed="rId2"/>
          <a:stretch>
            <a:fillRect/>
          </a:stretch>
        </p:blipFill>
        <p:spPr>
          <a:xfrm>
            <a:off x="3544384" y="1041883"/>
            <a:ext cx="5254176" cy="692168"/>
          </a:xfrm>
          <a:prstGeom prst="rect">
            <a:avLst/>
          </a:prstGeom>
        </p:spPr>
      </p:pic>
      <p:pic>
        <p:nvPicPr>
          <p:cNvPr id="7" name="Picture 6">
            <a:extLst>
              <a:ext uri="{FF2B5EF4-FFF2-40B4-BE49-F238E27FC236}">
                <a16:creationId xmlns:a16="http://schemas.microsoft.com/office/drawing/2014/main" id="{16E2BD5B-4674-AEEB-C14E-4FAFBEE939B7}"/>
              </a:ext>
            </a:extLst>
          </p:cNvPr>
          <p:cNvPicPr>
            <a:picLocks noChangeAspect="1"/>
          </p:cNvPicPr>
          <p:nvPr/>
        </p:nvPicPr>
        <p:blipFill>
          <a:blip r:embed="rId3"/>
          <a:stretch>
            <a:fillRect/>
          </a:stretch>
        </p:blipFill>
        <p:spPr>
          <a:xfrm>
            <a:off x="1569720" y="3604857"/>
            <a:ext cx="9052559" cy="2880610"/>
          </a:xfrm>
          <a:prstGeom prst="rect">
            <a:avLst/>
          </a:prstGeom>
        </p:spPr>
      </p:pic>
    </p:spTree>
    <p:extLst>
      <p:ext uri="{BB962C8B-B14F-4D97-AF65-F5344CB8AC3E}">
        <p14:creationId xmlns:p14="http://schemas.microsoft.com/office/powerpoint/2010/main" val="3849990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CC1D7-0341-8487-2525-C5D1618D5B67}"/>
              </a:ext>
            </a:extLst>
          </p:cNvPr>
          <p:cNvSpPr>
            <a:spLocks noGrp="1"/>
          </p:cNvSpPr>
          <p:nvPr>
            <p:ph type="title"/>
          </p:nvPr>
        </p:nvSpPr>
        <p:spPr>
          <a:xfrm>
            <a:off x="838200" y="-518160"/>
            <a:ext cx="10515600" cy="7376160"/>
          </a:xfrm>
        </p:spPr>
        <p:txBody>
          <a:bodyPr>
            <a:noAutofit/>
          </a:bodyPr>
          <a:lstStyle/>
          <a:p>
            <a:br>
              <a:rPr lang="en-US" sz="2000" b="1" dirty="0"/>
            </a:br>
            <a:r>
              <a:rPr lang="en-US" sz="2000" b="1" dirty="0">
                <a:solidFill>
                  <a:schemeClr val="accent1">
                    <a:lumMod val="60000"/>
                    <a:lumOff val="40000"/>
                  </a:schemeClr>
                </a:solidFill>
              </a:rPr>
              <a:t>Step 4 </a:t>
            </a:r>
            <a:r>
              <a:rPr lang="en-US" sz="2000" b="1" dirty="0"/>
              <a:t>: Missing Value Analysis</a:t>
            </a:r>
            <a:br>
              <a:rPr lang="en-US" sz="2000" b="1" dirty="0"/>
            </a:br>
            <a:r>
              <a:rPr lang="en-US" sz="2000" dirty="0"/>
              <a:t>The command </a:t>
            </a:r>
            <a:r>
              <a:rPr lang="en-US" sz="2000" b="1" dirty="0" err="1"/>
              <a:t>df.isnull</a:t>
            </a:r>
            <a:r>
              <a:rPr lang="en-US" sz="2000" b="1" dirty="0"/>
              <a:t>().sum()</a:t>
            </a:r>
            <a:r>
              <a:rPr lang="en-US" sz="2000" dirty="0"/>
              <a:t> was used to check for missing values in each column. Most columns had </a:t>
            </a:r>
            <a:r>
              <a:rPr lang="en-US" sz="2000" b="1" dirty="0"/>
              <a:t>no missing data</a:t>
            </a:r>
            <a:r>
              <a:rPr lang="en-US" sz="2000" dirty="0"/>
              <a:t>, ensuring consistency. However, the </a:t>
            </a:r>
            <a:r>
              <a:rPr lang="en-US" sz="2000" b="1" dirty="0"/>
              <a:t>‘</a:t>
            </a:r>
            <a:r>
              <a:rPr lang="en-US" sz="2000" b="1" dirty="0" err="1"/>
              <a:t>Health_Impacts</a:t>
            </a:r>
            <a:r>
              <a:rPr lang="en-US" sz="2000" b="1" dirty="0"/>
              <a:t>’</a:t>
            </a:r>
            <a:r>
              <a:rPr lang="en-US" sz="2000" dirty="0"/>
              <a:t> column showed </a:t>
            </a:r>
            <a:r>
              <a:rPr lang="en-US" sz="2000" b="1" dirty="0"/>
              <a:t>3218 missing values</a:t>
            </a:r>
            <a:r>
              <a:rPr lang="en-US" sz="2000" dirty="0"/>
              <a:t>, which need to be addressed during preprocessing for accurate analysis.</a:t>
            </a:r>
            <a:br>
              <a:rPr lang="en-US" sz="2000" dirty="0"/>
            </a:br>
            <a:br>
              <a:rPr lang="en-US" sz="2000" dirty="0"/>
            </a:br>
            <a:br>
              <a:rPr lang="en-US" sz="2000" dirty="0"/>
            </a:br>
            <a:br>
              <a:rPr lang="en-US" sz="2000" dirty="0"/>
            </a:br>
            <a:br>
              <a:rPr lang="en-US" sz="2000" dirty="0"/>
            </a:br>
            <a:br>
              <a:rPr lang="en-US" sz="2000" dirty="0"/>
            </a:br>
            <a:br>
              <a:rPr lang="en-US" sz="2000" b="1" dirty="0"/>
            </a:br>
            <a:br>
              <a:rPr lang="en-US" sz="2000" b="1" dirty="0"/>
            </a:br>
            <a:br>
              <a:rPr lang="en-US" sz="2000" b="1" dirty="0"/>
            </a:br>
            <a:br>
              <a:rPr lang="en-US" sz="2000" b="1" dirty="0"/>
            </a:br>
            <a:br>
              <a:rPr lang="en-US" sz="2000" b="1" dirty="0"/>
            </a:br>
            <a:br>
              <a:rPr lang="en-US" sz="2000" b="1" dirty="0"/>
            </a:br>
            <a:r>
              <a:rPr lang="en-US" sz="2000" b="1" dirty="0">
                <a:solidFill>
                  <a:schemeClr val="accent1">
                    <a:lumMod val="60000"/>
                    <a:lumOff val="40000"/>
                  </a:schemeClr>
                </a:solidFill>
              </a:rPr>
              <a:t>Step 5 </a:t>
            </a:r>
            <a:r>
              <a:rPr lang="en-US" sz="2000" b="1" dirty="0"/>
              <a:t>: Handling Missing Data</a:t>
            </a:r>
            <a:br>
              <a:rPr lang="en-US" sz="2000" b="1" dirty="0"/>
            </a:br>
            <a:r>
              <a:rPr lang="en-US" sz="2000" dirty="0"/>
              <a:t>To manage missing entries in the </a:t>
            </a:r>
            <a:r>
              <a:rPr lang="en-US" sz="2000" b="1" dirty="0"/>
              <a:t>‘</a:t>
            </a:r>
            <a:r>
              <a:rPr lang="en-US" sz="2000" b="1" dirty="0" err="1"/>
              <a:t>Health_Impacts</a:t>
            </a:r>
            <a:r>
              <a:rPr lang="en-US" sz="2000" b="1" dirty="0"/>
              <a:t>’</a:t>
            </a:r>
            <a:r>
              <a:rPr lang="en-US" sz="2000" dirty="0"/>
              <a:t> column, the </a:t>
            </a:r>
            <a:r>
              <a:rPr lang="en-US" sz="2000" b="1" dirty="0" err="1"/>
              <a:t>fillna</a:t>
            </a:r>
            <a:r>
              <a:rPr lang="en-US" sz="2000" b="1" dirty="0"/>
              <a:t>('Unknown')</a:t>
            </a:r>
            <a:r>
              <a:rPr lang="en-US" sz="2000" dirty="0"/>
              <a:t> method was applied. This replaced all null values with </a:t>
            </a:r>
            <a:r>
              <a:rPr lang="en-US" sz="2000" b="1" dirty="0"/>
              <a:t>‘Unknown’</a:t>
            </a:r>
            <a:r>
              <a:rPr lang="en-US" sz="2000" dirty="0"/>
              <a:t>, ensuring data consistency and preventing errors during analysis.</a:t>
            </a:r>
            <a:br>
              <a:rPr lang="en-US" sz="2000" dirty="0"/>
            </a:br>
            <a:br>
              <a:rPr lang="en-US" sz="2000" dirty="0"/>
            </a:br>
            <a:br>
              <a:rPr lang="en-US" sz="2000" dirty="0"/>
            </a:br>
            <a:endParaRPr lang="en-US" sz="2000" dirty="0"/>
          </a:p>
        </p:txBody>
      </p:sp>
      <p:sp>
        <p:nvSpPr>
          <p:cNvPr id="3" name="Content Placeholder 2">
            <a:extLst>
              <a:ext uri="{FF2B5EF4-FFF2-40B4-BE49-F238E27FC236}">
                <a16:creationId xmlns:a16="http://schemas.microsoft.com/office/drawing/2014/main" id="{0D542F96-B26D-D2FC-367C-F4070AAFDD35}"/>
              </a:ext>
            </a:extLst>
          </p:cNvPr>
          <p:cNvSpPr>
            <a:spLocks noGrp="1"/>
          </p:cNvSpPr>
          <p:nvPr>
            <p:ph idx="1"/>
          </p:nvPr>
        </p:nvSpPr>
        <p:spPr>
          <a:xfrm flipV="1">
            <a:off x="-1366520" y="5704460"/>
            <a:ext cx="584200" cy="193357"/>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0A3FCD92-3A1D-786D-3845-DEA1C9412937}"/>
              </a:ext>
            </a:extLst>
          </p:cNvPr>
          <p:cNvPicPr>
            <a:picLocks noChangeAspect="1"/>
          </p:cNvPicPr>
          <p:nvPr/>
        </p:nvPicPr>
        <p:blipFill>
          <a:blip r:embed="rId2"/>
          <a:stretch>
            <a:fillRect/>
          </a:stretch>
        </p:blipFill>
        <p:spPr>
          <a:xfrm>
            <a:off x="2297259" y="1447715"/>
            <a:ext cx="6958501" cy="2606125"/>
          </a:xfrm>
          <a:prstGeom prst="rect">
            <a:avLst/>
          </a:prstGeom>
        </p:spPr>
      </p:pic>
      <p:pic>
        <p:nvPicPr>
          <p:cNvPr id="7" name="Picture 6">
            <a:extLst>
              <a:ext uri="{FF2B5EF4-FFF2-40B4-BE49-F238E27FC236}">
                <a16:creationId xmlns:a16="http://schemas.microsoft.com/office/drawing/2014/main" id="{F4004E01-7EF9-31CC-2F82-90CB55448B24}"/>
              </a:ext>
            </a:extLst>
          </p:cNvPr>
          <p:cNvPicPr>
            <a:picLocks noChangeAspect="1"/>
          </p:cNvPicPr>
          <p:nvPr/>
        </p:nvPicPr>
        <p:blipFill>
          <a:blip r:embed="rId3"/>
          <a:stretch>
            <a:fillRect/>
          </a:stretch>
        </p:blipFill>
        <p:spPr>
          <a:xfrm>
            <a:off x="2297258" y="5704460"/>
            <a:ext cx="6958501" cy="945006"/>
          </a:xfrm>
          <a:prstGeom prst="rect">
            <a:avLst/>
          </a:prstGeom>
        </p:spPr>
      </p:pic>
    </p:spTree>
    <p:extLst>
      <p:ext uri="{BB962C8B-B14F-4D97-AF65-F5344CB8AC3E}">
        <p14:creationId xmlns:p14="http://schemas.microsoft.com/office/powerpoint/2010/main" val="82664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DA10C-3EC7-7E70-7CCC-82ADDAD9B6B2}"/>
              </a:ext>
            </a:extLst>
          </p:cNvPr>
          <p:cNvSpPr>
            <a:spLocks noGrp="1"/>
          </p:cNvSpPr>
          <p:nvPr>
            <p:ph type="title"/>
          </p:nvPr>
        </p:nvSpPr>
        <p:spPr>
          <a:xfrm flipH="1">
            <a:off x="-1202267" y="365125"/>
            <a:ext cx="601376" cy="3968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9A3024BA-6F45-E3E0-2F63-5C746BA7C0A8}"/>
              </a:ext>
            </a:extLst>
          </p:cNvPr>
          <p:cNvSpPr>
            <a:spLocks noGrp="1"/>
          </p:cNvSpPr>
          <p:nvPr>
            <p:ph idx="1"/>
          </p:nvPr>
        </p:nvSpPr>
        <p:spPr>
          <a:xfrm>
            <a:off x="838200" y="375285"/>
            <a:ext cx="11120120" cy="5811838"/>
          </a:xfrm>
        </p:spPr>
        <p:txBody>
          <a:bodyPr>
            <a:normAutofit/>
          </a:bodyPr>
          <a:lstStyle/>
          <a:p>
            <a:pPr marL="0" indent="0">
              <a:buNone/>
            </a:pPr>
            <a:r>
              <a:rPr lang="en-US" sz="1800" b="1" dirty="0">
                <a:solidFill>
                  <a:schemeClr val="accent1">
                    <a:lumMod val="60000"/>
                    <a:lumOff val="40000"/>
                  </a:schemeClr>
                </a:solidFill>
              </a:rPr>
              <a:t>Step 6 </a:t>
            </a:r>
            <a:r>
              <a:rPr lang="en-US" sz="1800" b="1" dirty="0"/>
              <a:t>: Demographic and Device Distribution Analysis</a:t>
            </a:r>
            <a:br>
              <a:rPr lang="en-US" sz="1800" b="1" dirty="0"/>
            </a:br>
            <a:r>
              <a:rPr lang="en-US" sz="1800" dirty="0"/>
              <a:t>The dataset was analyzed to understand the distribution of key demographic and usage factors using the </a:t>
            </a:r>
            <a:r>
              <a:rPr lang="en-US" sz="1800" b="1" dirty="0" err="1"/>
              <a:t>value_counts</a:t>
            </a:r>
            <a:r>
              <a:rPr lang="en-US" sz="1800" b="1" dirty="0"/>
              <a:t>()</a:t>
            </a:r>
            <a:r>
              <a:rPr lang="en-US" sz="1800" dirty="0"/>
              <a:t> function.</a:t>
            </a:r>
            <a:br>
              <a:rPr lang="en-US" sz="1800" dirty="0"/>
            </a:br>
            <a:r>
              <a:rPr lang="en-US" sz="1800" b="1" dirty="0">
                <a:solidFill>
                  <a:schemeClr val="accent2">
                    <a:lumMod val="60000"/>
                    <a:lumOff val="40000"/>
                  </a:schemeClr>
                </a:solidFill>
              </a:rPr>
              <a:t>Urban vs Rural</a:t>
            </a:r>
            <a:r>
              <a:rPr lang="en-US" sz="1800" b="1" dirty="0"/>
              <a:t>:</a:t>
            </a:r>
            <a:r>
              <a:rPr lang="en-US" sz="1800" dirty="0"/>
              <a:t> Out of all participants, </a:t>
            </a:r>
            <a:r>
              <a:rPr lang="en-US" sz="1800" b="1" dirty="0"/>
              <a:t>6,851</a:t>
            </a:r>
            <a:r>
              <a:rPr lang="en-US" sz="1800" dirty="0"/>
              <a:t> were from urban areas and </a:t>
            </a:r>
            <a:r>
              <a:rPr lang="en-US" sz="1800" b="1" dirty="0"/>
              <a:t>2,861</a:t>
            </a:r>
            <a:r>
              <a:rPr lang="en-US" sz="1800" dirty="0"/>
              <a:t> from rural areas, showing         higher representation from urban regions.</a:t>
            </a:r>
            <a:br>
              <a:rPr lang="en-US" sz="1800" dirty="0"/>
            </a:br>
            <a:r>
              <a:rPr lang="en-US" sz="1800" b="1" dirty="0">
                <a:solidFill>
                  <a:schemeClr val="accent2">
                    <a:lumMod val="60000"/>
                    <a:lumOff val="40000"/>
                  </a:schemeClr>
                </a:solidFill>
              </a:rPr>
              <a:t>Primary Device Usage</a:t>
            </a:r>
            <a:r>
              <a:rPr lang="en-US" sz="1800" b="1" dirty="0"/>
              <a:t>:</a:t>
            </a:r>
            <a:r>
              <a:rPr lang="en-US" sz="1800" dirty="0"/>
              <a:t> The most commonly used device was the </a:t>
            </a:r>
            <a:r>
              <a:rPr lang="en-US" sz="1800" b="1" dirty="0"/>
              <a:t>Smartphone (4,568)</a:t>
            </a:r>
            <a:r>
              <a:rPr lang="en-US" sz="1800" dirty="0"/>
              <a:t>, followed by </a:t>
            </a:r>
            <a:r>
              <a:rPr lang="en-US" sz="1800" b="1" dirty="0"/>
              <a:t>TV (2,487)</a:t>
            </a:r>
            <a:r>
              <a:rPr lang="en-US" sz="1800" dirty="0"/>
              <a:t>, </a:t>
            </a:r>
            <a:r>
              <a:rPr lang="en-US" sz="1800" b="1" dirty="0"/>
              <a:t>Laptop (1,433)</a:t>
            </a:r>
            <a:r>
              <a:rPr lang="en-US" sz="1800" dirty="0"/>
              <a:t>, and </a:t>
            </a:r>
            <a:r>
              <a:rPr lang="en-US" sz="1800" b="1" dirty="0"/>
              <a:t>Tablet (1,224)</a:t>
            </a:r>
            <a:endParaRPr lang="en-US" sz="1800" dirty="0"/>
          </a:p>
          <a:p>
            <a:pPr marL="0" indent="0">
              <a:buNone/>
            </a:pPr>
            <a:r>
              <a:rPr lang="en-US" sz="1800" b="1" dirty="0">
                <a:solidFill>
                  <a:schemeClr val="accent2">
                    <a:lumMod val="60000"/>
                    <a:lumOff val="40000"/>
                  </a:schemeClr>
                </a:solidFill>
              </a:rPr>
              <a:t>Gender Distribution</a:t>
            </a:r>
            <a:r>
              <a:rPr lang="en-US" sz="1800" b="1" dirty="0"/>
              <a:t>:</a:t>
            </a:r>
            <a:r>
              <a:rPr lang="en-US" sz="1800" dirty="0"/>
              <a:t> The dataset contained </a:t>
            </a:r>
            <a:r>
              <a:rPr lang="en-US" sz="1800" b="1" dirty="0"/>
              <a:t>4,942 males</a:t>
            </a:r>
            <a:r>
              <a:rPr lang="en-US" sz="1800" dirty="0"/>
              <a:t> and </a:t>
            </a:r>
            <a:r>
              <a:rPr lang="en-US" sz="1800" b="1" dirty="0"/>
              <a:t>4,770 females</a:t>
            </a:r>
            <a:r>
              <a:rPr lang="en-US" sz="1800" dirty="0"/>
              <a:t>, indicating a nearly balanced gender ratio</a:t>
            </a:r>
            <a:endParaRPr lang="en-US" sz="1800" b="1" dirty="0"/>
          </a:p>
          <a:p>
            <a:endParaRPr lang="en-US" sz="1800" dirty="0"/>
          </a:p>
        </p:txBody>
      </p:sp>
      <p:pic>
        <p:nvPicPr>
          <p:cNvPr id="5" name="Picture 4">
            <a:extLst>
              <a:ext uri="{FF2B5EF4-FFF2-40B4-BE49-F238E27FC236}">
                <a16:creationId xmlns:a16="http://schemas.microsoft.com/office/drawing/2014/main" id="{E1E6E654-0C0B-AABB-3CF6-E702D1B219C8}"/>
              </a:ext>
            </a:extLst>
          </p:cNvPr>
          <p:cNvPicPr>
            <a:picLocks noChangeAspect="1"/>
          </p:cNvPicPr>
          <p:nvPr/>
        </p:nvPicPr>
        <p:blipFill>
          <a:blip r:embed="rId2"/>
          <a:stretch>
            <a:fillRect/>
          </a:stretch>
        </p:blipFill>
        <p:spPr>
          <a:xfrm>
            <a:off x="4376420" y="3168581"/>
            <a:ext cx="3439159" cy="2368619"/>
          </a:xfrm>
          <a:prstGeom prst="rect">
            <a:avLst/>
          </a:prstGeom>
        </p:spPr>
      </p:pic>
      <p:pic>
        <p:nvPicPr>
          <p:cNvPr id="7" name="Picture 6">
            <a:extLst>
              <a:ext uri="{FF2B5EF4-FFF2-40B4-BE49-F238E27FC236}">
                <a16:creationId xmlns:a16="http://schemas.microsoft.com/office/drawing/2014/main" id="{22408E37-129A-1805-1ED2-828F8EC2FB4D}"/>
              </a:ext>
            </a:extLst>
          </p:cNvPr>
          <p:cNvPicPr>
            <a:picLocks noChangeAspect="1"/>
          </p:cNvPicPr>
          <p:nvPr/>
        </p:nvPicPr>
        <p:blipFill>
          <a:blip r:embed="rId3"/>
          <a:stretch>
            <a:fillRect/>
          </a:stretch>
        </p:blipFill>
        <p:spPr>
          <a:xfrm>
            <a:off x="665285" y="3168581"/>
            <a:ext cx="3439158" cy="2368619"/>
          </a:xfrm>
          <a:prstGeom prst="rect">
            <a:avLst/>
          </a:prstGeom>
        </p:spPr>
      </p:pic>
      <p:pic>
        <p:nvPicPr>
          <p:cNvPr id="9" name="Picture 8">
            <a:extLst>
              <a:ext uri="{FF2B5EF4-FFF2-40B4-BE49-F238E27FC236}">
                <a16:creationId xmlns:a16="http://schemas.microsoft.com/office/drawing/2014/main" id="{480DC00C-F34C-9928-3DE0-6720DCE17C66}"/>
              </a:ext>
            </a:extLst>
          </p:cNvPr>
          <p:cNvPicPr>
            <a:picLocks noChangeAspect="1"/>
          </p:cNvPicPr>
          <p:nvPr/>
        </p:nvPicPr>
        <p:blipFill>
          <a:blip r:embed="rId4"/>
          <a:stretch>
            <a:fillRect/>
          </a:stretch>
        </p:blipFill>
        <p:spPr>
          <a:xfrm>
            <a:off x="8290398" y="3096121"/>
            <a:ext cx="3439160" cy="2368619"/>
          </a:xfrm>
          <a:prstGeom prst="rect">
            <a:avLst/>
          </a:prstGeom>
        </p:spPr>
      </p:pic>
    </p:spTree>
    <p:extLst>
      <p:ext uri="{BB962C8B-B14F-4D97-AF65-F5344CB8AC3E}">
        <p14:creationId xmlns:p14="http://schemas.microsoft.com/office/powerpoint/2010/main" val="424164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04B8F-3B40-076C-F4DC-6C0E1DAD6EFA}"/>
              </a:ext>
            </a:extLst>
          </p:cNvPr>
          <p:cNvSpPr>
            <a:spLocks noGrp="1"/>
          </p:cNvSpPr>
          <p:nvPr>
            <p:ph type="title"/>
          </p:nvPr>
        </p:nvSpPr>
        <p:spPr>
          <a:xfrm>
            <a:off x="-1569720" y="608965"/>
            <a:ext cx="838200" cy="1325563"/>
          </a:xfrm>
        </p:spPr>
        <p:txBody>
          <a:bodyPr>
            <a:normAutofit/>
          </a:bodyPr>
          <a:lstStyle/>
          <a:p>
            <a:endParaRPr lang="en-US" sz="1000" dirty="0"/>
          </a:p>
        </p:txBody>
      </p:sp>
      <p:sp>
        <p:nvSpPr>
          <p:cNvPr id="3" name="Content Placeholder 2">
            <a:extLst>
              <a:ext uri="{FF2B5EF4-FFF2-40B4-BE49-F238E27FC236}">
                <a16:creationId xmlns:a16="http://schemas.microsoft.com/office/drawing/2014/main" id="{2EF861A2-AB88-E769-9E01-F139808CE44C}"/>
              </a:ext>
            </a:extLst>
          </p:cNvPr>
          <p:cNvSpPr>
            <a:spLocks noGrp="1"/>
          </p:cNvSpPr>
          <p:nvPr>
            <p:ph idx="1"/>
          </p:nvPr>
        </p:nvSpPr>
        <p:spPr>
          <a:xfrm>
            <a:off x="843280" y="325120"/>
            <a:ext cx="10749280" cy="5851843"/>
          </a:xfrm>
        </p:spPr>
        <p:txBody>
          <a:bodyPr>
            <a:normAutofit/>
          </a:bodyPr>
          <a:lstStyle/>
          <a:p>
            <a:pPr marL="0" indent="0">
              <a:buNone/>
            </a:pPr>
            <a:r>
              <a:rPr lang="en-US" sz="2000" b="1" dirty="0">
                <a:solidFill>
                  <a:schemeClr val="accent1">
                    <a:lumMod val="60000"/>
                    <a:lumOff val="40000"/>
                  </a:schemeClr>
                </a:solidFill>
              </a:rPr>
              <a:t>Step 7</a:t>
            </a:r>
            <a:r>
              <a:rPr lang="en-US" sz="2000" b="1" dirty="0"/>
              <a:t>: Creating Age Groups</a:t>
            </a:r>
          </a:p>
          <a:p>
            <a:pPr marL="0" indent="0">
              <a:buNone/>
            </a:pPr>
            <a:r>
              <a:rPr lang="en-US" sz="2000" dirty="0"/>
              <a:t>An </a:t>
            </a:r>
            <a:r>
              <a:rPr lang="en-US" sz="2000" b="1" dirty="0"/>
              <a:t>‘</a:t>
            </a:r>
            <a:r>
              <a:rPr lang="en-US" sz="2000" b="1" dirty="0" err="1"/>
              <a:t>Age_Band</a:t>
            </a:r>
            <a:r>
              <a:rPr lang="en-US" sz="2000" b="1" dirty="0"/>
              <a:t>’</a:t>
            </a:r>
            <a:r>
              <a:rPr lang="en-US" sz="2000" dirty="0"/>
              <a:t> column was created using </a:t>
            </a:r>
            <a:r>
              <a:rPr lang="en-US" sz="2000" b="1" dirty="0" err="1"/>
              <a:t>pd.cut</a:t>
            </a:r>
            <a:r>
              <a:rPr lang="en-US" sz="2000" b="1" dirty="0"/>
              <a:t>()</a:t>
            </a:r>
            <a:r>
              <a:rPr lang="en-US" sz="2000" dirty="0"/>
              <a:t> to group children as </a:t>
            </a:r>
            <a:r>
              <a:rPr lang="en-US" sz="2000" b="1" dirty="0"/>
              <a:t>Kids (0–8)</a:t>
            </a:r>
            <a:r>
              <a:rPr lang="en-US" sz="2000" dirty="0"/>
              <a:t>, </a:t>
            </a:r>
            <a:r>
              <a:rPr lang="en-US" sz="2000" b="1" dirty="0"/>
              <a:t>Pre-Teens (9–12)</a:t>
            </a:r>
            <a:r>
              <a:rPr lang="en-US" sz="2000" dirty="0"/>
              <a:t>, and </a:t>
            </a:r>
            <a:r>
              <a:rPr lang="en-US" sz="2000" b="1" dirty="0"/>
              <a:t>Teens (13–17)</a:t>
            </a:r>
            <a:r>
              <a:rPr lang="en-US" sz="2000" dirty="0"/>
              <a:t>. This helps compare screen time across different age groups.</a:t>
            </a:r>
          </a:p>
          <a:p>
            <a:endParaRPr lang="en-US" sz="2000" b="1" dirty="0"/>
          </a:p>
          <a:p>
            <a:endParaRPr lang="en-US" sz="2000" b="1" dirty="0"/>
          </a:p>
          <a:p>
            <a:endParaRPr lang="en-US" sz="2000" b="1" dirty="0"/>
          </a:p>
          <a:p>
            <a:endParaRPr lang="en-US" sz="2000" b="1" dirty="0"/>
          </a:p>
          <a:p>
            <a:endParaRPr lang="en-US" sz="2000" b="1" dirty="0"/>
          </a:p>
          <a:p>
            <a:pPr marL="0" indent="0">
              <a:buNone/>
            </a:pPr>
            <a:r>
              <a:rPr lang="en-US" sz="2000" b="1" dirty="0">
                <a:solidFill>
                  <a:schemeClr val="accent1">
                    <a:lumMod val="60000"/>
                    <a:lumOff val="40000"/>
                  </a:schemeClr>
                </a:solidFill>
              </a:rPr>
              <a:t>Step 8</a:t>
            </a:r>
            <a:r>
              <a:rPr lang="en-US" sz="2000" b="1" dirty="0"/>
              <a:t>: Screen Time Classification</a:t>
            </a:r>
          </a:p>
          <a:p>
            <a:pPr marL="0" indent="0">
              <a:buNone/>
            </a:pPr>
            <a:r>
              <a:rPr lang="en-US" sz="2000" dirty="0"/>
              <a:t>Using </a:t>
            </a:r>
            <a:r>
              <a:rPr lang="en-US" sz="2000" b="1" dirty="0" err="1"/>
              <a:t>pd.cut</a:t>
            </a:r>
            <a:r>
              <a:rPr lang="en-US" sz="2000" b="1" dirty="0"/>
              <a:t>()</a:t>
            </a:r>
            <a:r>
              <a:rPr lang="en-US" sz="2000" dirty="0"/>
              <a:t>, children were grouped into four categories based on daily screen time — </a:t>
            </a:r>
            <a:r>
              <a:rPr lang="en-US" sz="2000" b="1" dirty="0"/>
              <a:t>Low (0–2 </a:t>
            </a:r>
            <a:r>
              <a:rPr lang="en-US" sz="2000" b="1" dirty="0" err="1"/>
              <a:t>hrs</a:t>
            </a:r>
            <a:r>
              <a:rPr lang="en-US" sz="2000" b="1" dirty="0"/>
              <a:t>)</a:t>
            </a:r>
            <a:r>
              <a:rPr lang="en-US" sz="2000" dirty="0"/>
              <a:t>, </a:t>
            </a:r>
            <a:r>
              <a:rPr lang="en-US" sz="2000" b="1" dirty="0"/>
              <a:t>Moderate (2–4 </a:t>
            </a:r>
            <a:r>
              <a:rPr lang="en-US" sz="2000" b="1" dirty="0" err="1"/>
              <a:t>hrs</a:t>
            </a:r>
            <a:r>
              <a:rPr lang="en-US" sz="2000" b="1" dirty="0"/>
              <a:t>)</a:t>
            </a:r>
            <a:r>
              <a:rPr lang="en-US" sz="2000" dirty="0"/>
              <a:t>, </a:t>
            </a:r>
            <a:r>
              <a:rPr lang="en-US" sz="2000" b="1" dirty="0"/>
              <a:t>High (4–8 </a:t>
            </a:r>
            <a:r>
              <a:rPr lang="en-US" sz="2000" b="1" dirty="0" err="1"/>
              <a:t>hrs</a:t>
            </a:r>
            <a:r>
              <a:rPr lang="en-US" sz="2000" b="1" dirty="0"/>
              <a:t>)</a:t>
            </a:r>
            <a:r>
              <a:rPr lang="en-US" sz="2000" dirty="0"/>
              <a:t>, and </a:t>
            </a:r>
            <a:r>
              <a:rPr lang="en-US" sz="2000" b="1" dirty="0"/>
              <a:t>Excessive (8–12 </a:t>
            </a:r>
            <a:r>
              <a:rPr lang="en-US" sz="2000" b="1" dirty="0" err="1"/>
              <a:t>hrs</a:t>
            </a:r>
            <a:r>
              <a:rPr lang="en-US" sz="2000" b="1" dirty="0"/>
              <a:t>)</a:t>
            </a:r>
            <a:r>
              <a:rPr lang="en-US" sz="2000" dirty="0"/>
              <a:t> — to analyze variations in screen usage.</a:t>
            </a:r>
          </a:p>
          <a:p>
            <a:endParaRPr lang="en-US" sz="2000" dirty="0"/>
          </a:p>
          <a:p>
            <a:endParaRPr lang="en-US" sz="2000" dirty="0"/>
          </a:p>
        </p:txBody>
      </p:sp>
      <p:pic>
        <p:nvPicPr>
          <p:cNvPr id="5" name="Picture 4">
            <a:extLst>
              <a:ext uri="{FF2B5EF4-FFF2-40B4-BE49-F238E27FC236}">
                <a16:creationId xmlns:a16="http://schemas.microsoft.com/office/drawing/2014/main" id="{F5E12D3D-1984-55CF-E7C5-D17C1CB79257}"/>
              </a:ext>
            </a:extLst>
          </p:cNvPr>
          <p:cNvPicPr>
            <a:picLocks noChangeAspect="1"/>
          </p:cNvPicPr>
          <p:nvPr/>
        </p:nvPicPr>
        <p:blipFill>
          <a:blip r:embed="rId2"/>
          <a:stretch>
            <a:fillRect/>
          </a:stretch>
        </p:blipFill>
        <p:spPr>
          <a:xfrm>
            <a:off x="1032274" y="1413986"/>
            <a:ext cx="7949166" cy="1471454"/>
          </a:xfrm>
          <a:prstGeom prst="rect">
            <a:avLst/>
          </a:prstGeom>
        </p:spPr>
      </p:pic>
      <p:pic>
        <p:nvPicPr>
          <p:cNvPr id="7" name="Picture 6">
            <a:extLst>
              <a:ext uri="{FF2B5EF4-FFF2-40B4-BE49-F238E27FC236}">
                <a16:creationId xmlns:a16="http://schemas.microsoft.com/office/drawing/2014/main" id="{6808211D-5FA6-62AE-3011-CD00615C8B7D}"/>
              </a:ext>
            </a:extLst>
          </p:cNvPr>
          <p:cNvPicPr>
            <a:picLocks noChangeAspect="1"/>
          </p:cNvPicPr>
          <p:nvPr/>
        </p:nvPicPr>
        <p:blipFill>
          <a:blip r:embed="rId3"/>
          <a:stretch>
            <a:fillRect/>
          </a:stretch>
        </p:blipFill>
        <p:spPr>
          <a:xfrm>
            <a:off x="1032274" y="4932634"/>
            <a:ext cx="7949166" cy="1471453"/>
          </a:xfrm>
          <a:prstGeom prst="rect">
            <a:avLst/>
          </a:prstGeom>
        </p:spPr>
      </p:pic>
    </p:spTree>
    <p:extLst>
      <p:ext uri="{BB962C8B-B14F-4D97-AF65-F5344CB8AC3E}">
        <p14:creationId xmlns:p14="http://schemas.microsoft.com/office/powerpoint/2010/main" val="2079304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A64AF-3C7C-E3F3-7717-70C038C82B99}"/>
              </a:ext>
            </a:extLst>
          </p:cNvPr>
          <p:cNvSpPr>
            <a:spLocks noGrp="1"/>
          </p:cNvSpPr>
          <p:nvPr>
            <p:ph type="title"/>
          </p:nvPr>
        </p:nvSpPr>
        <p:spPr>
          <a:xfrm>
            <a:off x="838200" y="365125"/>
            <a:ext cx="10515600" cy="2886075"/>
          </a:xfrm>
        </p:spPr>
        <p:txBody>
          <a:bodyPr>
            <a:normAutofit/>
          </a:bodyPr>
          <a:lstStyle/>
          <a:p>
            <a:r>
              <a:rPr lang="en-US" sz="2000" b="1" dirty="0">
                <a:solidFill>
                  <a:schemeClr val="accent1">
                    <a:lumMod val="60000"/>
                    <a:lumOff val="40000"/>
                  </a:schemeClr>
                </a:solidFill>
              </a:rPr>
              <a:t>Step 9</a:t>
            </a:r>
            <a:r>
              <a:rPr lang="en-US" sz="1800" b="1" dirty="0"/>
              <a:t>: Calculating Screen Time Efficiency</a:t>
            </a:r>
            <a:br>
              <a:rPr lang="en-US" sz="1800" b="1" dirty="0"/>
            </a:br>
            <a:r>
              <a:rPr lang="en-US" sz="1800" dirty="0"/>
              <a:t>A new column </a:t>
            </a:r>
            <a:r>
              <a:rPr lang="en-US" sz="1800" b="1" dirty="0"/>
              <a:t>‘</a:t>
            </a:r>
            <a:r>
              <a:rPr lang="en-US" sz="1800" b="1" dirty="0" err="1"/>
              <a:t>Screen_Time_Efficiency</a:t>
            </a:r>
            <a:r>
              <a:rPr lang="en-US" sz="1800" b="1" dirty="0"/>
              <a:t>’</a:t>
            </a:r>
            <a:r>
              <a:rPr lang="en-US" sz="1800" dirty="0"/>
              <a:t> was created by dividing the </a:t>
            </a:r>
            <a:r>
              <a:rPr lang="en-US" sz="1800" b="1" dirty="0"/>
              <a:t>Educational-to-Recreational Ratio</a:t>
            </a:r>
            <a:r>
              <a:rPr lang="en-US" sz="1800" dirty="0"/>
              <a:t> by </a:t>
            </a:r>
            <a:r>
              <a:rPr lang="en-US" sz="1800" b="1" dirty="0"/>
              <a:t>average daily screen time</a:t>
            </a:r>
            <a:r>
              <a:rPr lang="en-US" sz="1800" dirty="0"/>
              <a:t> and rounding the result to two decimals. This metric helps measure how effectively kids use their screen time for educational purposes.</a:t>
            </a:r>
            <a:br>
              <a:rPr lang="en-US" sz="1800" dirty="0"/>
            </a:br>
            <a:br>
              <a:rPr lang="en-US" sz="1800" dirty="0"/>
            </a:br>
            <a:br>
              <a:rPr lang="en-US" sz="1800" dirty="0"/>
            </a:br>
            <a:br>
              <a:rPr lang="en-US" sz="1800" dirty="0"/>
            </a:br>
            <a:br>
              <a:rPr lang="en-US" sz="1800" dirty="0"/>
            </a:br>
            <a:br>
              <a:rPr lang="en-US" sz="1800" dirty="0"/>
            </a:br>
            <a:br>
              <a:rPr lang="en-US" sz="1800" dirty="0"/>
            </a:br>
            <a:endParaRPr lang="en-US" sz="1800" dirty="0"/>
          </a:p>
        </p:txBody>
      </p:sp>
      <p:sp>
        <p:nvSpPr>
          <p:cNvPr id="3" name="Content Placeholder 2">
            <a:extLst>
              <a:ext uri="{FF2B5EF4-FFF2-40B4-BE49-F238E27FC236}">
                <a16:creationId xmlns:a16="http://schemas.microsoft.com/office/drawing/2014/main" id="{914FE959-6BEA-C6B8-0E9D-A3381C2B82B3}"/>
              </a:ext>
            </a:extLst>
          </p:cNvPr>
          <p:cNvSpPr>
            <a:spLocks noGrp="1"/>
          </p:cNvSpPr>
          <p:nvPr>
            <p:ph idx="1"/>
          </p:nvPr>
        </p:nvSpPr>
        <p:spPr>
          <a:xfrm rot="10800000" flipV="1">
            <a:off x="-2585720" y="2966720"/>
            <a:ext cx="2341880" cy="1091472"/>
          </a:xfrm>
        </p:spPr>
        <p:txBody>
          <a:bodyPr>
            <a:normAutofit/>
          </a:bodyPr>
          <a:lstStyle/>
          <a:p>
            <a:endParaRPr lang="en-US" dirty="0"/>
          </a:p>
        </p:txBody>
      </p:sp>
      <p:pic>
        <p:nvPicPr>
          <p:cNvPr id="5" name="Picture 4">
            <a:extLst>
              <a:ext uri="{FF2B5EF4-FFF2-40B4-BE49-F238E27FC236}">
                <a16:creationId xmlns:a16="http://schemas.microsoft.com/office/drawing/2014/main" id="{42B79A40-41E3-F188-6AAC-FC390896EFBD}"/>
              </a:ext>
            </a:extLst>
          </p:cNvPr>
          <p:cNvPicPr>
            <a:picLocks noChangeAspect="1"/>
          </p:cNvPicPr>
          <p:nvPr/>
        </p:nvPicPr>
        <p:blipFill>
          <a:blip r:embed="rId2"/>
          <a:stretch>
            <a:fillRect/>
          </a:stretch>
        </p:blipFill>
        <p:spPr>
          <a:xfrm>
            <a:off x="838200" y="1899920"/>
            <a:ext cx="10337800" cy="3312160"/>
          </a:xfrm>
          <a:prstGeom prst="rect">
            <a:avLst/>
          </a:prstGeom>
        </p:spPr>
      </p:pic>
    </p:spTree>
    <p:extLst>
      <p:ext uri="{BB962C8B-B14F-4D97-AF65-F5344CB8AC3E}">
        <p14:creationId xmlns:p14="http://schemas.microsoft.com/office/powerpoint/2010/main" val="12102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16B9-556E-5CAC-B2F1-77ED4B4DED03}"/>
              </a:ext>
            </a:extLst>
          </p:cNvPr>
          <p:cNvSpPr>
            <a:spLocks noGrp="1"/>
          </p:cNvSpPr>
          <p:nvPr>
            <p:ph type="title"/>
          </p:nvPr>
        </p:nvSpPr>
        <p:spPr>
          <a:xfrm>
            <a:off x="-1630680" y="873126"/>
            <a:ext cx="482600" cy="22415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328ECB2-6AD7-A78E-503E-D382E39DF32E}"/>
              </a:ext>
            </a:extLst>
          </p:cNvPr>
          <p:cNvSpPr>
            <a:spLocks noGrp="1"/>
          </p:cNvSpPr>
          <p:nvPr>
            <p:ph idx="1"/>
          </p:nvPr>
        </p:nvSpPr>
        <p:spPr>
          <a:xfrm>
            <a:off x="838200" y="182880"/>
            <a:ext cx="10515600" cy="6675120"/>
          </a:xfrm>
        </p:spPr>
        <p:txBody>
          <a:bodyPr>
            <a:normAutofit/>
          </a:bodyPr>
          <a:lstStyle/>
          <a:p>
            <a:pPr marL="0" indent="0">
              <a:buNone/>
            </a:pPr>
            <a:br>
              <a:rPr lang="en-US" sz="2000" dirty="0"/>
            </a:br>
            <a:r>
              <a:rPr lang="en-US" sz="2000" b="1" dirty="0">
                <a:solidFill>
                  <a:schemeClr val="accent1">
                    <a:lumMod val="60000"/>
                    <a:lumOff val="40000"/>
                  </a:schemeClr>
                </a:solidFill>
              </a:rPr>
              <a:t>Step 10 </a:t>
            </a:r>
            <a:r>
              <a:rPr lang="en-US" sz="2000" b="1" dirty="0"/>
              <a:t>: Data Visualization and Insights</a:t>
            </a:r>
            <a:br>
              <a:rPr lang="en-US" sz="2000" b="1" dirty="0"/>
            </a:br>
            <a:r>
              <a:rPr lang="en-US" sz="2000" dirty="0"/>
              <a:t>Various visualizations were created using </a:t>
            </a:r>
            <a:r>
              <a:rPr lang="en-US" sz="2000" b="1" dirty="0"/>
              <a:t>Seaborn</a:t>
            </a:r>
            <a:r>
              <a:rPr lang="en-US" sz="2000" dirty="0"/>
              <a:t> to explore the dataset.</a:t>
            </a:r>
            <a:br>
              <a:rPr lang="en-US" sz="2000" dirty="0"/>
            </a:br>
            <a:r>
              <a:rPr lang="en-US" sz="2000" b="1" dirty="0">
                <a:solidFill>
                  <a:schemeClr val="accent2"/>
                </a:solidFill>
              </a:rPr>
              <a:t>Urban vs Rural Distribution</a:t>
            </a:r>
            <a:r>
              <a:rPr lang="en-US" sz="2000" b="1" dirty="0"/>
              <a:t>:</a:t>
            </a:r>
            <a:r>
              <a:rPr lang="en-US" sz="2000" dirty="0"/>
              <a:t> Shows higher participation from urban kids.</a:t>
            </a:r>
          </a:p>
          <a:p>
            <a:endParaRPr lang="en-US" sz="2000" dirty="0"/>
          </a:p>
          <a:p>
            <a:endParaRPr lang="en-US" sz="2000" dirty="0"/>
          </a:p>
          <a:p>
            <a:endParaRPr lang="en-US" sz="2000" dirty="0"/>
          </a:p>
          <a:p>
            <a:endParaRPr lang="en-US" sz="2000" dirty="0"/>
          </a:p>
          <a:p>
            <a:endParaRPr lang="en-US" sz="2000" dirty="0"/>
          </a:p>
          <a:p>
            <a:endParaRPr lang="en-US" sz="2000" b="1" dirty="0"/>
          </a:p>
          <a:p>
            <a:pPr marL="0" indent="0">
              <a:buNone/>
            </a:pPr>
            <a:r>
              <a:rPr lang="en-US" sz="2000" b="1" dirty="0">
                <a:solidFill>
                  <a:schemeClr val="accent2"/>
                </a:solidFill>
              </a:rPr>
              <a:t>Primary Device Usage</a:t>
            </a:r>
            <a:r>
              <a:rPr lang="en-US" sz="2000" b="1" dirty="0"/>
              <a:t>:</a:t>
            </a:r>
            <a:r>
              <a:rPr lang="en-US" sz="2000" dirty="0"/>
              <a:t> Smartphones were the most used devices.</a:t>
            </a: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DCD69487-876B-BF98-B081-022DD5C64721}"/>
              </a:ext>
            </a:extLst>
          </p:cNvPr>
          <p:cNvPicPr>
            <a:picLocks noChangeAspect="1"/>
          </p:cNvPicPr>
          <p:nvPr/>
        </p:nvPicPr>
        <p:blipFill>
          <a:blip r:embed="rId2"/>
          <a:stretch>
            <a:fillRect/>
          </a:stretch>
        </p:blipFill>
        <p:spPr>
          <a:xfrm>
            <a:off x="1889759" y="1320799"/>
            <a:ext cx="6644641" cy="2496981"/>
          </a:xfrm>
          <a:prstGeom prst="rect">
            <a:avLst/>
          </a:prstGeom>
        </p:spPr>
      </p:pic>
      <p:pic>
        <p:nvPicPr>
          <p:cNvPr id="7" name="Picture 6">
            <a:extLst>
              <a:ext uri="{FF2B5EF4-FFF2-40B4-BE49-F238E27FC236}">
                <a16:creationId xmlns:a16="http://schemas.microsoft.com/office/drawing/2014/main" id="{43095B1E-2094-EA57-6F01-666C75C3BF4B}"/>
              </a:ext>
            </a:extLst>
          </p:cNvPr>
          <p:cNvPicPr>
            <a:picLocks noChangeAspect="1"/>
          </p:cNvPicPr>
          <p:nvPr/>
        </p:nvPicPr>
        <p:blipFill>
          <a:blip r:embed="rId3"/>
          <a:stretch>
            <a:fillRect/>
          </a:stretch>
        </p:blipFill>
        <p:spPr>
          <a:xfrm>
            <a:off x="1818639" y="4178139"/>
            <a:ext cx="6644641" cy="2496981"/>
          </a:xfrm>
          <a:prstGeom prst="rect">
            <a:avLst/>
          </a:prstGeom>
        </p:spPr>
      </p:pic>
    </p:spTree>
    <p:extLst>
      <p:ext uri="{BB962C8B-B14F-4D97-AF65-F5344CB8AC3E}">
        <p14:creationId xmlns:p14="http://schemas.microsoft.com/office/powerpoint/2010/main" val="1961776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7CBC-70F1-D4B9-EE9D-5856802E8C7D}"/>
              </a:ext>
            </a:extLst>
          </p:cNvPr>
          <p:cNvSpPr>
            <a:spLocks noGrp="1"/>
          </p:cNvSpPr>
          <p:nvPr>
            <p:ph type="title"/>
          </p:nvPr>
        </p:nvSpPr>
        <p:spPr>
          <a:xfrm>
            <a:off x="-2016760" y="1144270"/>
            <a:ext cx="1478280" cy="68135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7931E4BF-E5B5-4862-64CB-F65CA95D4A40}"/>
              </a:ext>
            </a:extLst>
          </p:cNvPr>
          <p:cNvSpPr>
            <a:spLocks noGrp="1"/>
          </p:cNvSpPr>
          <p:nvPr>
            <p:ph idx="1"/>
          </p:nvPr>
        </p:nvSpPr>
        <p:spPr>
          <a:xfrm>
            <a:off x="838200" y="132082"/>
            <a:ext cx="10515600" cy="6044882"/>
          </a:xfrm>
        </p:spPr>
        <p:txBody>
          <a:bodyPr>
            <a:normAutofit/>
          </a:bodyPr>
          <a:lstStyle/>
          <a:p>
            <a:pPr marL="0" indent="0">
              <a:buNone/>
            </a:pPr>
            <a:r>
              <a:rPr lang="en-US" sz="2000" b="1" dirty="0">
                <a:solidFill>
                  <a:schemeClr val="accent2"/>
                </a:solidFill>
              </a:rPr>
              <a:t> Gender Distribution</a:t>
            </a:r>
            <a:r>
              <a:rPr lang="en-US" sz="2000" b="1" dirty="0"/>
              <a:t>:</a:t>
            </a:r>
            <a:r>
              <a:rPr lang="en-US" sz="2000" dirty="0"/>
              <a:t> Nearly equal count of males and females.</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marL="0" indent="0">
              <a:buNone/>
            </a:pPr>
            <a:r>
              <a:rPr lang="en-US" sz="2000" b="1" dirty="0">
                <a:solidFill>
                  <a:schemeClr val="accent2"/>
                </a:solidFill>
              </a:rPr>
              <a:t> Age Band Distribution</a:t>
            </a:r>
            <a:r>
              <a:rPr lang="en-US" sz="2000" b="1" dirty="0"/>
              <a:t>:</a:t>
            </a:r>
            <a:r>
              <a:rPr lang="en-US" sz="2000" dirty="0"/>
              <a:t> Displays the count of Kids, Pre-Teens, and Teens.</a:t>
            </a:r>
          </a:p>
          <a:p>
            <a:pPr marL="0" indent="0">
              <a:buNone/>
            </a:pPr>
            <a:endParaRPr lang="en-US" sz="2000" dirty="0"/>
          </a:p>
          <a:p>
            <a:pPr marL="0" indent="0">
              <a:buNone/>
            </a:pPr>
            <a:endParaRPr lang="en-US" sz="2000" dirty="0"/>
          </a:p>
          <a:p>
            <a:pPr marL="0" indent="0">
              <a:buNone/>
            </a:pPr>
            <a:br>
              <a:rPr lang="en-US" sz="2000" dirty="0"/>
            </a:br>
            <a:endParaRPr lang="en-US" sz="2000" dirty="0"/>
          </a:p>
        </p:txBody>
      </p:sp>
      <p:pic>
        <p:nvPicPr>
          <p:cNvPr id="5" name="Picture 4">
            <a:extLst>
              <a:ext uri="{FF2B5EF4-FFF2-40B4-BE49-F238E27FC236}">
                <a16:creationId xmlns:a16="http://schemas.microsoft.com/office/drawing/2014/main" id="{70D2CFB8-BF3E-A6CD-0DAD-91E4B5C3C0B0}"/>
              </a:ext>
            </a:extLst>
          </p:cNvPr>
          <p:cNvPicPr>
            <a:picLocks noChangeAspect="1"/>
          </p:cNvPicPr>
          <p:nvPr/>
        </p:nvPicPr>
        <p:blipFill>
          <a:blip r:embed="rId2"/>
          <a:stretch>
            <a:fillRect/>
          </a:stretch>
        </p:blipFill>
        <p:spPr>
          <a:xfrm>
            <a:off x="2858524" y="609443"/>
            <a:ext cx="5662151" cy="2545080"/>
          </a:xfrm>
          <a:prstGeom prst="rect">
            <a:avLst/>
          </a:prstGeom>
        </p:spPr>
      </p:pic>
      <p:pic>
        <p:nvPicPr>
          <p:cNvPr id="7" name="Picture 6">
            <a:extLst>
              <a:ext uri="{FF2B5EF4-FFF2-40B4-BE49-F238E27FC236}">
                <a16:creationId xmlns:a16="http://schemas.microsoft.com/office/drawing/2014/main" id="{5D810DC7-3308-EB99-2A8A-7309528793E6}"/>
              </a:ext>
            </a:extLst>
          </p:cNvPr>
          <p:cNvPicPr>
            <a:picLocks noChangeAspect="1"/>
          </p:cNvPicPr>
          <p:nvPr/>
        </p:nvPicPr>
        <p:blipFill>
          <a:blip r:embed="rId3"/>
          <a:stretch>
            <a:fillRect/>
          </a:stretch>
        </p:blipFill>
        <p:spPr>
          <a:xfrm>
            <a:off x="2673860" y="3985578"/>
            <a:ext cx="6185659" cy="2668747"/>
          </a:xfrm>
          <a:prstGeom prst="rect">
            <a:avLst/>
          </a:prstGeom>
        </p:spPr>
      </p:pic>
    </p:spTree>
    <p:extLst>
      <p:ext uri="{BB962C8B-B14F-4D97-AF65-F5344CB8AC3E}">
        <p14:creationId xmlns:p14="http://schemas.microsoft.com/office/powerpoint/2010/main" val="283274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DC19-C0A2-65BE-D17C-7F7E10B2CF7D}"/>
              </a:ext>
            </a:extLst>
          </p:cNvPr>
          <p:cNvSpPr>
            <a:spLocks noGrp="1"/>
          </p:cNvSpPr>
          <p:nvPr>
            <p:ph type="title"/>
          </p:nvPr>
        </p:nvSpPr>
        <p:spPr>
          <a:xfrm>
            <a:off x="-1143000" y="537845"/>
            <a:ext cx="228600" cy="1936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3808D76A-C24D-A110-CD77-99694172F7A6}"/>
              </a:ext>
            </a:extLst>
          </p:cNvPr>
          <p:cNvSpPr>
            <a:spLocks noGrp="1"/>
          </p:cNvSpPr>
          <p:nvPr>
            <p:ph idx="1"/>
          </p:nvPr>
        </p:nvSpPr>
        <p:spPr>
          <a:xfrm>
            <a:off x="838200" y="182880"/>
            <a:ext cx="10515600" cy="5994083"/>
          </a:xfrm>
        </p:spPr>
        <p:txBody>
          <a:bodyPr>
            <a:normAutofit/>
          </a:bodyPr>
          <a:lstStyle/>
          <a:p>
            <a:pPr marL="0" indent="0">
              <a:buNone/>
            </a:pPr>
            <a:r>
              <a:rPr lang="en-US" sz="2000" b="1" dirty="0">
                <a:solidFill>
                  <a:schemeClr val="accent2"/>
                </a:solidFill>
              </a:rPr>
              <a:t> Screen Time Categories</a:t>
            </a:r>
            <a:r>
              <a:rPr lang="en-US" sz="2000" b="1" dirty="0"/>
              <a:t>:</a:t>
            </a:r>
            <a:r>
              <a:rPr lang="en-US" sz="2000" dirty="0"/>
              <a:t> Highlights how screen usage varies from Low to Excessive.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b="1" dirty="0"/>
          </a:p>
          <a:p>
            <a:pPr marL="0" indent="0">
              <a:buNone/>
            </a:pPr>
            <a:r>
              <a:rPr lang="en-US" sz="2000" b="1" dirty="0">
                <a:solidFill>
                  <a:schemeClr val="accent2"/>
                </a:solidFill>
              </a:rPr>
              <a:t>Screen Time Efficiency</a:t>
            </a:r>
            <a:r>
              <a:rPr lang="en-US" sz="2000" b="1" dirty="0"/>
              <a:t>:</a:t>
            </a:r>
            <a:r>
              <a:rPr lang="en-US" sz="2000" dirty="0"/>
              <a:t> Boxplot shows how efficiently each age group uses screen time for              educational purposes.</a:t>
            </a:r>
          </a:p>
        </p:txBody>
      </p:sp>
      <p:pic>
        <p:nvPicPr>
          <p:cNvPr id="5" name="Picture 4">
            <a:extLst>
              <a:ext uri="{FF2B5EF4-FFF2-40B4-BE49-F238E27FC236}">
                <a16:creationId xmlns:a16="http://schemas.microsoft.com/office/drawing/2014/main" id="{F6B6345E-CAC2-0976-CCF3-8AF7640C2ED4}"/>
              </a:ext>
            </a:extLst>
          </p:cNvPr>
          <p:cNvPicPr>
            <a:picLocks noChangeAspect="1"/>
          </p:cNvPicPr>
          <p:nvPr/>
        </p:nvPicPr>
        <p:blipFill>
          <a:blip r:embed="rId2"/>
          <a:stretch>
            <a:fillRect/>
          </a:stretch>
        </p:blipFill>
        <p:spPr>
          <a:xfrm>
            <a:off x="2606040" y="681038"/>
            <a:ext cx="5989320" cy="2747962"/>
          </a:xfrm>
          <a:prstGeom prst="rect">
            <a:avLst/>
          </a:prstGeom>
        </p:spPr>
      </p:pic>
      <p:pic>
        <p:nvPicPr>
          <p:cNvPr id="7" name="Picture 6">
            <a:extLst>
              <a:ext uri="{FF2B5EF4-FFF2-40B4-BE49-F238E27FC236}">
                <a16:creationId xmlns:a16="http://schemas.microsoft.com/office/drawing/2014/main" id="{2B6FC70E-EE4D-199A-8DC1-FBE0FE7C86EB}"/>
              </a:ext>
            </a:extLst>
          </p:cNvPr>
          <p:cNvPicPr>
            <a:picLocks noChangeAspect="1"/>
          </p:cNvPicPr>
          <p:nvPr/>
        </p:nvPicPr>
        <p:blipFill>
          <a:blip r:embed="rId3"/>
          <a:stretch>
            <a:fillRect/>
          </a:stretch>
        </p:blipFill>
        <p:spPr>
          <a:xfrm>
            <a:off x="2441947" y="4450080"/>
            <a:ext cx="7692653" cy="2225040"/>
          </a:xfrm>
          <a:prstGeom prst="rect">
            <a:avLst/>
          </a:prstGeom>
        </p:spPr>
      </p:pic>
    </p:spTree>
    <p:extLst>
      <p:ext uri="{BB962C8B-B14F-4D97-AF65-F5344CB8AC3E}">
        <p14:creationId xmlns:p14="http://schemas.microsoft.com/office/powerpoint/2010/main" val="2568683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BABA-52D1-DCB0-713A-006CD269CB64}"/>
              </a:ext>
            </a:extLst>
          </p:cNvPr>
          <p:cNvSpPr>
            <a:spLocks noGrp="1"/>
          </p:cNvSpPr>
          <p:nvPr>
            <p:ph type="title"/>
          </p:nvPr>
        </p:nvSpPr>
        <p:spPr>
          <a:xfrm>
            <a:off x="-4526280" y="563245"/>
            <a:ext cx="2164080" cy="503555"/>
          </a:xfrm>
        </p:spPr>
        <p:txBody>
          <a:bodyPr>
            <a:normAutofit fontScale="90000"/>
          </a:bodyPr>
          <a:lstStyle/>
          <a:p>
            <a:endParaRPr lang="en-US" sz="3200" b="1" dirty="0">
              <a:solidFill>
                <a:schemeClr val="accent1">
                  <a:lumMod val="60000"/>
                  <a:lumOff val="40000"/>
                </a:schemeClr>
              </a:solidFill>
            </a:endParaRPr>
          </a:p>
        </p:txBody>
      </p:sp>
      <p:sp>
        <p:nvSpPr>
          <p:cNvPr id="3" name="Content Placeholder 2">
            <a:extLst>
              <a:ext uri="{FF2B5EF4-FFF2-40B4-BE49-F238E27FC236}">
                <a16:creationId xmlns:a16="http://schemas.microsoft.com/office/drawing/2014/main" id="{D95AF4F3-0ADE-2600-AE10-DD8C0DA14855}"/>
              </a:ext>
            </a:extLst>
          </p:cNvPr>
          <p:cNvSpPr>
            <a:spLocks noGrp="1"/>
          </p:cNvSpPr>
          <p:nvPr>
            <p:ph idx="1"/>
          </p:nvPr>
        </p:nvSpPr>
        <p:spPr>
          <a:xfrm>
            <a:off x="838200" y="274320"/>
            <a:ext cx="10515600" cy="6583680"/>
          </a:xfrm>
        </p:spPr>
        <p:txBody>
          <a:bodyPr/>
          <a:lstStyle/>
          <a:p>
            <a:pPr marL="0" indent="0">
              <a:buNone/>
            </a:pPr>
            <a:r>
              <a:rPr lang="en-US" b="1" dirty="0">
                <a:solidFill>
                  <a:schemeClr val="accent2"/>
                </a:solidFill>
              </a:rPr>
              <a:t> Next Focus:</a:t>
            </a:r>
            <a:endParaRPr lang="en-US" sz="2000" dirty="0"/>
          </a:p>
          <a:p>
            <a:r>
              <a:rPr lang="en-US" sz="2000" b="1" dirty="0"/>
              <a:t>Main </a:t>
            </a:r>
            <a:r>
              <a:rPr lang="en-US" sz="2000" b="1" dirty="0" err="1"/>
              <a:t>QuestionMain</a:t>
            </a:r>
            <a:r>
              <a:rPr lang="en-US" sz="2000" b="1" dirty="0"/>
              <a:t> Question</a:t>
            </a:r>
            <a:r>
              <a:rPr lang="en-US" sz="2000" dirty="0"/>
              <a:t>: Analyze kids’ screen time patterns across demographics, devices, and efficiency to gain actionable </a:t>
            </a:r>
            <a:r>
              <a:rPr lang="en-US" sz="2000" dirty="0" err="1"/>
              <a:t>insights.Looking</a:t>
            </a:r>
            <a:r>
              <a:rPr lang="en-US" sz="2000" dirty="0"/>
              <a:t> for some </a:t>
            </a:r>
            <a:r>
              <a:rPr lang="en-US" sz="2000" b="1" dirty="0"/>
              <a:t>hidden patterns</a:t>
            </a:r>
            <a:r>
              <a:rPr lang="en-US" sz="2000" dirty="0"/>
              <a:t>.</a:t>
            </a:r>
          </a:p>
          <a:p>
            <a:r>
              <a:rPr lang="en-US" sz="2000" b="1" dirty="0"/>
              <a:t>Dashboard</a:t>
            </a:r>
            <a:r>
              <a:rPr lang="en-US" sz="2000" dirty="0"/>
              <a:t>: Created the Tableau dashboard using </a:t>
            </a:r>
            <a:r>
              <a:rPr lang="en-US" sz="2000" dirty="0" err="1"/>
              <a:t>Excalidra</a:t>
            </a:r>
            <a:r>
              <a:rPr lang="en-US" sz="2000" dirty="0"/>
              <a:t> and enhanced visuals with ChatGPT for clear </a:t>
            </a:r>
            <a:r>
              <a:rPr lang="en-US" sz="2000" dirty="0" err="1"/>
              <a:t>insights.This</a:t>
            </a:r>
            <a:r>
              <a:rPr lang="en-US" sz="2000" dirty="0"/>
              <a:t> is not the final dashboard outlook </a:t>
            </a:r>
            <a:r>
              <a:rPr lang="en-US" sz="2000" b="1" dirty="0"/>
              <a:t>I’m going make changes accordingly to show the insights and make the dashboard looks better.</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 </a:t>
            </a:r>
            <a:r>
              <a:rPr lang="en-US" sz="2000" b="1" dirty="0"/>
              <a:t>Report By </a:t>
            </a:r>
            <a:r>
              <a:rPr lang="en-US" sz="2000" dirty="0"/>
              <a:t>– </a:t>
            </a:r>
            <a:r>
              <a:rPr lang="en-US" sz="2000" dirty="0" err="1">
                <a:solidFill>
                  <a:schemeClr val="accent2"/>
                </a:solidFill>
              </a:rPr>
              <a:t>puli</a:t>
            </a:r>
            <a:r>
              <a:rPr lang="en-US" sz="2000" dirty="0">
                <a:solidFill>
                  <a:schemeClr val="accent2"/>
                </a:solidFill>
              </a:rPr>
              <a:t> </a:t>
            </a:r>
            <a:r>
              <a:rPr lang="en-US" sz="2000" dirty="0" err="1">
                <a:solidFill>
                  <a:schemeClr val="accent2"/>
                </a:solidFill>
              </a:rPr>
              <a:t>bharat</a:t>
            </a:r>
            <a:r>
              <a:rPr lang="en-US" sz="2000" dirty="0">
                <a:solidFill>
                  <a:schemeClr val="accent2"/>
                </a:solidFill>
              </a:rPr>
              <a:t> </a:t>
            </a:r>
          </a:p>
        </p:txBody>
      </p:sp>
      <p:pic>
        <p:nvPicPr>
          <p:cNvPr id="5" name="Picture 4" descr="A screenshot of a computer dashboard">
            <a:extLst>
              <a:ext uri="{FF2B5EF4-FFF2-40B4-BE49-F238E27FC236}">
                <a16:creationId xmlns:a16="http://schemas.microsoft.com/office/drawing/2014/main" id="{53E7AA4D-A432-5EC6-3CCA-D606B704A5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3370" y="2423160"/>
            <a:ext cx="8330670" cy="3459479"/>
          </a:xfrm>
          <a:prstGeom prst="rect">
            <a:avLst/>
          </a:prstGeom>
        </p:spPr>
      </p:pic>
    </p:spTree>
    <p:extLst>
      <p:ext uri="{BB962C8B-B14F-4D97-AF65-F5344CB8AC3E}">
        <p14:creationId xmlns:p14="http://schemas.microsoft.com/office/powerpoint/2010/main" val="1439593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832</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Analysis of Kid’s Screen Time</vt:lpstr>
      <vt:lpstr>PowerPoint Presentation</vt:lpstr>
      <vt:lpstr> Step 4 : Missing Value Analysis The command df.isnull().sum() was used to check for missing values in each column. Most columns had no missing data, ensuring consistency. However, the ‘Health_Impacts’ column showed 3218 missing values, which need to be addressed during preprocessing for accurate analysis.            Step 5 : Handling Missing Data To manage missing entries in the ‘Health_Impacts’ column, the fillna('Unknown') method was applied. This replaced all null values with ‘Unknown’, ensuring data consistency and preventing errors during analysis.   </vt:lpstr>
      <vt:lpstr>PowerPoint Presentation</vt:lpstr>
      <vt:lpstr>PowerPoint Presentation</vt:lpstr>
      <vt:lpstr>Step 9: Calculating Screen Time Efficiency A new column ‘Screen_Time_Efficiency’ was created by dividing the Educational-to-Recreational Ratio by average daily screen time and rounding the result to two decimals. This metric helps measure how effectively kids use their screen time for educational purposes.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venkatbollineni6172@gmail.com</dc:creator>
  <cp:lastModifiedBy>venkatbollineni6172@gmail.com</cp:lastModifiedBy>
  <cp:revision>1</cp:revision>
  <dcterms:created xsi:type="dcterms:W3CDTF">2025-10-17T11:26:34Z</dcterms:created>
  <dcterms:modified xsi:type="dcterms:W3CDTF">2025-10-17T11:26:34Z</dcterms:modified>
</cp:coreProperties>
</file>
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12F114-93EE-4E02-91AB-1E3055E0D307}" v="4" dt="2025-12-10T06:20:08.93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38" y="44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403C4E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>
                <a:solidFill>
                  <a:srgbClr val="403C4E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403C4E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rgbClr val="403C4E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403C4E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1" i="0">
                <a:solidFill>
                  <a:srgbClr val="403C4E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1918" y="378038"/>
            <a:ext cx="17264162" cy="473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1" i="0">
                <a:solidFill>
                  <a:srgbClr val="403C4E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0486" y="2201400"/>
            <a:ext cx="9608185" cy="4655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>
                <a:solidFill>
                  <a:srgbClr val="403C4E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90335" y="55305"/>
            <a:ext cx="6857999" cy="1023170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3709" y="1501424"/>
            <a:ext cx="8956040" cy="174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6900"/>
              </a:lnSpc>
            </a:pPr>
            <a:r>
              <a:rPr sz="5550" spc="220" dirty="0"/>
              <a:t>Indian</a:t>
            </a:r>
            <a:r>
              <a:rPr sz="5550" spc="-60" dirty="0"/>
              <a:t> </a:t>
            </a:r>
            <a:r>
              <a:rPr sz="5550" spc="190" dirty="0"/>
              <a:t>Kids’</a:t>
            </a:r>
            <a:r>
              <a:rPr sz="5550" spc="-65" dirty="0"/>
              <a:t> </a:t>
            </a:r>
            <a:r>
              <a:rPr sz="5550" spc="290" dirty="0"/>
              <a:t>Screen</a:t>
            </a:r>
            <a:r>
              <a:rPr sz="5550" spc="-60" dirty="0"/>
              <a:t> </a:t>
            </a:r>
            <a:r>
              <a:rPr sz="5550" spc="300" dirty="0"/>
              <a:t>Time </a:t>
            </a:r>
            <a:r>
              <a:rPr sz="5550" spc="150" dirty="0"/>
              <a:t>Analysis</a:t>
            </a:r>
            <a:endParaRPr sz="5550"/>
          </a:p>
        </p:txBody>
      </p:sp>
      <p:sp>
        <p:nvSpPr>
          <p:cNvPr id="4" name="object 4"/>
          <p:cNvSpPr txBox="1"/>
          <p:nvPr/>
        </p:nvSpPr>
        <p:spPr>
          <a:xfrm>
            <a:off x="979536" y="5647862"/>
            <a:ext cx="10210799" cy="40940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6600"/>
              </a:lnSpc>
              <a:spcBef>
                <a:spcPts val="90"/>
              </a:spcBef>
            </a:pPr>
            <a:r>
              <a:rPr sz="2800" spc="90" dirty="0">
                <a:solidFill>
                  <a:srgbClr val="403C4E"/>
                </a:solidFill>
                <a:latin typeface="Tahoma"/>
                <a:cs typeface="Tahoma"/>
              </a:rPr>
              <a:t>A</a:t>
            </a:r>
            <a:r>
              <a:rPr sz="2800" spc="-1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800" spc="80" dirty="0">
                <a:solidFill>
                  <a:srgbClr val="403C4E"/>
                </a:solidFill>
                <a:latin typeface="Tahoma"/>
                <a:cs typeface="Tahoma"/>
              </a:rPr>
              <a:t>Data</a:t>
            </a:r>
            <a:r>
              <a:rPr sz="2800" spc="-1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800" spc="65" dirty="0">
                <a:solidFill>
                  <a:srgbClr val="403C4E"/>
                </a:solidFill>
                <a:latin typeface="Tahoma"/>
                <a:cs typeface="Tahoma"/>
              </a:rPr>
              <a:t>Analytics</a:t>
            </a:r>
            <a:r>
              <a:rPr sz="2800" spc="-1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403C4E"/>
                </a:solidFill>
                <a:latin typeface="Tahoma"/>
                <a:cs typeface="Tahoma"/>
              </a:rPr>
              <a:t>Project</a:t>
            </a:r>
            <a:r>
              <a:rPr sz="2800" spc="-1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800" spc="80" dirty="0">
                <a:solidFill>
                  <a:srgbClr val="403C4E"/>
                </a:solidFill>
                <a:latin typeface="Tahoma"/>
                <a:cs typeface="Tahoma"/>
              </a:rPr>
              <a:t>Using</a:t>
            </a:r>
            <a:r>
              <a:rPr sz="2800" spc="-1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800" spc="95" dirty="0">
                <a:solidFill>
                  <a:srgbClr val="403C4E"/>
                </a:solidFill>
                <a:latin typeface="Tahoma"/>
                <a:cs typeface="Tahoma"/>
              </a:rPr>
              <a:t>Python</a:t>
            </a:r>
            <a:r>
              <a:rPr sz="2800" spc="-1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800" spc="130" dirty="0">
                <a:solidFill>
                  <a:srgbClr val="403C4E"/>
                </a:solidFill>
                <a:latin typeface="Tahoma"/>
                <a:cs typeface="Tahoma"/>
              </a:rPr>
              <a:t>&amp;</a:t>
            </a:r>
            <a:r>
              <a:rPr sz="2800" spc="-1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800" spc="105" dirty="0">
                <a:solidFill>
                  <a:srgbClr val="403C4E"/>
                </a:solidFill>
                <a:latin typeface="Tahoma"/>
                <a:cs typeface="Tahoma"/>
              </a:rPr>
              <a:t>Power</a:t>
            </a:r>
            <a:r>
              <a:rPr sz="2800" spc="-10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403C4E"/>
                </a:solidFill>
                <a:latin typeface="Tahoma"/>
                <a:cs typeface="Tahoma"/>
              </a:rPr>
              <a:t>BI</a:t>
            </a:r>
            <a:r>
              <a:rPr lang="en-IN" sz="2800" spc="-1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</a:p>
          <a:p>
            <a:pPr marL="12700" marR="5080">
              <a:lnSpc>
                <a:spcPct val="136600"/>
              </a:lnSpc>
              <a:spcBef>
                <a:spcPts val="90"/>
              </a:spcBef>
            </a:pPr>
            <a:endParaRPr lang="en-IN" sz="2150" spc="-110" dirty="0">
              <a:solidFill>
                <a:srgbClr val="403C4E"/>
              </a:solidFill>
              <a:latin typeface="Tahoma"/>
              <a:cs typeface="Tahoma"/>
            </a:endParaRPr>
          </a:p>
          <a:p>
            <a:pPr marL="12700" marR="5080">
              <a:lnSpc>
                <a:spcPct val="136600"/>
              </a:lnSpc>
              <a:spcBef>
                <a:spcPts val="90"/>
              </a:spcBef>
            </a:pPr>
            <a:endParaRPr lang="en-IN" sz="2150" spc="-110" dirty="0">
              <a:solidFill>
                <a:srgbClr val="403C4E"/>
              </a:solidFill>
              <a:latin typeface="Tahoma"/>
              <a:cs typeface="Tahoma"/>
            </a:endParaRPr>
          </a:p>
          <a:p>
            <a:pPr marL="12700" marR="5080">
              <a:lnSpc>
                <a:spcPct val="136600"/>
              </a:lnSpc>
              <a:spcBef>
                <a:spcPts val="90"/>
              </a:spcBef>
            </a:pPr>
            <a:endParaRPr lang="en-IN" sz="2150" spc="-110" dirty="0">
              <a:solidFill>
                <a:srgbClr val="403C4E"/>
              </a:solidFill>
              <a:latin typeface="Tahoma"/>
              <a:cs typeface="Tahoma"/>
            </a:endParaRPr>
          </a:p>
          <a:p>
            <a:pPr marL="12700" marR="5080">
              <a:lnSpc>
                <a:spcPct val="136600"/>
              </a:lnSpc>
              <a:spcBef>
                <a:spcPts val="90"/>
              </a:spcBef>
            </a:pPr>
            <a:endParaRPr lang="en-IN" sz="2150" spc="-110" dirty="0">
              <a:solidFill>
                <a:srgbClr val="403C4E"/>
              </a:solidFill>
              <a:latin typeface="Tahoma"/>
              <a:cs typeface="Tahoma"/>
            </a:endParaRPr>
          </a:p>
          <a:p>
            <a:pPr marL="12700" marR="5080">
              <a:lnSpc>
                <a:spcPct val="136600"/>
              </a:lnSpc>
              <a:spcBef>
                <a:spcPts val="90"/>
              </a:spcBef>
            </a:pPr>
            <a:r>
              <a:rPr lang="en-IN" sz="4800" spc="105" dirty="0">
                <a:solidFill>
                  <a:srgbClr val="403C4E"/>
                </a:solidFill>
                <a:latin typeface="Tahoma"/>
                <a:cs typeface="Tahoma"/>
              </a:rPr>
              <a:t>                        Presented</a:t>
            </a:r>
            <a:r>
              <a:rPr lang="en-IN" sz="4800" spc="-110" dirty="0">
                <a:solidFill>
                  <a:srgbClr val="403C4E"/>
                </a:solidFill>
                <a:latin typeface="Tahoma"/>
                <a:cs typeface="Tahoma"/>
              </a:rPr>
              <a:t> By:</a:t>
            </a:r>
            <a:endParaRPr lang="en-IN" sz="2150" dirty="0">
              <a:solidFill>
                <a:srgbClr val="403C4E"/>
              </a:solidFill>
              <a:latin typeface="Tahoma"/>
              <a:cs typeface="Tahoma"/>
            </a:endParaRPr>
          </a:p>
          <a:p>
            <a:pPr marL="12700" marR="5080">
              <a:lnSpc>
                <a:spcPct val="136600"/>
              </a:lnSpc>
              <a:spcBef>
                <a:spcPts val="90"/>
              </a:spcBef>
            </a:pPr>
            <a:r>
              <a:rPr sz="3200" spc="-1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3200" spc="-110" dirty="0">
                <a:solidFill>
                  <a:srgbClr val="403C4E"/>
                </a:solidFill>
                <a:latin typeface="Tahoma"/>
                <a:cs typeface="Tahoma"/>
              </a:rPr>
              <a:t>                                                </a:t>
            </a:r>
            <a:r>
              <a:rPr sz="3200" spc="-25" dirty="0">
                <a:solidFill>
                  <a:srgbClr val="403C4E"/>
                </a:solidFill>
                <a:latin typeface="Tahoma"/>
                <a:cs typeface="Tahoma"/>
              </a:rPr>
              <a:t>K. </a:t>
            </a:r>
            <a:r>
              <a:rPr sz="3200" spc="95" dirty="0">
                <a:solidFill>
                  <a:srgbClr val="403C4E"/>
                </a:solidFill>
                <a:latin typeface="Tahoma"/>
                <a:cs typeface="Tahoma"/>
              </a:rPr>
              <a:t>Lakshmi</a:t>
            </a:r>
            <a:r>
              <a:rPr sz="3200" spc="-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403C4E"/>
                </a:solidFill>
                <a:latin typeface="Tahoma"/>
                <a:cs typeface="Tahoma"/>
              </a:rPr>
              <a:t>Reddy.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pc="145" dirty="0"/>
              <a:t>Project</a:t>
            </a:r>
            <a:r>
              <a:rPr spc="-15" dirty="0"/>
              <a:t> </a:t>
            </a:r>
            <a:r>
              <a:rPr spc="55" dirty="0"/>
              <a:t>Overview:</a:t>
            </a:r>
            <a:r>
              <a:rPr spc="-15" dirty="0"/>
              <a:t> </a:t>
            </a:r>
            <a:r>
              <a:rPr spc="120" dirty="0"/>
              <a:t>Understanding</a:t>
            </a:r>
            <a:r>
              <a:rPr spc="-15" dirty="0"/>
              <a:t> </a:t>
            </a:r>
            <a:r>
              <a:rPr spc="55" dirty="0"/>
              <a:t>Digital</a:t>
            </a:r>
            <a:r>
              <a:rPr spc="-15" dirty="0"/>
              <a:t> </a:t>
            </a:r>
            <a:r>
              <a:rPr spc="90" dirty="0"/>
              <a:t>Habits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1803" y="1222526"/>
            <a:ext cx="8252445" cy="253979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00" b="1" spc="-10" dirty="0">
                <a:solidFill>
                  <a:srgbClr val="403C4E"/>
                </a:solidFill>
                <a:latin typeface="Book Antiqua"/>
                <a:cs typeface="Book Antiqua"/>
              </a:rPr>
              <a:t>Objective</a:t>
            </a:r>
            <a:endParaRPr sz="2400" dirty="0">
              <a:latin typeface="Book Antiqua"/>
              <a:cs typeface="Book Antiqua"/>
            </a:endParaRPr>
          </a:p>
          <a:p>
            <a:pPr marL="27305">
              <a:lnSpc>
                <a:spcPct val="100000"/>
              </a:lnSpc>
            </a:pPr>
            <a:r>
              <a:rPr sz="2400" dirty="0">
                <a:solidFill>
                  <a:srgbClr val="403C4E"/>
                </a:solidFill>
                <a:latin typeface="Tahoma"/>
                <a:cs typeface="Tahoma"/>
              </a:rPr>
              <a:t>To</a:t>
            </a:r>
            <a:r>
              <a:rPr sz="2400" spc="-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400" spc="65" dirty="0">
                <a:solidFill>
                  <a:srgbClr val="403C4E"/>
                </a:solidFill>
                <a:latin typeface="Tahoma"/>
                <a:cs typeface="Tahoma"/>
              </a:rPr>
              <a:t>comprehensively</a:t>
            </a:r>
            <a:r>
              <a:rPr sz="2400" spc="-3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403C4E"/>
                </a:solidFill>
                <a:latin typeface="Tahoma"/>
                <a:cs typeface="Tahoma"/>
              </a:rPr>
              <a:t>analyse</a:t>
            </a:r>
            <a:r>
              <a:rPr sz="2400" spc="-3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400" spc="65" dirty="0">
                <a:solidFill>
                  <a:srgbClr val="403C4E"/>
                </a:solidFill>
                <a:latin typeface="Tahoma"/>
                <a:cs typeface="Tahoma"/>
              </a:rPr>
              <a:t>the</a:t>
            </a:r>
            <a:r>
              <a:rPr sz="2400" spc="-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3C4E"/>
                </a:solidFill>
                <a:latin typeface="Tahoma"/>
                <a:cs typeface="Tahoma"/>
              </a:rPr>
              <a:t>screen-</a:t>
            </a:r>
            <a:r>
              <a:rPr sz="2400" spc="70" dirty="0">
                <a:solidFill>
                  <a:srgbClr val="403C4E"/>
                </a:solidFill>
                <a:latin typeface="Tahoma"/>
                <a:cs typeface="Tahoma"/>
              </a:rPr>
              <a:t>time</a:t>
            </a:r>
            <a:r>
              <a:rPr sz="2400" spc="-3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400" spc="65" dirty="0">
                <a:solidFill>
                  <a:srgbClr val="403C4E"/>
                </a:solidFill>
                <a:latin typeface="Tahoma"/>
                <a:cs typeface="Tahoma"/>
              </a:rPr>
              <a:t>habits</a:t>
            </a:r>
            <a:r>
              <a:rPr sz="2400" spc="-3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400" spc="65" dirty="0">
                <a:solidFill>
                  <a:srgbClr val="403C4E"/>
                </a:solidFill>
                <a:latin typeface="Tahoma"/>
                <a:cs typeface="Tahoma"/>
              </a:rPr>
              <a:t>of</a:t>
            </a:r>
            <a:r>
              <a:rPr sz="2400" spc="-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3C4E"/>
                </a:solidFill>
                <a:latin typeface="Tahoma"/>
                <a:cs typeface="Tahoma"/>
              </a:rPr>
              <a:t>Indian</a:t>
            </a:r>
            <a:r>
              <a:rPr sz="2400" spc="-3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400" spc="40" dirty="0">
                <a:solidFill>
                  <a:srgbClr val="403C4E"/>
                </a:solidFill>
                <a:latin typeface="Tahoma"/>
                <a:cs typeface="Tahoma"/>
              </a:rPr>
              <a:t>children</a:t>
            </a:r>
            <a:r>
              <a:rPr lang="en-US" sz="2400" spc="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400" spc="40" dirty="0">
                <a:solidFill>
                  <a:srgbClr val="403C4E"/>
                </a:solidFill>
                <a:latin typeface="Tahoma"/>
                <a:cs typeface="Tahoma"/>
              </a:rPr>
              <a:t>,</a:t>
            </a:r>
            <a:r>
              <a:rPr lang="en-US" sz="2400" spc="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spc="55" dirty="0">
                <a:solidFill>
                  <a:srgbClr val="403C4E"/>
                </a:solidFill>
                <a:latin typeface="Tahoma"/>
                <a:cs typeface="Tahoma"/>
              </a:rPr>
              <a:t>segmenting</a:t>
            </a:r>
            <a:r>
              <a:rPr lang="en-US" sz="2400" spc="-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spc="55" dirty="0">
                <a:solidFill>
                  <a:srgbClr val="403C4E"/>
                </a:solidFill>
                <a:latin typeface="Tahoma"/>
                <a:cs typeface="Tahoma"/>
              </a:rPr>
              <a:t>by</a:t>
            </a:r>
            <a:r>
              <a:rPr lang="en-US" sz="2400" spc="-3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dirty="0">
                <a:solidFill>
                  <a:srgbClr val="403C4E"/>
                </a:solidFill>
                <a:latin typeface="Tahoma"/>
                <a:cs typeface="Tahoma"/>
              </a:rPr>
              <a:t>age</a:t>
            </a:r>
            <a:r>
              <a:rPr lang="en-US" sz="2400" spc="-3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spc="50" dirty="0">
                <a:solidFill>
                  <a:srgbClr val="403C4E"/>
                </a:solidFill>
                <a:latin typeface="Tahoma"/>
                <a:cs typeface="Tahoma"/>
              </a:rPr>
              <a:t>groups,</a:t>
            </a:r>
            <a:r>
              <a:rPr lang="en-US" sz="2400" spc="-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dirty="0">
                <a:solidFill>
                  <a:srgbClr val="403C4E"/>
                </a:solidFill>
                <a:latin typeface="Tahoma"/>
                <a:cs typeface="Tahoma"/>
              </a:rPr>
              <a:t>device</a:t>
            </a:r>
            <a:r>
              <a:rPr lang="en-US" sz="2400" spc="-3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dirty="0">
                <a:solidFill>
                  <a:srgbClr val="403C4E"/>
                </a:solidFill>
                <a:latin typeface="Tahoma"/>
                <a:cs typeface="Tahoma"/>
              </a:rPr>
              <a:t>types,</a:t>
            </a:r>
            <a:r>
              <a:rPr lang="en-US" sz="2400" spc="-3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spc="9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lang="en-US" sz="2400" spc="-3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spc="60" dirty="0">
                <a:solidFill>
                  <a:srgbClr val="403C4E"/>
                </a:solidFill>
                <a:latin typeface="Tahoma"/>
                <a:cs typeface="Tahoma"/>
              </a:rPr>
              <a:t>demographics.</a:t>
            </a:r>
            <a:r>
              <a:rPr lang="en-US" sz="2400" spc="-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spc="-25" dirty="0">
                <a:solidFill>
                  <a:srgbClr val="403C4E"/>
                </a:solidFill>
                <a:latin typeface="Tahoma"/>
                <a:cs typeface="Tahoma"/>
              </a:rPr>
              <a:t>The</a:t>
            </a:r>
            <a:r>
              <a:rPr lang="en-US" sz="2400" dirty="0">
                <a:latin typeface="Tahoma"/>
                <a:cs typeface="Tahoma"/>
              </a:rPr>
              <a:t> </a:t>
            </a:r>
            <a:r>
              <a:rPr lang="en-US" sz="2400" spc="60" dirty="0">
                <a:solidFill>
                  <a:srgbClr val="403C4E"/>
                </a:solidFill>
                <a:latin typeface="Tahoma"/>
                <a:cs typeface="Tahoma"/>
              </a:rPr>
              <a:t>ultimate</a:t>
            </a:r>
            <a:r>
              <a:rPr lang="en-US" sz="2400" spc="-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dirty="0">
                <a:solidFill>
                  <a:srgbClr val="403C4E"/>
                </a:solidFill>
                <a:latin typeface="Tahoma"/>
                <a:cs typeface="Tahoma"/>
              </a:rPr>
              <a:t>goal</a:t>
            </a:r>
            <a:r>
              <a:rPr lang="en-US" sz="2400" spc="-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dirty="0">
                <a:solidFill>
                  <a:srgbClr val="403C4E"/>
                </a:solidFill>
                <a:latin typeface="Tahoma"/>
                <a:cs typeface="Tahoma"/>
              </a:rPr>
              <a:t>is</a:t>
            </a:r>
            <a:r>
              <a:rPr lang="en-US" sz="2400" spc="-7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spc="65" dirty="0">
                <a:solidFill>
                  <a:srgbClr val="403C4E"/>
                </a:solidFill>
                <a:latin typeface="Tahoma"/>
                <a:cs typeface="Tahoma"/>
              </a:rPr>
              <a:t>to</a:t>
            </a:r>
            <a:r>
              <a:rPr lang="en-US" sz="2400" spc="-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spc="80" dirty="0">
                <a:solidFill>
                  <a:srgbClr val="403C4E"/>
                </a:solidFill>
                <a:latin typeface="Tahoma"/>
                <a:cs typeface="Tahoma"/>
              </a:rPr>
              <a:t>build</a:t>
            </a:r>
            <a:r>
              <a:rPr lang="en-US" sz="2400" spc="-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spc="75" dirty="0">
                <a:solidFill>
                  <a:srgbClr val="403C4E"/>
                </a:solidFill>
                <a:latin typeface="Tahoma"/>
                <a:cs typeface="Tahoma"/>
              </a:rPr>
              <a:t>an</a:t>
            </a:r>
            <a:r>
              <a:rPr lang="en-US" sz="2400" spc="-7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spc="45" dirty="0">
                <a:solidFill>
                  <a:srgbClr val="403C4E"/>
                </a:solidFill>
                <a:latin typeface="Tahoma"/>
                <a:cs typeface="Tahoma"/>
              </a:rPr>
              <a:t>interactive</a:t>
            </a:r>
            <a:r>
              <a:rPr lang="en-US" sz="2400" spc="-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spc="75" dirty="0">
                <a:solidFill>
                  <a:srgbClr val="403C4E"/>
                </a:solidFill>
                <a:latin typeface="Tahoma"/>
                <a:cs typeface="Tahoma"/>
              </a:rPr>
              <a:t>Power</a:t>
            </a:r>
            <a:r>
              <a:rPr lang="en-US" sz="2400" spc="-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spc="-50" dirty="0">
                <a:solidFill>
                  <a:srgbClr val="403C4E"/>
                </a:solidFill>
                <a:latin typeface="Tahoma"/>
                <a:cs typeface="Tahoma"/>
              </a:rPr>
              <a:t>BI</a:t>
            </a:r>
            <a:r>
              <a:rPr lang="en-US" sz="2400" spc="-7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spc="85" dirty="0">
                <a:solidFill>
                  <a:srgbClr val="403C4E"/>
                </a:solidFill>
                <a:latin typeface="Tahoma"/>
                <a:cs typeface="Tahoma"/>
              </a:rPr>
              <a:t>dashboard</a:t>
            </a:r>
            <a:r>
              <a:rPr lang="en-US" sz="2400" spc="-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spc="50" dirty="0">
                <a:solidFill>
                  <a:srgbClr val="403C4E"/>
                </a:solidFill>
                <a:latin typeface="Tahoma"/>
                <a:cs typeface="Tahoma"/>
              </a:rPr>
              <a:t>that</a:t>
            </a:r>
            <a:r>
              <a:rPr lang="en-US" sz="2400" spc="-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spc="35" dirty="0">
                <a:solidFill>
                  <a:srgbClr val="403C4E"/>
                </a:solidFill>
                <a:latin typeface="Tahoma"/>
                <a:cs typeface="Tahoma"/>
              </a:rPr>
              <a:t>reveals </a:t>
            </a:r>
            <a:r>
              <a:rPr lang="en-US" sz="2400" spc="60" dirty="0">
                <a:solidFill>
                  <a:srgbClr val="403C4E"/>
                </a:solidFill>
                <a:latin typeface="Tahoma"/>
                <a:cs typeface="Tahoma"/>
              </a:rPr>
              <a:t>actionable</a:t>
            </a:r>
            <a:r>
              <a:rPr lang="en-US" sz="2400" spc="-10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spc="50" dirty="0">
                <a:solidFill>
                  <a:srgbClr val="403C4E"/>
                </a:solidFill>
                <a:latin typeface="Tahoma"/>
                <a:cs typeface="Tahoma"/>
              </a:rPr>
              <a:t>insights</a:t>
            </a:r>
            <a:r>
              <a:rPr lang="en-US" sz="2400" spc="-10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spc="70" dirty="0">
                <a:solidFill>
                  <a:srgbClr val="403C4E"/>
                </a:solidFill>
                <a:latin typeface="Tahoma"/>
                <a:cs typeface="Tahoma"/>
              </a:rPr>
              <a:t>into</a:t>
            </a:r>
            <a:r>
              <a:rPr lang="en-US" sz="2400" spc="-10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spc="60" dirty="0">
                <a:solidFill>
                  <a:srgbClr val="403C4E"/>
                </a:solidFill>
                <a:latin typeface="Tahoma"/>
                <a:cs typeface="Tahoma"/>
              </a:rPr>
              <a:t>these</a:t>
            </a:r>
            <a:r>
              <a:rPr lang="en-US" sz="2400" spc="-10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z="2400" spc="35" dirty="0">
                <a:solidFill>
                  <a:srgbClr val="403C4E"/>
                </a:solidFill>
                <a:latin typeface="Tahoma"/>
                <a:cs typeface="Tahoma"/>
              </a:rPr>
              <a:t>patterns.</a:t>
            </a:r>
            <a:endParaRPr lang="en-US" sz="2400" dirty="0">
              <a:latin typeface="Tahoma"/>
              <a:cs typeface="Tahoma"/>
            </a:endParaRPr>
          </a:p>
          <a:p>
            <a:pPr marL="27305">
              <a:lnSpc>
                <a:spcPct val="100000"/>
              </a:lnSpc>
            </a:pPr>
            <a:endParaRPr sz="20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045" y="4224658"/>
            <a:ext cx="7204161" cy="551017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335978" y="16499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335978" y="192633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335978" y="220270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335978" y="247907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335978" y="275545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313753" y="1160772"/>
            <a:ext cx="7014845" cy="35947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90" dirty="0">
                <a:solidFill>
                  <a:srgbClr val="403C4E"/>
                </a:solidFill>
                <a:latin typeface="Book Antiqua"/>
                <a:cs typeface="Book Antiqua"/>
              </a:rPr>
              <a:t>What</a:t>
            </a:r>
            <a:r>
              <a:rPr b="1" spc="-10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80" dirty="0">
                <a:solidFill>
                  <a:srgbClr val="403C4E"/>
                </a:solidFill>
                <a:latin typeface="Book Antiqua"/>
                <a:cs typeface="Book Antiqua"/>
              </a:rPr>
              <a:t>This</a:t>
            </a:r>
            <a:r>
              <a:rPr b="1" spc="-10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95" dirty="0">
                <a:solidFill>
                  <a:srgbClr val="403C4E"/>
                </a:solidFill>
                <a:latin typeface="Book Antiqua"/>
                <a:cs typeface="Book Antiqua"/>
              </a:rPr>
              <a:t>Project</a:t>
            </a:r>
            <a:r>
              <a:rPr b="1" spc="-10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55" dirty="0">
                <a:solidFill>
                  <a:srgbClr val="403C4E"/>
                </a:solidFill>
                <a:latin typeface="Book Antiqua"/>
                <a:cs typeface="Book Antiqua"/>
              </a:rPr>
              <a:t>Covers</a:t>
            </a:r>
            <a:endParaRPr b="1" dirty="0">
              <a:latin typeface="Book Antiqua"/>
              <a:cs typeface="Book Antiqua"/>
            </a:endParaRPr>
          </a:p>
          <a:p>
            <a:pPr marL="172720">
              <a:lnSpc>
                <a:spcPct val="100000"/>
              </a:lnSpc>
              <a:spcBef>
                <a:spcPts val="1280"/>
              </a:spcBef>
            </a:pPr>
            <a:r>
              <a:rPr sz="1600" spc="-50" dirty="0">
                <a:solidFill>
                  <a:srgbClr val="403C4E"/>
                </a:solidFill>
                <a:latin typeface="Arial Black"/>
                <a:cs typeface="Arial Black"/>
              </a:rPr>
              <a:t>Data</a:t>
            </a:r>
            <a:r>
              <a:rPr sz="1600" spc="4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1600" spc="-65" dirty="0">
                <a:solidFill>
                  <a:srgbClr val="403C4E"/>
                </a:solidFill>
                <a:latin typeface="Arial Black"/>
                <a:cs typeface="Arial Black"/>
              </a:rPr>
              <a:t>Cleaning</a:t>
            </a:r>
            <a:r>
              <a:rPr sz="1600" spc="4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1600" spc="-150" dirty="0">
                <a:solidFill>
                  <a:srgbClr val="403C4E"/>
                </a:solidFill>
                <a:latin typeface="Arial Black"/>
                <a:cs typeface="Arial Black"/>
              </a:rPr>
              <a:t>&amp;</a:t>
            </a:r>
            <a:r>
              <a:rPr sz="1600" spc="4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1600" spc="-55" dirty="0">
                <a:solidFill>
                  <a:srgbClr val="403C4E"/>
                </a:solidFill>
                <a:latin typeface="Arial Black"/>
                <a:cs typeface="Arial Black"/>
              </a:rPr>
              <a:t>Feature</a:t>
            </a:r>
            <a:r>
              <a:rPr sz="1600" spc="4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1600" spc="-65" dirty="0">
                <a:solidFill>
                  <a:srgbClr val="403C4E"/>
                </a:solidFill>
                <a:latin typeface="Arial Black"/>
                <a:cs typeface="Arial Black"/>
              </a:rPr>
              <a:t>Engineering</a:t>
            </a:r>
            <a:r>
              <a:rPr sz="1600" spc="4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1600" spc="-50" dirty="0">
                <a:solidFill>
                  <a:srgbClr val="403C4E"/>
                </a:solidFill>
                <a:latin typeface="Arial Black"/>
                <a:cs typeface="Arial Black"/>
              </a:rPr>
              <a:t>(Python):</a:t>
            </a:r>
            <a:r>
              <a:rPr sz="1600" spc="4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Ensuring</a:t>
            </a:r>
            <a:r>
              <a:rPr sz="1600"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data</a:t>
            </a:r>
            <a:r>
              <a:rPr sz="1600"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quality</a:t>
            </a:r>
            <a:r>
              <a:rPr sz="1600"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z="1600"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creating</a:t>
            </a:r>
            <a:r>
              <a:rPr sz="1600"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new,</a:t>
            </a:r>
            <a:r>
              <a:rPr sz="1600"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insightful</a:t>
            </a:r>
            <a:r>
              <a:rPr sz="1600"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3C4E"/>
                </a:solidFill>
                <a:latin typeface="Tahoma"/>
                <a:cs typeface="Tahoma"/>
              </a:rPr>
              <a:t>features.</a:t>
            </a:r>
            <a:endParaRPr sz="1600" dirty="0">
              <a:latin typeface="Tahoma"/>
              <a:cs typeface="Tahoma"/>
            </a:endParaRPr>
          </a:p>
          <a:p>
            <a:pPr marL="172720">
              <a:lnSpc>
                <a:spcPct val="100000"/>
              </a:lnSpc>
              <a:spcBef>
                <a:spcPts val="915"/>
              </a:spcBef>
            </a:pPr>
            <a:r>
              <a:rPr sz="1600" spc="-70" dirty="0">
                <a:solidFill>
                  <a:srgbClr val="403C4E"/>
                </a:solidFill>
                <a:latin typeface="Arial Black"/>
                <a:cs typeface="Arial Black"/>
              </a:rPr>
              <a:t>Visual</a:t>
            </a:r>
            <a:r>
              <a:rPr sz="1600" spc="12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1600" spc="-55" dirty="0">
                <a:solidFill>
                  <a:srgbClr val="403C4E"/>
                </a:solidFill>
                <a:latin typeface="Arial Black"/>
                <a:cs typeface="Arial Black"/>
              </a:rPr>
              <a:t>Exploration:</a:t>
            </a:r>
            <a:r>
              <a:rPr sz="1600" spc="12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Conducting</a:t>
            </a:r>
            <a:r>
              <a:rPr sz="1600" spc="1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univariate</a:t>
            </a:r>
            <a:r>
              <a:rPr sz="1600" spc="1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z="1600" spc="1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bivariate</a:t>
            </a:r>
            <a:r>
              <a:rPr sz="1600" spc="1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analyses</a:t>
            </a:r>
            <a:r>
              <a:rPr sz="1600" spc="1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to</a:t>
            </a:r>
            <a:r>
              <a:rPr sz="1600" spc="1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uncover</a:t>
            </a:r>
            <a:r>
              <a:rPr sz="1600" spc="1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initial</a:t>
            </a:r>
            <a:r>
              <a:rPr sz="1600" spc="1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3C4E"/>
                </a:solidFill>
                <a:latin typeface="Tahoma"/>
                <a:cs typeface="Tahoma"/>
              </a:rPr>
              <a:t>trends.</a:t>
            </a:r>
            <a:endParaRPr sz="1600" dirty="0">
              <a:latin typeface="Tahoma"/>
              <a:cs typeface="Tahoma"/>
            </a:endParaRPr>
          </a:p>
          <a:p>
            <a:pPr marL="172720" marR="48260">
              <a:lnSpc>
                <a:spcPct val="172700"/>
              </a:lnSpc>
            </a:pPr>
            <a:r>
              <a:rPr sz="1600" spc="-50" dirty="0">
                <a:solidFill>
                  <a:srgbClr val="403C4E"/>
                </a:solidFill>
                <a:latin typeface="Arial Black"/>
                <a:cs typeface="Arial Black"/>
              </a:rPr>
              <a:t>Cohort</a:t>
            </a:r>
            <a:r>
              <a:rPr sz="1600" spc="3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1600" spc="-150" dirty="0">
                <a:solidFill>
                  <a:srgbClr val="403C4E"/>
                </a:solidFill>
                <a:latin typeface="Arial Black"/>
                <a:cs typeface="Arial Black"/>
              </a:rPr>
              <a:t>&amp;</a:t>
            </a:r>
            <a:r>
              <a:rPr sz="1600" spc="4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1600" spc="-75" dirty="0">
                <a:solidFill>
                  <a:srgbClr val="403C4E"/>
                </a:solidFill>
                <a:latin typeface="Arial Black"/>
                <a:cs typeface="Arial Black"/>
              </a:rPr>
              <a:t>Segment</a:t>
            </a:r>
            <a:r>
              <a:rPr sz="1600" spc="4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1600" spc="-70" dirty="0">
                <a:solidFill>
                  <a:srgbClr val="403C4E"/>
                </a:solidFill>
                <a:latin typeface="Arial Black"/>
                <a:cs typeface="Arial Black"/>
              </a:rPr>
              <a:t>Analysis:</a:t>
            </a:r>
            <a:r>
              <a:rPr sz="1600" spc="4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1600" spc="50" dirty="0">
                <a:solidFill>
                  <a:srgbClr val="403C4E"/>
                </a:solidFill>
                <a:latin typeface="Tahoma"/>
                <a:cs typeface="Tahoma"/>
              </a:rPr>
              <a:t>Deep</a:t>
            </a:r>
            <a:r>
              <a:rPr sz="1600"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diving</a:t>
            </a:r>
            <a:r>
              <a:rPr sz="1600"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into</a:t>
            </a:r>
            <a:r>
              <a:rPr sz="1600" spc="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specific</a:t>
            </a:r>
            <a:r>
              <a:rPr sz="1600"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user</a:t>
            </a:r>
            <a:r>
              <a:rPr sz="1600" spc="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groups</a:t>
            </a:r>
            <a:r>
              <a:rPr sz="1600"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403C4E"/>
                </a:solidFill>
                <a:latin typeface="Tahoma"/>
                <a:cs typeface="Tahoma"/>
              </a:rPr>
              <a:t>based</a:t>
            </a:r>
            <a:r>
              <a:rPr sz="1600" spc="55" dirty="0">
                <a:solidFill>
                  <a:srgbClr val="403C4E"/>
                </a:solidFill>
                <a:latin typeface="Tahoma"/>
                <a:cs typeface="Tahoma"/>
              </a:rPr>
              <a:t> on</a:t>
            </a:r>
            <a:r>
              <a:rPr sz="1600"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shared</a:t>
            </a:r>
            <a:r>
              <a:rPr sz="1600" spc="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3C4E"/>
                </a:solidFill>
                <a:latin typeface="Tahoma"/>
                <a:cs typeface="Tahoma"/>
              </a:rPr>
              <a:t>characteristics. </a:t>
            </a:r>
            <a:r>
              <a:rPr sz="1600" spc="-55" dirty="0">
                <a:solidFill>
                  <a:srgbClr val="403C4E"/>
                </a:solidFill>
                <a:latin typeface="Arial Black"/>
                <a:cs typeface="Arial Black"/>
              </a:rPr>
              <a:t>Seasonal/Habit</a:t>
            </a:r>
            <a:r>
              <a:rPr sz="1600" spc="3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1600" spc="-55" dirty="0">
                <a:solidFill>
                  <a:srgbClr val="403C4E"/>
                </a:solidFill>
                <a:latin typeface="Arial Black"/>
                <a:cs typeface="Arial Black"/>
              </a:rPr>
              <a:t>Patterns:</a:t>
            </a:r>
            <a:r>
              <a:rPr sz="1600" spc="5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Identifying</a:t>
            </a:r>
            <a:r>
              <a:rPr sz="1600" spc="7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403C4E"/>
                </a:solidFill>
                <a:latin typeface="Tahoma"/>
                <a:cs typeface="Tahoma"/>
              </a:rPr>
              <a:t>how</a:t>
            </a:r>
            <a:r>
              <a:rPr sz="1600"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screen</a:t>
            </a:r>
            <a:r>
              <a:rPr sz="1600" spc="7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time</a:t>
            </a:r>
            <a:r>
              <a:rPr sz="1600"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varies</a:t>
            </a:r>
            <a:r>
              <a:rPr sz="1600"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by</a:t>
            </a:r>
            <a:r>
              <a:rPr sz="1600" spc="7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day</a:t>
            </a:r>
            <a:r>
              <a:rPr sz="1600"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of</a:t>
            </a:r>
            <a:r>
              <a:rPr sz="1600" spc="7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the</a:t>
            </a:r>
            <a:r>
              <a:rPr sz="1600"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week</a:t>
            </a:r>
            <a:r>
              <a:rPr sz="1600" spc="7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403C4E"/>
                </a:solidFill>
                <a:latin typeface="Tahoma"/>
                <a:cs typeface="Tahoma"/>
              </a:rPr>
              <a:t>or</a:t>
            </a:r>
            <a:r>
              <a:rPr sz="1600"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specific</a:t>
            </a:r>
            <a:r>
              <a:rPr sz="1600" spc="7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3C4E"/>
                </a:solidFill>
                <a:latin typeface="Tahoma"/>
                <a:cs typeface="Tahoma"/>
              </a:rPr>
              <a:t>periods. </a:t>
            </a:r>
            <a:r>
              <a:rPr sz="1600" spc="-55" dirty="0">
                <a:solidFill>
                  <a:srgbClr val="403C4E"/>
                </a:solidFill>
                <a:latin typeface="Arial Black"/>
                <a:cs typeface="Arial Black"/>
              </a:rPr>
              <a:t>Interactive</a:t>
            </a:r>
            <a:r>
              <a:rPr sz="1600" spc="9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1600" spc="-65" dirty="0">
                <a:solidFill>
                  <a:srgbClr val="403C4E"/>
                </a:solidFill>
                <a:latin typeface="Arial Black"/>
                <a:cs typeface="Arial Black"/>
              </a:rPr>
              <a:t>Power</a:t>
            </a:r>
            <a:r>
              <a:rPr sz="1600" spc="9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1600" spc="-90" dirty="0">
                <a:solidFill>
                  <a:srgbClr val="403C4E"/>
                </a:solidFill>
                <a:latin typeface="Arial Black"/>
                <a:cs typeface="Arial Black"/>
              </a:rPr>
              <a:t>BI</a:t>
            </a:r>
            <a:r>
              <a:rPr sz="1600" spc="9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1600" spc="-50" dirty="0">
                <a:solidFill>
                  <a:srgbClr val="403C4E"/>
                </a:solidFill>
                <a:latin typeface="Arial Black"/>
                <a:cs typeface="Arial Black"/>
              </a:rPr>
              <a:t>Dashboard:</a:t>
            </a:r>
            <a:r>
              <a:rPr sz="1600" spc="9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Developing</a:t>
            </a:r>
            <a:r>
              <a:rPr sz="1600" spc="1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a</a:t>
            </a:r>
            <a:r>
              <a:rPr sz="1600" spc="10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three-page,</a:t>
            </a:r>
            <a:r>
              <a:rPr sz="1600" spc="1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dynamic</a:t>
            </a:r>
            <a:r>
              <a:rPr sz="1600" spc="1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report</a:t>
            </a:r>
            <a:r>
              <a:rPr sz="1600" spc="10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for</a:t>
            </a:r>
            <a:r>
              <a:rPr sz="1600" spc="1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easy</a:t>
            </a:r>
            <a:r>
              <a:rPr sz="1600" spc="10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exploration</a:t>
            </a:r>
            <a:r>
              <a:rPr sz="1600" spc="1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403C4E"/>
                </a:solidFill>
                <a:latin typeface="Tahoma"/>
                <a:cs typeface="Tahoma"/>
              </a:rPr>
              <a:t>of</a:t>
            </a:r>
            <a:r>
              <a:rPr sz="1600" spc="1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403C4E"/>
                </a:solidFill>
                <a:latin typeface="Tahoma"/>
                <a:cs typeface="Tahoma"/>
              </a:rPr>
              <a:t>insights.</a:t>
            </a:r>
            <a:endParaRPr sz="1600" dirty="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10800" y="4961147"/>
            <a:ext cx="5875691" cy="47736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6526" y="690245"/>
            <a:ext cx="14737080" cy="1673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6600"/>
              </a:lnSpc>
            </a:pPr>
            <a:r>
              <a:rPr sz="5300" spc="240" dirty="0"/>
              <a:t>Dataset</a:t>
            </a:r>
            <a:r>
              <a:rPr sz="5300" spc="-50" dirty="0"/>
              <a:t> </a:t>
            </a:r>
            <a:r>
              <a:rPr sz="5300" spc="240" dirty="0"/>
              <a:t>Description:</a:t>
            </a:r>
            <a:r>
              <a:rPr sz="5300" spc="-45" dirty="0"/>
              <a:t> </a:t>
            </a:r>
            <a:r>
              <a:rPr sz="5300" spc="250" dirty="0"/>
              <a:t>The</a:t>
            </a:r>
            <a:r>
              <a:rPr sz="5300" spc="-45" dirty="0"/>
              <a:t> </a:t>
            </a:r>
            <a:r>
              <a:rPr sz="5300" spc="275" dirty="0"/>
              <a:t>Foundation</a:t>
            </a:r>
            <a:r>
              <a:rPr sz="5300" spc="-45" dirty="0"/>
              <a:t> </a:t>
            </a:r>
            <a:r>
              <a:rPr sz="5300" spc="240" dirty="0"/>
              <a:t>of</a:t>
            </a:r>
            <a:r>
              <a:rPr sz="5300" spc="-45" dirty="0"/>
              <a:t> </a:t>
            </a:r>
            <a:r>
              <a:rPr sz="5300" spc="-25" dirty="0"/>
              <a:t>Our </a:t>
            </a:r>
            <a:r>
              <a:rPr sz="5300" spc="145" dirty="0"/>
              <a:t>Analysis</a:t>
            </a:r>
            <a:endParaRPr sz="5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5426" y="4017629"/>
            <a:ext cx="95250" cy="952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5426" y="4980096"/>
            <a:ext cx="952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5426" y="5942563"/>
            <a:ext cx="952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5426" y="6905030"/>
            <a:ext cx="95250" cy="95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5426" y="7867497"/>
            <a:ext cx="95250" cy="952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36526" y="3080753"/>
            <a:ext cx="9452610" cy="60985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50" b="1" spc="160" dirty="0">
                <a:solidFill>
                  <a:srgbClr val="403C4E"/>
                </a:solidFill>
                <a:latin typeface="Book Antiqua"/>
                <a:cs typeface="Book Antiqua"/>
              </a:rPr>
              <a:t>Dataset</a:t>
            </a:r>
            <a:r>
              <a:rPr sz="3150" b="1" spc="-20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sz="3150" b="1" spc="155" dirty="0">
                <a:solidFill>
                  <a:srgbClr val="403C4E"/>
                </a:solidFill>
                <a:latin typeface="Book Antiqua"/>
                <a:cs typeface="Book Antiqua"/>
              </a:rPr>
              <a:t>Columns</a:t>
            </a:r>
            <a:r>
              <a:rPr sz="3150" b="1" spc="-20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sz="3150" b="1" spc="125" dirty="0">
                <a:solidFill>
                  <a:srgbClr val="403C4E"/>
                </a:solidFill>
                <a:latin typeface="Book Antiqua"/>
                <a:cs typeface="Book Antiqua"/>
              </a:rPr>
              <a:t>(Key</a:t>
            </a:r>
            <a:r>
              <a:rPr sz="3150" b="1" spc="-20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sz="3150" b="1" spc="210" dirty="0">
                <a:solidFill>
                  <a:srgbClr val="403C4E"/>
                </a:solidFill>
                <a:latin typeface="Book Antiqua"/>
                <a:cs typeface="Book Antiqua"/>
              </a:rPr>
              <a:t>Features)</a:t>
            </a:r>
            <a:endParaRPr sz="3150">
              <a:latin typeface="Book Antiqua"/>
              <a:cs typeface="Book Antiqua"/>
            </a:endParaRPr>
          </a:p>
          <a:p>
            <a:pPr marL="332740" marR="1313180">
              <a:lnSpc>
                <a:spcPct val="131000"/>
              </a:lnSpc>
              <a:spcBef>
                <a:spcPts val="1630"/>
              </a:spcBef>
            </a:pPr>
            <a:r>
              <a:rPr sz="2100" spc="-160" dirty="0">
                <a:solidFill>
                  <a:srgbClr val="403C4E"/>
                </a:solidFill>
                <a:latin typeface="Arial Black"/>
                <a:cs typeface="Arial Black"/>
              </a:rPr>
              <a:t>age,</a:t>
            </a:r>
            <a:r>
              <a:rPr sz="2100" spc="-105" dirty="0">
                <a:solidFill>
                  <a:srgbClr val="403C4E"/>
                </a:solidFill>
                <a:latin typeface="Arial Black"/>
                <a:cs typeface="Arial Black"/>
              </a:rPr>
              <a:t> gender, </a:t>
            </a:r>
            <a:r>
              <a:rPr sz="2100" spc="-70" dirty="0">
                <a:solidFill>
                  <a:srgbClr val="403C4E"/>
                </a:solidFill>
                <a:latin typeface="Arial Black"/>
                <a:cs typeface="Arial Black"/>
              </a:rPr>
              <a:t>urban_or_rural:</a:t>
            </a:r>
            <a:r>
              <a:rPr sz="2100" spc="-11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2100" spc="85" dirty="0">
                <a:solidFill>
                  <a:srgbClr val="403C4E"/>
                </a:solidFill>
                <a:latin typeface="Tahoma"/>
                <a:cs typeface="Tahoma"/>
              </a:rPr>
              <a:t>Fundamental</a:t>
            </a:r>
            <a:r>
              <a:rPr sz="2100" spc="-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90" dirty="0">
                <a:solidFill>
                  <a:srgbClr val="403C4E"/>
                </a:solidFill>
                <a:latin typeface="Tahoma"/>
                <a:cs typeface="Tahoma"/>
              </a:rPr>
              <a:t>demographic</a:t>
            </a:r>
            <a:r>
              <a:rPr sz="2100" spc="-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75" dirty="0">
                <a:solidFill>
                  <a:srgbClr val="403C4E"/>
                </a:solidFill>
                <a:latin typeface="Tahoma"/>
                <a:cs typeface="Tahoma"/>
              </a:rPr>
              <a:t>and </a:t>
            </a:r>
            <a:r>
              <a:rPr sz="2100" spc="65" dirty="0">
                <a:solidFill>
                  <a:srgbClr val="403C4E"/>
                </a:solidFill>
                <a:latin typeface="Tahoma"/>
                <a:cs typeface="Tahoma"/>
              </a:rPr>
              <a:t>geographic</a:t>
            </a:r>
            <a:r>
              <a:rPr sz="2100" spc="-8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50" dirty="0">
                <a:solidFill>
                  <a:srgbClr val="403C4E"/>
                </a:solidFill>
                <a:latin typeface="Tahoma"/>
                <a:cs typeface="Tahoma"/>
              </a:rPr>
              <a:t>identifiers.</a:t>
            </a:r>
            <a:endParaRPr sz="2100">
              <a:latin typeface="Tahoma"/>
              <a:cs typeface="Tahoma"/>
            </a:endParaRPr>
          </a:p>
          <a:p>
            <a:pPr marL="332740" marR="88900">
              <a:lnSpc>
                <a:spcPct val="131000"/>
              </a:lnSpc>
              <a:spcBef>
                <a:spcPts val="975"/>
              </a:spcBef>
            </a:pPr>
            <a:r>
              <a:rPr sz="2100" spc="-105" dirty="0">
                <a:solidFill>
                  <a:srgbClr val="403C4E"/>
                </a:solidFill>
                <a:latin typeface="Arial Black"/>
                <a:cs typeface="Arial Black"/>
              </a:rPr>
              <a:t>primary_device,</a:t>
            </a:r>
            <a:r>
              <a:rPr sz="2100" spc="-9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2100" spc="-120" dirty="0">
                <a:solidFill>
                  <a:srgbClr val="403C4E"/>
                </a:solidFill>
                <a:latin typeface="Arial Black"/>
                <a:cs typeface="Arial Black"/>
              </a:rPr>
              <a:t>avg_daily_screen_time_hr:</a:t>
            </a:r>
            <a:r>
              <a:rPr sz="2100" spc="-8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2100" spc="75" dirty="0">
                <a:solidFill>
                  <a:srgbClr val="403C4E"/>
                </a:solidFill>
                <a:latin typeface="Tahoma"/>
                <a:cs typeface="Tahoma"/>
              </a:rPr>
              <a:t>Capturing</a:t>
            </a:r>
            <a:r>
              <a:rPr sz="2100" spc="-3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80" dirty="0">
                <a:solidFill>
                  <a:srgbClr val="403C4E"/>
                </a:solidFill>
                <a:latin typeface="Tahoma"/>
                <a:cs typeface="Tahoma"/>
              </a:rPr>
              <a:t>the</a:t>
            </a:r>
            <a:r>
              <a:rPr sz="2100" spc="-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105" dirty="0">
                <a:solidFill>
                  <a:srgbClr val="403C4E"/>
                </a:solidFill>
                <a:latin typeface="Tahoma"/>
                <a:cs typeface="Tahoma"/>
              </a:rPr>
              <a:t>main</a:t>
            </a:r>
            <a:r>
              <a:rPr sz="2100" spc="-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55" dirty="0">
                <a:solidFill>
                  <a:srgbClr val="403C4E"/>
                </a:solidFill>
                <a:latin typeface="Tahoma"/>
                <a:cs typeface="Tahoma"/>
              </a:rPr>
              <a:t>device </a:t>
            </a:r>
            <a:r>
              <a:rPr sz="2100" spc="95" dirty="0">
                <a:solidFill>
                  <a:srgbClr val="403C4E"/>
                </a:solidFill>
                <a:latin typeface="Tahoma"/>
                <a:cs typeface="Tahoma"/>
              </a:rPr>
              <a:t>used</a:t>
            </a:r>
            <a:r>
              <a:rPr sz="2100" spc="-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10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z="2100" spc="-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55" dirty="0">
                <a:solidFill>
                  <a:srgbClr val="403C4E"/>
                </a:solidFill>
                <a:latin typeface="Tahoma"/>
                <a:cs typeface="Tahoma"/>
              </a:rPr>
              <a:t>average</a:t>
            </a:r>
            <a:r>
              <a:rPr sz="2100" spc="-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60" dirty="0">
                <a:solidFill>
                  <a:srgbClr val="403C4E"/>
                </a:solidFill>
                <a:latin typeface="Tahoma"/>
                <a:cs typeface="Tahoma"/>
              </a:rPr>
              <a:t>daily</a:t>
            </a:r>
            <a:r>
              <a:rPr sz="2100" spc="-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80" dirty="0">
                <a:solidFill>
                  <a:srgbClr val="403C4E"/>
                </a:solidFill>
                <a:latin typeface="Tahoma"/>
                <a:cs typeface="Tahoma"/>
              </a:rPr>
              <a:t>screen</a:t>
            </a:r>
            <a:r>
              <a:rPr sz="2100" spc="-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95" dirty="0">
                <a:solidFill>
                  <a:srgbClr val="403C4E"/>
                </a:solidFill>
                <a:latin typeface="Tahoma"/>
                <a:cs typeface="Tahoma"/>
              </a:rPr>
              <a:t>exposure</a:t>
            </a:r>
            <a:r>
              <a:rPr sz="2100" spc="-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85" dirty="0">
                <a:solidFill>
                  <a:srgbClr val="403C4E"/>
                </a:solidFill>
                <a:latin typeface="Tahoma"/>
                <a:cs typeface="Tahoma"/>
              </a:rPr>
              <a:t>in</a:t>
            </a:r>
            <a:r>
              <a:rPr sz="2100" spc="-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60" dirty="0">
                <a:solidFill>
                  <a:srgbClr val="403C4E"/>
                </a:solidFill>
                <a:latin typeface="Tahoma"/>
                <a:cs typeface="Tahoma"/>
              </a:rPr>
              <a:t>hours.</a:t>
            </a:r>
            <a:endParaRPr sz="2100">
              <a:latin typeface="Tahoma"/>
              <a:cs typeface="Tahoma"/>
            </a:endParaRPr>
          </a:p>
          <a:p>
            <a:pPr marL="332740" marR="5080">
              <a:lnSpc>
                <a:spcPct val="131000"/>
              </a:lnSpc>
              <a:spcBef>
                <a:spcPts val="980"/>
              </a:spcBef>
            </a:pPr>
            <a:r>
              <a:rPr sz="2100" spc="-120" dirty="0">
                <a:solidFill>
                  <a:srgbClr val="403C4E"/>
                </a:solidFill>
                <a:latin typeface="Arial Black"/>
                <a:cs typeface="Arial Black"/>
              </a:rPr>
              <a:t>exceeded_recommended_limit:</a:t>
            </a:r>
            <a:r>
              <a:rPr sz="2100" spc="-9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2100" spc="75" dirty="0">
                <a:solidFill>
                  <a:srgbClr val="403C4E"/>
                </a:solidFill>
                <a:latin typeface="Tahoma"/>
                <a:cs typeface="Tahoma"/>
              </a:rPr>
              <a:t>A</a:t>
            </a:r>
            <a:r>
              <a:rPr sz="2100" spc="-5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75" dirty="0">
                <a:solidFill>
                  <a:srgbClr val="403C4E"/>
                </a:solidFill>
                <a:latin typeface="Tahoma"/>
                <a:cs typeface="Tahoma"/>
              </a:rPr>
              <a:t>binary</a:t>
            </a:r>
            <a:r>
              <a:rPr sz="2100" spc="-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80" dirty="0">
                <a:solidFill>
                  <a:srgbClr val="403C4E"/>
                </a:solidFill>
                <a:latin typeface="Tahoma"/>
                <a:cs typeface="Tahoma"/>
              </a:rPr>
              <a:t>indicator</a:t>
            </a:r>
            <a:r>
              <a:rPr sz="2100" spc="-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55" dirty="0">
                <a:solidFill>
                  <a:srgbClr val="403C4E"/>
                </a:solidFill>
                <a:latin typeface="Tahoma"/>
                <a:cs typeface="Tahoma"/>
              </a:rPr>
              <a:t>highlighting</a:t>
            </a:r>
            <a:r>
              <a:rPr sz="2100" spc="-5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75" dirty="0">
                <a:solidFill>
                  <a:srgbClr val="403C4E"/>
                </a:solidFill>
                <a:latin typeface="Tahoma"/>
                <a:cs typeface="Tahoma"/>
              </a:rPr>
              <a:t>whether </a:t>
            </a:r>
            <a:r>
              <a:rPr sz="2100" spc="80" dirty="0">
                <a:solidFill>
                  <a:srgbClr val="403C4E"/>
                </a:solidFill>
                <a:latin typeface="Tahoma"/>
                <a:cs typeface="Tahoma"/>
              </a:rPr>
              <a:t>the</a:t>
            </a:r>
            <a:r>
              <a:rPr sz="2100" spc="-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65" dirty="0">
                <a:solidFill>
                  <a:srgbClr val="403C4E"/>
                </a:solidFill>
                <a:latin typeface="Tahoma"/>
                <a:cs typeface="Tahoma"/>
              </a:rPr>
              <a:t>child's</a:t>
            </a:r>
            <a:r>
              <a:rPr sz="2100" spc="-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80" dirty="0">
                <a:solidFill>
                  <a:srgbClr val="403C4E"/>
                </a:solidFill>
                <a:latin typeface="Tahoma"/>
                <a:cs typeface="Tahoma"/>
              </a:rPr>
              <a:t>screen</a:t>
            </a:r>
            <a:r>
              <a:rPr sz="2100" spc="-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95" dirty="0">
                <a:solidFill>
                  <a:srgbClr val="403C4E"/>
                </a:solidFill>
                <a:latin typeface="Tahoma"/>
                <a:cs typeface="Tahoma"/>
              </a:rPr>
              <a:t>time</a:t>
            </a:r>
            <a:r>
              <a:rPr sz="2100" spc="-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65" dirty="0">
                <a:solidFill>
                  <a:srgbClr val="403C4E"/>
                </a:solidFill>
                <a:latin typeface="Tahoma"/>
                <a:cs typeface="Tahoma"/>
              </a:rPr>
              <a:t>is</a:t>
            </a:r>
            <a:r>
              <a:rPr sz="2100" spc="-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80" dirty="0">
                <a:solidFill>
                  <a:srgbClr val="403C4E"/>
                </a:solidFill>
                <a:latin typeface="Tahoma"/>
                <a:cs typeface="Tahoma"/>
              </a:rPr>
              <a:t>above</a:t>
            </a:r>
            <a:r>
              <a:rPr sz="2100" spc="-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80" dirty="0">
                <a:solidFill>
                  <a:srgbClr val="403C4E"/>
                </a:solidFill>
                <a:latin typeface="Tahoma"/>
                <a:cs typeface="Tahoma"/>
              </a:rPr>
              <a:t>health</a:t>
            </a:r>
            <a:r>
              <a:rPr sz="2100" spc="-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45" dirty="0">
                <a:solidFill>
                  <a:srgbClr val="403C4E"/>
                </a:solidFill>
                <a:latin typeface="Tahoma"/>
                <a:cs typeface="Tahoma"/>
              </a:rPr>
              <a:t>guidelines.</a:t>
            </a:r>
            <a:endParaRPr sz="2100">
              <a:latin typeface="Tahoma"/>
              <a:cs typeface="Tahoma"/>
            </a:endParaRPr>
          </a:p>
          <a:p>
            <a:pPr marL="332740" marR="287655">
              <a:lnSpc>
                <a:spcPct val="131000"/>
              </a:lnSpc>
              <a:spcBef>
                <a:spcPts val="975"/>
              </a:spcBef>
            </a:pPr>
            <a:r>
              <a:rPr sz="2100" spc="-105" dirty="0">
                <a:solidFill>
                  <a:srgbClr val="403C4E"/>
                </a:solidFill>
                <a:latin typeface="Arial Black"/>
                <a:cs typeface="Arial Black"/>
              </a:rPr>
              <a:t>educational_to_recreational_ratio:</a:t>
            </a:r>
            <a:r>
              <a:rPr sz="2100" spc="-6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2100" spc="70" dirty="0">
                <a:solidFill>
                  <a:srgbClr val="403C4E"/>
                </a:solidFill>
                <a:latin typeface="Tahoma"/>
                <a:cs typeface="Tahoma"/>
              </a:rPr>
              <a:t>Quantifying</a:t>
            </a:r>
            <a:r>
              <a:rPr sz="2100" spc="-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80" dirty="0">
                <a:solidFill>
                  <a:srgbClr val="403C4E"/>
                </a:solidFill>
                <a:latin typeface="Tahoma"/>
                <a:cs typeface="Tahoma"/>
              </a:rPr>
              <a:t>the</a:t>
            </a:r>
            <a:r>
              <a:rPr sz="2100" spc="-1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75" dirty="0">
                <a:solidFill>
                  <a:srgbClr val="403C4E"/>
                </a:solidFill>
                <a:latin typeface="Tahoma"/>
                <a:cs typeface="Tahoma"/>
              </a:rPr>
              <a:t>balance</a:t>
            </a:r>
            <a:r>
              <a:rPr sz="2100" spc="-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75" dirty="0">
                <a:solidFill>
                  <a:srgbClr val="403C4E"/>
                </a:solidFill>
                <a:latin typeface="Tahoma"/>
                <a:cs typeface="Tahoma"/>
              </a:rPr>
              <a:t>between </a:t>
            </a:r>
            <a:r>
              <a:rPr sz="2100" spc="70" dirty="0">
                <a:solidFill>
                  <a:srgbClr val="403C4E"/>
                </a:solidFill>
                <a:latin typeface="Tahoma"/>
                <a:cs typeface="Tahoma"/>
              </a:rPr>
              <a:t>learning</a:t>
            </a:r>
            <a:r>
              <a:rPr sz="2100" spc="-8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10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z="2100" spc="-8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85" dirty="0">
                <a:solidFill>
                  <a:srgbClr val="403C4E"/>
                </a:solidFill>
                <a:latin typeface="Tahoma"/>
                <a:cs typeface="Tahoma"/>
              </a:rPr>
              <a:t>entertainment</a:t>
            </a:r>
            <a:r>
              <a:rPr sz="2100" spc="-8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120" dirty="0">
                <a:solidFill>
                  <a:srgbClr val="403C4E"/>
                </a:solidFill>
                <a:latin typeface="Tahoma"/>
                <a:cs typeface="Tahoma"/>
              </a:rPr>
              <a:t>on</a:t>
            </a:r>
            <a:r>
              <a:rPr sz="2100" spc="-8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45" dirty="0">
                <a:solidFill>
                  <a:srgbClr val="403C4E"/>
                </a:solidFill>
                <a:latin typeface="Tahoma"/>
                <a:cs typeface="Tahoma"/>
              </a:rPr>
              <a:t>screens.</a:t>
            </a:r>
            <a:endParaRPr sz="2100">
              <a:latin typeface="Tahoma"/>
              <a:cs typeface="Tahoma"/>
            </a:endParaRPr>
          </a:p>
          <a:p>
            <a:pPr marL="332740" marR="726440">
              <a:lnSpc>
                <a:spcPct val="131000"/>
              </a:lnSpc>
              <a:spcBef>
                <a:spcPts val="980"/>
              </a:spcBef>
            </a:pPr>
            <a:r>
              <a:rPr sz="2100" spc="-135" dirty="0">
                <a:solidFill>
                  <a:srgbClr val="403C4E"/>
                </a:solidFill>
                <a:latin typeface="Arial Black"/>
                <a:cs typeface="Arial Black"/>
              </a:rPr>
              <a:t>screen_level,</a:t>
            </a:r>
            <a:r>
              <a:rPr sz="2100" spc="-120" dirty="0">
                <a:solidFill>
                  <a:srgbClr val="403C4E"/>
                </a:solidFill>
                <a:latin typeface="Arial Black"/>
                <a:cs typeface="Arial Black"/>
              </a:rPr>
              <a:t> age_band, age_group: </a:t>
            </a:r>
            <a:r>
              <a:rPr sz="2100" spc="75" dirty="0">
                <a:solidFill>
                  <a:srgbClr val="403C4E"/>
                </a:solidFill>
                <a:latin typeface="Tahoma"/>
                <a:cs typeface="Tahoma"/>
              </a:rPr>
              <a:t>Derived</a:t>
            </a:r>
            <a:r>
              <a:rPr sz="2100" spc="-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75" dirty="0">
                <a:solidFill>
                  <a:srgbClr val="403C4E"/>
                </a:solidFill>
                <a:latin typeface="Tahoma"/>
                <a:cs typeface="Tahoma"/>
              </a:rPr>
              <a:t>features</a:t>
            </a:r>
            <a:r>
              <a:rPr sz="2100" spc="-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90" dirty="0">
                <a:solidFill>
                  <a:srgbClr val="403C4E"/>
                </a:solidFill>
                <a:latin typeface="Tahoma"/>
                <a:cs typeface="Tahoma"/>
              </a:rPr>
              <a:t>for</a:t>
            </a:r>
            <a:r>
              <a:rPr sz="2100" spc="-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65" dirty="0">
                <a:solidFill>
                  <a:srgbClr val="403C4E"/>
                </a:solidFill>
                <a:latin typeface="Tahoma"/>
                <a:cs typeface="Tahoma"/>
              </a:rPr>
              <a:t>granular </a:t>
            </a:r>
            <a:r>
              <a:rPr sz="2100" spc="80" dirty="0">
                <a:solidFill>
                  <a:srgbClr val="403C4E"/>
                </a:solidFill>
                <a:latin typeface="Tahoma"/>
                <a:cs typeface="Tahoma"/>
              </a:rPr>
              <a:t>segmentation</a:t>
            </a:r>
            <a:r>
              <a:rPr sz="2100" spc="-8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10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z="2100" spc="-8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35" dirty="0">
                <a:solidFill>
                  <a:srgbClr val="403C4E"/>
                </a:solidFill>
                <a:latin typeface="Tahoma"/>
                <a:cs typeface="Tahoma"/>
              </a:rPr>
              <a:t>analysis.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2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100" spc="-150" dirty="0">
                <a:solidFill>
                  <a:srgbClr val="403C4E"/>
                </a:solidFill>
                <a:latin typeface="Arial Black"/>
                <a:cs typeface="Arial Black"/>
              </a:rPr>
              <a:t>Source:</a:t>
            </a:r>
            <a:r>
              <a:rPr sz="2100" spc="-10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z="2100" dirty="0">
                <a:solidFill>
                  <a:srgbClr val="403C4E"/>
                </a:solidFill>
                <a:latin typeface="Tahoma"/>
                <a:cs typeface="Tahoma"/>
              </a:rPr>
              <a:t>Indian</a:t>
            </a:r>
            <a:r>
              <a:rPr sz="2100" spc="-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75" dirty="0">
                <a:solidFill>
                  <a:srgbClr val="403C4E"/>
                </a:solidFill>
                <a:latin typeface="Tahoma"/>
                <a:cs typeface="Tahoma"/>
              </a:rPr>
              <a:t>Kids</a:t>
            </a:r>
            <a:r>
              <a:rPr sz="2100" spc="-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65" dirty="0">
                <a:solidFill>
                  <a:srgbClr val="403C4E"/>
                </a:solidFill>
                <a:latin typeface="Tahoma"/>
                <a:cs typeface="Tahoma"/>
              </a:rPr>
              <a:t>Screen</a:t>
            </a:r>
            <a:r>
              <a:rPr sz="2100" spc="-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65" dirty="0">
                <a:solidFill>
                  <a:srgbClr val="403C4E"/>
                </a:solidFill>
                <a:latin typeface="Tahoma"/>
                <a:cs typeface="Tahoma"/>
              </a:rPr>
              <a:t>Time</a:t>
            </a:r>
            <a:r>
              <a:rPr sz="2100" spc="-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70" dirty="0">
                <a:solidFill>
                  <a:srgbClr val="403C4E"/>
                </a:solidFill>
                <a:latin typeface="Tahoma"/>
                <a:cs typeface="Tahoma"/>
              </a:rPr>
              <a:t>Dataset</a:t>
            </a:r>
            <a:r>
              <a:rPr sz="2100" spc="-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50" dirty="0">
                <a:solidFill>
                  <a:srgbClr val="403C4E"/>
                </a:solidFill>
                <a:latin typeface="Tahoma"/>
                <a:cs typeface="Tahoma"/>
              </a:rPr>
              <a:t>(Cleaned</a:t>
            </a:r>
            <a:r>
              <a:rPr sz="2100" spc="-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65" dirty="0">
                <a:solidFill>
                  <a:srgbClr val="403C4E"/>
                </a:solidFill>
                <a:latin typeface="Tahoma"/>
                <a:cs typeface="Tahoma"/>
              </a:rPr>
              <a:t>using</a:t>
            </a:r>
            <a:r>
              <a:rPr sz="2100" spc="-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100" spc="35" dirty="0">
                <a:solidFill>
                  <a:srgbClr val="403C4E"/>
                </a:solidFill>
                <a:latin typeface="Tahoma"/>
                <a:cs typeface="Tahoma"/>
              </a:rPr>
              <a:t>Python)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77BD80-5CA1-1265-83DA-0E4076C03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1866900"/>
            <a:ext cx="6629400" cy="79247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Methodology:</a:t>
            </a:r>
            <a:r>
              <a:rPr spc="-5" dirty="0"/>
              <a:t> </a:t>
            </a:r>
            <a:r>
              <a:rPr spc="280" dirty="0"/>
              <a:t>End-</a:t>
            </a:r>
            <a:r>
              <a:rPr spc="400" dirty="0"/>
              <a:t>to-</a:t>
            </a:r>
            <a:r>
              <a:rPr spc="105" dirty="0"/>
              <a:t>End</a:t>
            </a:r>
            <a:r>
              <a:rPr spc="-5" dirty="0"/>
              <a:t> </a:t>
            </a:r>
            <a:r>
              <a:rPr spc="85" dirty="0"/>
              <a:t>Analytics</a:t>
            </a:r>
            <a:r>
              <a:rPr dirty="0"/>
              <a:t> </a:t>
            </a:r>
            <a:r>
              <a:rPr spc="75" dirty="0"/>
              <a:t>Pipeline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088" y="1062423"/>
            <a:ext cx="8577071" cy="14283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25029" y="1858350"/>
            <a:ext cx="7840345" cy="14353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50" dirty="0">
                <a:solidFill>
                  <a:srgbClr val="403C4E"/>
                </a:solidFill>
                <a:latin typeface="Book Antiqua"/>
                <a:cs typeface="Book Antiqua"/>
              </a:rPr>
              <a:t>Step</a:t>
            </a:r>
            <a:r>
              <a:rPr b="1" spc="15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dirty="0">
                <a:solidFill>
                  <a:srgbClr val="403C4E"/>
                </a:solidFill>
                <a:latin typeface="Book Antiqua"/>
                <a:cs typeface="Book Antiqua"/>
              </a:rPr>
              <a:t>1:</a:t>
            </a:r>
            <a:r>
              <a:rPr b="1" spc="15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50" dirty="0">
                <a:solidFill>
                  <a:srgbClr val="403C4E"/>
                </a:solidFill>
                <a:latin typeface="Book Antiqua"/>
                <a:cs typeface="Book Antiqua"/>
              </a:rPr>
              <a:t>Data</a:t>
            </a:r>
            <a:r>
              <a:rPr b="1" spc="15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85" dirty="0">
                <a:solidFill>
                  <a:srgbClr val="403C4E"/>
                </a:solidFill>
                <a:latin typeface="Book Antiqua"/>
                <a:cs typeface="Book Antiqua"/>
              </a:rPr>
              <a:t>Preparation</a:t>
            </a:r>
            <a:r>
              <a:rPr b="1" spc="15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90" dirty="0">
                <a:solidFill>
                  <a:srgbClr val="403C4E"/>
                </a:solidFill>
                <a:latin typeface="Book Antiqua"/>
                <a:cs typeface="Book Antiqua"/>
              </a:rPr>
              <a:t>(Python)</a:t>
            </a:r>
            <a:endParaRPr dirty="0">
              <a:latin typeface="Book Antiqua"/>
              <a:cs typeface="Book Antiqua"/>
            </a:endParaRPr>
          </a:p>
          <a:p>
            <a:pPr marL="12700" marR="5080">
              <a:lnSpc>
                <a:spcPct val="136900"/>
              </a:lnSpc>
              <a:spcBef>
                <a:spcPts val="405"/>
              </a:spcBef>
            </a:pP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Cleaned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column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names,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handled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missing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values,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created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new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categorical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columns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such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as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'age_band',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'screen_level',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5" dirty="0">
                <a:solidFill>
                  <a:srgbClr val="403C4E"/>
                </a:solidFill>
                <a:latin typeface="Tahoma"/>
                <a:cs typeface="Tahoma"/>
              </a:rPr>
              <a:t>and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'age_group'.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Normalized</a:t>
            </a:r>
            <a:r>
              <a:rPr spc="2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categories</a:t>
            </a:r>
            <a:r>
              <a:rPr spc="2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 meticulously</a:t>
            </a:r>
            <a:r>
              <a:rPr spc="2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checked</a:t>
            </a:r>
            <a:r>
              <a:rPr spc="2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data</a:t>
            </a:r>
            <a:r>
              <a:rPr spc="2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types for</a:t>
            </a:r>
            <a:r>
              <a:rPr spc="2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consistency</a:t>
            </a:r>
            <a:r>
              <a:rPr sz="1050" spc="-10" dirty="0">
                <a:solidFill>
                  <a:srgbClr val="403C4E"/>
                </a:solidFill>
                <a:latin typeface="Tahoma"/>
                <a:cs typeface="Tahoma"/>
              </a:rPr>
              <a:t>.</a:t>
            </a:r>
            <a:endParaRPr sz="105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7215" y="3955299"/>
            <a:ext cx="7515672" cy="357460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4842" y="1116210"/>
            <a:ext cx="8577064" cy="14283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343837" y="1645822"/>
            <a:ext cx="7899400" cy="14353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50" dirty="0">
                <a:solidFill>
                  <a:srgbClr val="403C4E"/>
                </a:solidFill>
                <a:latin typeface="Book Antiqua"/>
                <a:cs typeface="Book Antiqua"/>
              </a:rPr>
              <a:t>Step</a:t>
            </a:r>
            <a:r>
              <a:rPr b="1" spc="-5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135" dirty="0">
                <a:solidFill>
                  <a:srgbClr val="403C4E"/>
                </a:solidFill>
                <a:latin typeface="Book Antiqua"/>
                <a:cs typeface="Book Antiqua"/>
              </a:rPr>
              <a:t>2:</a:t>
            </a:r>
            <a:r>
              <a:rPr b="1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85" dirty="0">
                <a:solidFill>
                  <a:srgbClr val="403C4E"/>
                </a:solidFill>
                <a:latin typeface="Book Antiqua"/>
                <a:cs typeface="Book Antiqua"/>
              </a:rPr>
              <a:t>Exploratory</a:t>
            </a:r>
            <a:r>
              <a:rPr b="1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50" dirty="0">
                <a:solidFill>
                  <a:srgbClr val="403C4E"/>
                </a:solidFill>
                <a:latin typeface="Book Antiqua"/>
                <a:cs typeface="Book Antiqua"/>
              </a:rPr>
              <a:t>Data</a:t>
            </a:r>
            <a:r>
              <a:rPr b="1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45" dirty="0">
                <a:solidFill>
                  <a:srgbClr val="403C4E"/>
                </a:solidFill>
                <a:latin typeface="Book Antiqua"/>
                <a:cs typeface="Book Antiqua"/>
              </a:rPr>
              <a:t>Analysis</a:t>
            </a:r>
            <a:r>
              <a:rPr b="1" spc="-5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-10" dirty="0">
                <a:solidFill>
                  <a:srgbClr val="403C4E"/>
                </a:solidFill>
                <a:latin typeface="Book Antiqua"/>
                <a:cs typeface="Book Antiqua"/>
              </a:rPr>
              <a:t>(EDA)</a:t>
            </a:r>
            <a:endParaRPr dirty="0">
              <a:latin typeface="Book Antiqua"/>
              <a:cs typeface="Book Antiqua"/>
            </a:endParaRPr>
          </a:p>
          <a:p>
            <a:pPr marL="12700" marR="5080">
              <a:lnSpc>
                <a:spcPct val="136900"/>
              </a:lnSpc>
              <a:spcBef>
                <a:spcPts val="405"/>
              </a:spcBef>
            </a:pP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Utilised</a:t>
            </a:r>
            <a:r>
              <a:rPr spc="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histograms,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bar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charts,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pc="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boxplots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to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understand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data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distributions.</a:t>
            </a:r>
            <a:r>
              <a:rPr spc="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Performed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cross-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demographic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comparisons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25" dirty="0">
                <a:solidFill>
                  <a:srgbClr val="403C4E"/>
                </a:solidFill>
                <a:latin typeface="Tahoma"/>
                <a:cs typeface="Tahoma"/>
              </a:rPr>
              <a:t>to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identify</a:t>
            </a:r>
            <a:r>
              <a:rPr spc="8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initial</a:t>
            </a:r>
            <a:r>
              <a:rPr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patterns</a:t>
            </a:r>
            <a:r>
              <a:rPr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relationships.</a:t>
            </a:r>
            <a:endParaRPr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35701" y="3696499"/>
            <a:ext cx="7515672" cy="392469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1918" y="8001394"/>
            <a:ext cx="8577071" cy="130135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13639" y="8592587"/>
            <a:ext cx="7941309" cy="14353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50" dirty="0">
                <a:solidFill>
                  <a:srgbClr val="403C4E"/>
                </a:solidFill>
                <a:latin typeface="Book Antiqua"/>
                <a:cs typeface="Book Antiqua"/>
              </a:rPr>
              <a:t>Step</a:t>
            </a:r>
            <a:r>
              <a:rPr b="1" spc="-5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110" dirty="0">
                <a:solidFill>
                  <a:srgbClr val="403C4E"/>
                </a:solidFill>
                <a:latin typeface="Book Antiqua"/>
                <a:cs typeface="Book Antiqua"/>
              </a:rPr>
              <a:t>3:</a:t>
            </a:r>
            <a:r>
              <a:rPr b="1" spc="-5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70" dirty="0">
                <a:solidFill>
                  <a:srgbClr val="403C4E"/>
                </a:solidFill>
                <a:latin typeface="Book Antiqua"/>
                <a:cs typeface="Book Antiqua"/>
              </a:rPr>
              <a:t>Cohort</a:t>
            </a:r>
            <a:r>
              <a:rPr b="1" spc="-5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-80" dirty="0">
                <a:solidFill>
                  <a:srgbClr val="403C4E"/>
                </a:solidFill>
                <a:latin typeface="Book Antiqua"/>
                <a:cs typeface="Book Antiqua"/>
              </a:rPr>
              <a:t>&amp;</a:t>
            </a:r>
            <a:r>
              <a:rPr b="1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90" dirty="0">
                <a:solidFill>
                  <a:srgbClr val="403C4E"/>
                </a:solidFill>
                <a:latin typeface="Book Antiqua"/>
                <a:cs typeface="Book Antiqua"/>
              </a:rPr>
              <a:t>Segment</a:t>
            </a:r>
            <a:r>
              <a:rPr b="1" spc="-5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35" dirty="0">
                <a:solidFill>
                  <a:srgbClr val="403C4E"/>
                </a:solidFill>
                <a:latin typeface="Book Antiqua"/>
                <a:cs typeface="Book Antiqua"/>
              </a:rPr>
              <a:t>Analysis</a:t>
            </a:r>
            <a:endParaRPr dirty="0">
              <a:latin typeface="Book Antiqua"/>
              <a:cs typeface="Book Antiqua"/>
            </a:endParaRPr>
          </a:p>
          <a:p>
            <a:pPr marL="12700" marR="5080">
              <a:lnSpc>
                <a:spcPct val="136900"/>
              </a:lnSpc>
              <a:spcBef>
                <a:spcPts val="405"/>
              </a:spcBef>
            </a:pP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Conducted</a:t>
            </a:r>
            <a:r>
              <a:rPr spc="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in-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depth</a:t>
            </a:r>
            <a:r>
              <a:rPr spc="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analysis</a:t>
            </a:r>
            <a:r>
              <a:rPr spc="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across</a:t>
            </a:r>
            <a:r>
              <a:rPr spc="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age,</a:t>
            </a:r>
            <a:r>
              <a:rPr spc="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device,</a:t>
            </a:r>
            <a:r>
              <a:rPr spc="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pc="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location.</a:t>
            </a:r>
            <a:r>
              <a:rPr spc="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Employed</a:t>
            </a:r>
            <a:r>
              <a:rPr spc="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heatmaps</a:t>
            </a:r>
            <a:r>
              <a:rPr spc="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stacked</a:t>
            </a:r>
            <a:r>
              <a:rPr spc="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bar</a:t>
            </a:r>
            <a:r>
              <a:rPr spc="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charts</a:t>
            </a:r>
            <a:r>
              <a:rPr spc="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to</a:t>
            </a:r>
            <a:r>
              <a:rPr spc="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visualise</a:t>
            </a:r>
            <a:r>
              <a:rPr spc="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35" dirty="0">
                <a:solidFill>
                  <a:srgbClr val="403C4E"/>
                </a:solidFill>
                <a:latin typeface="Tahoma"/>
                <a:cs typeface="Tahoma"/>
              </a:rPr>
              <a:t>complex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interactions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identify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high-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impact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segments.</a:t>
            </a:r>
            <a:endParaRPr dirty="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8215" y="7961481"/>
            <a:ext cx="8293691" cy="138117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632156" y="8453125"/>
            <a:ext cx="8159750" cy="14353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b="1" spc="50" dirty="0">
                <a:solidFill>
                  <a:srgbClr val="403C4E"/>
                </a:solidFill>
                <a:latin typeface="Book Antiqua"/>
                <a:cs typeface="Book Antiqua"/>
              </a:rPr>
              <a:t>Step</a:t>
            </a:r>
            <a:r>
              <a:rPr lang="en-US" b="1" spc="-5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lang="en-US" b="1" spc="175" dirty="0">
                <a:solidFill>
                  <a:srgbClr val="403C4E"/>
                </a:solidFill>
                <a:latin typeface="Book Antiqua"/>
                <a:cs typeface="Book Antiqua"/>
              </a:rPr>
              <a:t>4:</a:t>
            </a:r>
            <a:r>
              <a:rPr lang="en-US" b="1" spc="-5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lang="en-US" b="1" spc="60" dirty="0">
                <a:solidFill>
                  <a:srgbClr val="403C4E"/>
                </a:solidFill>
                <a:latin typeface="Book Antiqua"/>
                <a:cs typeface="Book Antiqua"/>
              </a:rPr>
              <a:t>Dashboard</a:t>
            </a:r>
            <a:r>
              <a:rPr lang="en-US" b="1" spc="-5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lang="en-US" b="1" spc="50" dirty="0">
                <a:solidFill>
                  <a:srgbClr val="403C4E"/>
                </a:solidFill>
                <a:latin typeface="Book Antiqua"/>
                <a:cs typeface="Book Antiqua"/>
              </a:rPr>
              <a:t>Development</a:t>
            </a:r>
            <a:endParaRPr lang="en-US" dirty="0">
              <a:latin typeface="Book Antiqua"/>
              <a:cs typeface="Book Antiqua"/>
            </a:endParaRPr>
          </a:p>
          <a:p>
            <a:pPr marL="12700" marR="5080">
              <a:lnSpc>
                <a:spcPct val="136900"/>
              </a:lnSpc>
              <a:spcBef>
                <a:spcPts val="405"/>
              </a:spcBef>
            </a:pPr>
            <a:r>
              <a:rPr lang="en-US" dirty="0">
                <a:solidFill>
                  <a:srgbClr val="403C4E"/>
                </a:solidFill>
                <a:latin typeface="Tahoma"/>
                <a:cs typeface="Tahoma"/>
              </a:rPr>
              <a:t>Designed</a:t>
            </a:r>
            <a:r>
              <a:rPr lang="en-US"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pc="5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lang="en-US"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pc="45" dirty="0">
                <a:solidFill>
                  <a:srgbClr val="403C4E"/>
                </a:solidFill>
                <a:latin typeface="Tahoma"/>
                <a:cs typeface="Tahoma"/>
              </a:rPr>
              <a:t>developed</a:t>
            </a:r>
            <a:r>
              <a:rPr lang="en-US"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srgbClr val="403C4E"/>
                </a:solidFill>
                <a:latin typeface="Tahoma"/>
                <a:cs typeface="Tahoma"/>
              </a:rPr>
              <a:t>a</a:t>
            </a:r>
            <a:r>
              <a:rPr lang="en-US"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srgbClr val="403C4E"/>
                </a:solidFill>
                <a:latin typeface="Tahoma"/>
                <a:cs typeface="Tahoma"/>
              </a:rPr>
              <a:t>three-page</a:t>
            </a:r>
            <a:r>
              <a:rPr lang="en-US"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srgbClr val="403C4E"/>
                </a:solidFill>
                <a:latin typeface="Tahoma"/>
                <a:cs typeface="Tahoma"/>
              </a:rPr>
              <a:t>interactive</a:t>
            </a:r>
            <a:r>
              <a:rPr lang="en-US"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srgbClr val="403C4E"/>
                </a:solidFill>
                <a:latin typeface="Tahoma"/>
                <a:cs typeface="Tahoma"/>
              </a:rPr>
              <a:t>report</a:t>
            </a:r>
            <a:r>
              <a:rPr lang="en-US"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srgbClr val="403C4E"/>
                </a:solidFill>
                <a:latin typeface="Tahoma"/>
                <a:cs typeface="Tahoma"/>
              </a:rPr>
              <a:t>in</a:t>
            </a:r>
            <a:r>
              <a:rPr lang="en-US"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pc="50" dirty="0">
                <a:solidFill>
                  <a:srgbClr val="403C4E"/>
                </a:solidFill>
                <a:latin typeface="Tahoma"/>
                <a:cs typeface="Tahoma"/>
              </a:rPr>
              <a:t>Power</a:t>
            </a:r>
            <a:r>
              <a:rPr lang="en-US"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pc="-35" dirty="0">
                <a:solidFill>
                  <a:srgbClr val="403C4E"/>
                </a:solidFill>
                <a:latin typeface="Tahoma"/>
                <a:cs typeface="Tahoma"/>
              </a:rPr>
              <a:t>BI.</a:t>
            </a:r>
            <a:r>
              <a:rPr lang="en-US"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srgbClr val="403C4E"/>
                </a:solidFill>
                <a:latin typeface="Tahoma"/>
                <a:cs typeface="Tahoma"/>
              </a:rPr>
              <a:t>Included</a:t>
            </a:r>
            <a:r>
              <a:rPr lang="en-US"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srgbClr val="403C4E"/>
                </a:solidFill>
                <a:latin typeface="Tahoma"/>
                <a:cs typeface="Tahoma"/>
              </a:rPr>
              <a:t>dynamic</a:t>
            </a:r>
            <a:r>
              <a:rPr lang="en-US"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srgbClr val="403C4E"/>
                </a:solidFill>
                <a:latin typeface="Tahoma"/>
                <a:cs typeface="Tahoma"/>
              </a:rPr>
              <a:t>filters</a:t>
            </a:r>
            <a:r>
              <a:rPr lang="en-US"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srgbClr val="403C4E"/>
                </a:solidFill>
                <a:latin typeface="Tahoma"/>
                <a:cs typeface="Tahoma"/>
              </a:rPr>
              <a:t>for</a:t>
            </a:r>
            <a:r>
              <a:rPr lang="en-US"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srgbClr val="403C4E"/>
                </a:solidFill>
                <a:latin typeface="Tahoma"/>
                <a:cs typeface="Tahoma"/>
              </a:rPr>
              <a:t>age,</a:t>
            </a:r>
            <a:r>
              <a:rPr lang="en-US"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srgbClr val="403C4E"/>
                </a:solidFill>
                <a:latin typeface="Tahoma"/>
                <a:cs typeface="Tahoma"/>
              </a:rPr>
              <a:t>device,</a:t>
            </a:r>
            <a:r>
              <a:rPr lang="en-US"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srgbClr val="403C4E"/>
                </a:solidFill>
                <a:latin typeface="Tahoma"/>
                <a:cs typeface="Tahoma"/>
              </a:rPr>
              <a:t>gender,</a:t>
            </a:r>
            <a:r>
              <a:rPr lang="en-US"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pc="5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lang="en-US"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pc="-10" dirty="0">
                <a:solidFill>
                  <a:srgbClr val="403C4E"/>
                </a:solidFill>
                <a:latin typeface="Tahoma"/>
                <a:cs typeface="Tahoma"/>
              </a:rPr>
              <a:t>location</a:t>
            </a:r>
            <a:r>
              <a:rPr lang="en-US" spc="50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srgbClr val="403C4E"/>
                </a:solidFill>
                <a:latin typeface="Tahoma"/>
                <a:cs typeface="Tahoma"/>
              </a:rPr>
              <a:t>to</a:t>
            </a:r>
            <a:r>
              <a:rPr lang="en-US" spc="18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srgbClr val="403C4E"/>
                </a:solidFill>
                <a:latin typeface="Tahoma"/>
                <a:cs typeface="Tahoma"/>
              </a:rPr>
              <a:t>facilitate</a:t>
            </a:r>
            <a:r>
              <a:rPr lang="en-US" spc="18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dirty="0">
                <a:solidFill>
                  <a:srgbClr val="403C4E"/>
                </a:solidFill>
                <a:latin typeface="Tahoma"/>
                <a:cs typeface="Tahoma"/>
              </a:rPr>
              <a:t>user-driven</a:t>
            </a:r>
            <a:r>
              <a:rPr lang="en-US" spc="18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lang="en-US" spc="-10" dirty="0">
                <a:solidFill>
                  <a:srgbClr val="403C4E"/>
                </a:solidFill>
                <a:latin typeface="Tahoma"/>
                <a:cs typeface="Tahoma"/>
              </a:rPr>
              <a:t>exploration.</a:t>
            </a:r>
            <a:endParaRPr lang="en-US" dirty="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56525" y="10259466"/>
            <a:ext cx="8292998" cy="275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00" dirty="0"/>
              <a:t>Key</a:t>
            </a:r>
            <a:r>
              <a:rPr sz="2900" spc="20" dirty="0"/>
              <a:t> </a:t>
            </a:r>
            <a:r>
              <a:rPr sz="2900" spc="50" dirty="0"/>
              <a:t>Visual</a:t>
            </a:r>
            <a:r>
              <a:rPr sz="2900" spc="20" dirty="0"/>
              <a:t> </a:t>
            </a:r>
            <a:r>
              <a:rPr sz="2900" spc="180" dirty="0"/>
              <a:t>Insights:</a:t>
            </a:r>
            <a:r>
              <a:rPr sz="2900" spc="20" dirty="0"/>
              <a:t> </a:t>
            </a:r>
            <a:r>
              <a:rPr sz="2900" spc="145" dirty="0"/>
              <a:t>Uncovering</a:t>
            </a:r>
            <a:r>
              <a:rPr sz="2900" spc="25" dirty="0"/>
              <a:t> </a:t>
            </a:r>
            <a:r>
              <a:rPr sz="2900" spc="135" dirty="0"/>
              <a:t>Usage</a:t>
            </a:r>
            <a:r>
              <a:rPr sz="2900" spc="20" dirty="0"/>
              <a:t> </a:t>
            </a:r>
            <a:r>
              <a:rPr sz="2900" spc="195" dirty="0"/>
              <a:t>Patterns</a:t>
            </a:r>
            <a:endParaRPr sz="2900"/>
          </a:p>
        </p:txBody>
      </p:sp>
      <p:sp>
        <p:nvSpPr>
          <p:cNvPr id="3" name="object 3"/>
          <p:cNvSpPr/>
          <p:nvPr/>
        </p:nvSpPr>
        <p:spPr>
          <a:xfrm>
            <a:off x="534143" y="173831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4143" y="22702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4143" y="25623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1918" y="1224143"/>
            <a:ext cx="8282940" cy="29126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75" dirty="0">
                <a:solidFill>
                  <a:srgbClr val="403C4E"/>
                </a:solidFill>
                <a:latin typeface="Book Antiqua"/>
                <a:cs typeface="Book Antiqua"/>
              </a:rPr>
              <a:t>Univariate/Bivariate</a:t>
            </a:r>
            <a:r>
              <a:rPr b="1" spc="10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60" dirty="0">
                <a:solidFill>
                  <a:srgbClr val="403C4E"/>
                </a:solidFill>
                <a:latin typeface="Book Antiqua"/>
                <a:cs typeface="Book Antiqua"/>
              </a:rPr>
              <a:t>Findings</a:t>
            </a:r>
            <a:endParaRPr dirty="0">
              <a:latin typeface="Book Antiqua"/>
              <a:cs typeface="Book Antiqua"/>
            </a:endParaRPr>
          </a:p>
          <a:p>
            <a:pPr marL="182245" marR="5080">
              <a:lnSpc>
                <a:spcPct val="136400"/>
              </a:lnSpc>
              <a:spcBef>
                <a:spcPts val="865"/>
              </a:spcBef>
            </a:pPr>
            <a:r>
              <a:rPr spc="-85" dirty="0">
                <a:solidFill>
                  <a:srgbClr val="403C4E"/>
                </a:solidFill>
                <a:latin typeface="Arial Black"/>
                <a:cs typeface="Arial Black"/>
              </a:rPr>
              <a:t>Screen</a:t>
            </a:r>
            <a:r>
              <a:rPr spc="7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65" dirty="0">
                <a:solidFill>
                  <a:srgbClr val="403C4E"/>
                </a:solidFill>
                <a:latin typeface="Arial Black"/>
                <a:cs typeface="Arial Black"/>
              </a:rPr>
              <a:t>Time</a:t>
            </a:r>
            <a:r>
              <a:rPr spc="7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30" dirty="0">
                <a:solidFill>
                  <a:srgbClr val="403C4E"/>
                </a:solidFill>
                <a:latin typeface="Arial Black"/>
                <a:cs typeface="Arial Black"/>
              </a:rPr>
              <a:t>Distribution:</a:t>
            </a:r>
            <a:r>
              <a:rPr spc="7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The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overall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screen</a:t>
            </a:r>
            <a:r>
              <a:rPr spc="10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time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distribution</a:t>
            </a:r>
            <a:r>
              <a:rPr spc="10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exhibits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</a:t>
            </a:r>
            <a:r>
              <a:rPr spc="10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right-skew,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indicating</a:t>
            </a:r>
            <a:r>
              <a:rPr spc="10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that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majority</a:t>
            </a:r>
            <a:r>
              <a:rPr spc="10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of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children 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spend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less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time,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with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long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tail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of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higher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usage.</a:t>
            </a:r>
            <a:endParaRPr dirty="0">
              <a:latin typeface="Tahoma"/>
              <a:cs typeface="Tahoma"/>
            </a:endParaRPr>
          </a:p>
          <a:p>
            <a:pPr marL="182245">
              <a:lnSpc>
                <a:spcPct val="100000"/>
              </a:lnSpc>
              <a:spcBef>
                <a:spcPts val="1070"/>
              </a:spcBef>
            </a:pPr>
            <a:r>
              <a:rPr spc="-90" dirty="0">
                <a:solidFill>
                  <a:srgbClr val="403C4E"/>
                </a:solidFill>
                <a:latin typeface="Arial Black"/>
                <a:cs typeface="Arial Black"/>
              </a:rPr>
              <a:t>Age</a:t>
            </a:r>
            <a:r>
              <a:rPr spc="4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30" dirty="0">
                <a:solidFill>
                  <a:srgbClr val="403C4E"/>
                </a:solidFill>
                <a:latin typeface="Arial Black"/>
                <a:cs typeface="Arial Black"/>
              </a:rPr>
              <a:t>and</a:t>
            </a:r>
            <a:r>
              <a:rPr spc="5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80" dirty="0">
                <a:solidFill>
                  <a:srgbClr val="403C4E"/>
                </a:solidFill>
                <a:latin typeface="Arial Black"/>
                <a:cs typeface="Arial Black"/>
              </a:rPr>
              <a:t>Usage:</a:t>
            </a:r>
            <a:r>
              <a:rPr spc="5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Teenagers</a:t>
            </a:r>
            <a:r>
              <a:rPr spc="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(13–18</a:t>
            </a:r>
            <a:r>
              <a:rPr spc="7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years)</a:t>
            </a:r>
            <a:r>
              <a:rPr spc="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consistently</a:t>
            </a:r>
            <a:r>
              <a:rPr spc="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demonstrate</a:t>
            </a:r>
            <a:r>
              <a:rPr spc="7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the</a:t>
            </a:r>
            <a:r>
              <a:rPr spc="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highest</a:t>
            </a:r>
            <a:r>
              <a:rPr spc="7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screen</a:t>
            </a:r>
            <a:r>
              <a:rPr spc="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usage</a:t>
            </a:r>
            <a:r>
              <a:rPr spc="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among</a:t>
            </a:r>
            <a:r>
              <a:rPr spc="7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all</a:t>
            </a:r>
            <a:r>
              <a:rPr spc="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age</a:t>
            </a:r>
            <a:r>
              <a:rPr spc="7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groups.</a:t>
            </a:r>
            <a:endParaRPr dirty="0">
              <a:latin typeface="Tahoma"/>
              <a:cs typeface="Tahoma"/>
            </a:endParaRPr>
          </a:p>
          <a:p>
            <a:pPr marL="182245">
              <a:lnSpc>
                <a:spcPct val="100000"/>
              </a:lnSpc>
              <a:spcBef>
                <a:spcPts val="980"/>
              </a:spcBef>
            </a:pPr>
            <a:r>
              <a:rPr spc="-25" dirty="0">
                <a:solidFill>
                  <a:srgbClr val="403C4E"/>
                </a:solidFill>
                <a:latin typeface="Arial Black"/>
                <a:cs typeface="Arial Black"/>
              </a:rPr>
              <a:t>Dominant </a:t>
            </a:r>
            <a:r>
              <a:rPr spc="-70" dirty="0">
                <a:solidFill>
                  <a:srgbClr val="403C4E"/>
                </a:solidFill>
                <a:latin typeface="Arial Black"/>
                <a:cs typeface="Arial Black"/>
              </a:rPr>
              <a:t>Device:</a:t>
            </a:r>
            <a:r>
              <a:rPr spc="-2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Mobile</a:t>
            </a:r>
            <a:r>
              <a:rPr spc="-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phones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emerge</a:t>
            </a:r>
            <a:r>
              <a:rPr spc="-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as 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the</a:t>
            </a:r>
            <a:r>
              <a:rPr spc="-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most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prevalent</a:t>
            </a:r>
            <a:r>
              <a:rPr spc="-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dominant</a:t>
            </a:r>
            <a:r>
              <a:rPr spc="-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device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for</a:t>
            </a:r>
            <a:r>
              <a:rPr spc="-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screen-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time </a:t>
            </a:r>
            <a:r>
              <a:rPr spc="40" dirty="0">
                <a:solidFill>
                  <a:srgbClr val="403C4E"/>
                </a:solidFill>
                <a:latin typeface="Tahoma"/>
                <a:cs typeface="Tahoma"/>
              </a:rPr>
              <a:t>consumption.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345823" y="173831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345823" y="22702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345823" y="2802135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323598" y="1224143"/>
            <a:ext cx="8347075" cy="22717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75" dirty="0">
                <a:solidFill>
                  <a:srgbClr val="403C4E"/>
                </a:solidFill>
                <a:latin typeface="Book Antiqua"/>
                <a:cs typeface="Book Antiqua"/>
              </a:rPr>
              <a:t>Comparisons</a:t>
            </a:r>
            <a:endParaRPr dirty="0">
              <a:latin typeface="Book Antiqua"/>
              <a:cs typeface="Book Antiqua"/>
            </a:endParaRPr>
          </a:p>
          <a:p>
            <a:pPr marL="182245" marR="5080">
              <a:lnSpc>
                <a:spcPct val="136400"/>
              </a:lnSpc>
              <a:spcBef>
                <a:spcPts val="865"/>
              </a:spcBef>
            </a:pPr>
            <a:r>
              <a:rPr spc="-50" dirty="0">
                <a:solidFill>
                  <a:srgbClr val="403C4E"/>
                </a:solidFill>
                <a:latin typeface="Arial Black"/>
                <a:cs typeface="Arial Black"/>
              </a:rPr>
              <a:t>Gender</a:t>
            </a:r>
            <a:r>
              <a:rPr spc="3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65" dirty="0">
                <a:solidFill>
                  <a:srgbClr val="403C4E"/>
                </a:solidFill>
                <a:latin typeface="Arial Black"/>
                <a:cs typeface="Arial Black"/>
              </a:rPr>
              <a:t>Variance:</a:t>
            </a:r>
            <a:r>
              <a:rPr spc="3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Girls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show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slightly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lower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variation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in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screen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 time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compared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to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boys,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suggesting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75" dirty="0">
                <a:solidFill>
                  <a:srgbClr val="403C4E"/>
                </a:solidFill>
                <a:latin typeface="Tahoma"/>
                <a:cs typeface="Tahoma"/>
              </a:rPr>
              <a:t>more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consistent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usage patterns.</a:t>
            </a:r>
            <a:endParaRPr dirty="0">
              <a:latin typeface="Tahoma"/>
              <a:cs typeface="Tahoma"/>
            </a:endParaRPr>
          </a:p>
          <a:p>
            <a:pPr marL="182245">
              <a:lnSpc>
                <a:spcPct val="100000"/>
              </a:lnSpc>
              <a:spcBef>
                <a:spcPts val="1070"/>
              </a:spcBef>
            </a:pPr>
            <a:r>
              <a:rPr spc="-35" dirty="0">
                <a:solidFill>
                  <a:srgbClr val="403C4E"/>
                </a:solidFill>
                <a:latin typeface="Arial Black"/>
                <a:cs typeface="Arial Black"/>
              </a:rPr>
              <a:t>Urban</a:t>
            </a:r>
            <a:r>
              <a:rPr spc="-1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70" dirty="0">
                <a:solidFill>
                  <a:srgbClr val="403C4E"/>
                </a:solidFill>
                <a:latin typeface="Arial Black"/>
                <a:cs typeface="Arial Black"/>
              </a:rPr>
              <a:t>vs.</a:t>
            </a:r>
            <a:r>
              <a:rPr spc="-1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40" dirty="0">
                <a:solidFill>
                  <a:srgbClr val="403C4E"/>
                </a:solidFill>
                <a:latin typeface="Arial Black"/>
                <a:cs typeface="Arial Black"/>
              </a:rPr>
              <a:t>Rural:</a:t>
            </a:r>
            <a:r>
              <a:rPr spc="-1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Children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residing</a:t>
            </a:r>
            <a:r>
              <a:rPr spc="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in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urban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areas</a:t>
            </a:r>
            <a:r>
              <a:rPr spc="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spend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significantly</a:t>
            </a:r>
            <a:r>
              <a:rPr spc="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75" dirty="0">
                <a:solidFill>
                  <a:srgbClr val="403C4E"/>
                </a:solidFill>
                <a:latin typeface="Tahoma"/>
                <a:cs typeface="Tahoma"/>
              </a:rPr>
              <a:t>more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time</a:t>
            </a:r>
            <a:r>
              <a:rPr spc="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70" dirty="0">
                <a:solidFill>
                  <a:srgbClr val="403C4E"/>
                </a:solidFill>
                <a:latin typeface="Tahoma"/>
                <a:cs typeface="Tahoma"/>
              </a:rPr>
              <a:t>on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screens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than</a:t>
            </a:r>
            <a:r>
              <a:rPr spc="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their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rural</a:t>
            </a:r>
            <a:r>
              <a:rPr spc="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counterparts.</a:t>
            </a:r>
            <a:endParaRPr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dirty="0">
              <a:latin typeface="Tahoma"/>
              <a:cs typeface="Tahoma"/>
            </a:endParaRPr>
          </a:p>
        </p:txBody>
      </p:sp>
      <p:pic>
        <p:nvPicPr>
          <p:cNvPr id="16" name="Picture 15" descr="A graph of a person with blue squares&#10;&#10;AI-generated content may be incorrect.">
            <a:extLst>
              <a:ext uri="{FF2B5EF4-FFF2-40B4-BE49-F238E27FC236}">
                <a16:creationId xmlns:a16="http://schemas.microsoft.com/office/drawing/2014/main" id="{E22126E6-2F96-40F2-062D-38A1F8B6F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35" y="4693890"/>
            <a:ext cx="9144000" cy="5327567"/>
          </a:xfrm>
          <a:prstGeom prst="rect">
            <a:avLst/>
          </a:prstGeom>
        </p:spPr>
      </p:pic>
      <p:pic>
        <p:nvPicPr>
          <p:cNvPr id="18" name="Picture 1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653BD74-22A2-9A1B-0933-55D7B22EB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3144" y="3868950"/>
            <a:ext cx="8794856" cy="5846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8304" y="842713"/>
            <a:ext cx="15085694" cy="796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050" spc="240" dirty="0"/>
              <a:t>Cohort</a:t>
            </a:r>
            <a:r>
              <a:rPr sz="5050" spc="-50" dirty="0"/>
              <a:t> </a:t>
            </a:r>
            <a:r>
              <a:rPr sz="5050" spc="295" dirty="0"/>
              <a:t>Insights:</a:t>
            </a:r>
            <a:r>
              <a:rPr sz="5050" spc="-50" dirty="0"/>
              <a:t> </a:t>
            </a:r>
            <a:r>
              <a:rPr sz="5050" spc="60" dirty="0"/>
              <a:t>Deep</a:t>
            </a:r>
            <a:r>
              <a:rPr sz="5050" spc="-50" dirty="0"/>
              <a:t> </a:t>
            </a:r>
            <a:r>
              <a:rPr sz="5050" dirty="0"/>
              <a:t>Dive</a:t>
            </a:r>
            <a:r>
              <a:rPr sz="5050" spc="-50" dirty="0"/>
              <a:t> </a:t>
            </a:r>
            <a:r>
              <a:rPr sz="5050" spc="285" dirty="0"/>
              <a:t>into</a:t>
            </a:r>
            <a:r>
              <a:rPr sz="5050" spc="-50" dirty="0"/>
              <a:t> </a:t>
            </a:r>
            <a:r>
              <a:rPr sz="5050" spc="210" dirty="0"/>
              <a:t>User</a:t>
            </a:r>
            <a:r>
              <a:rPr sz="5050" spc="-45" dirty="0"/>
              <a:t> </a:t>
            </a:r>
            <a:r>
              <a:rPr sz="5050" spc="300" dirty="0"/>
              <a:t>Segments</a:t>
            </a:r>
            <a:endParaRPr sz="5050"/>
          </a:p>
        </p:txBody>
      </p:sp>
      <p:grpSp>
        <p:nvGrpSpPr>
          <p:cNvPr id="3" name="object 3"/>
          <p:cNvGrpSpPr/>
          <p:nvPr/>
        </p:nvGrpSpPr>
        <p:grpSpPr>
          <a:xfrm>
            <a:off x="886717" y="2199233"/>
            <a:ext cx="5351145" cy="7207884"/>
            <a:chOff x="886717" y="2199233"/>
            <a:chExt cx="5351145" cy="7207884"/>
          </a:xfrm>
        </p:grpSpPr>
        <p:sp>
          <p:nvSpPr>
            <p:cNvPr id="4" name="object 4"/>
            <p:cNvSpPr/>
            <p:nvPr/>
          </p:nvSpPr>
          <p:spPr>
            <a:xfrm>
              <a:off x="886717" y="2199233"/>
              <a:ext cx="5351145" cy="7207884"/>
            </a:xfrm>
            <a:custGeom>
              <a:avLst/>
              <a:gdLst/>
              <a:ahLst/>
              <a:cxnLst/>
              <a:rect l="l" t="t" r="r" b="b"/>
              <a:pathLst>
                <a:path w="5351145" h="7207884">
                  <a:moveTo>
                    <a:pt x="122396" y="7207747"/>
                  </a:moveTo>
                  <a:lnTo>
                    <a:pt x="74742" y="7198116"/>
                  </a:lnTo>
                  <a:lnTo>
                    <a:pt x="35838" y="7171849"/>
                  </a:lnTo>
                  <a:lnTo>
                    <a:pt x="9614" y="7132883"/>
                  </a:lnTo>
                  <a:lnTo>
                    <a:pt x="0" y="7085156"/>
                  </a:lnTo>
                  <a:lnTo>
                    <a:pt x="0" y="122586"/>
                  </a:lnTo>
                  <a:lnTo>
                    <a:pt x="9614" y="74861"/>
                  </a:lnTo>
                  <a:lnTo>
                    <a:pt x="35793" y="35963"/>
                  </a:lnTo>
                  <a:lnTo>
                    <a:pt x="74742" y="9629"/>
                  </a:lnTo>
                  <a:lnTo>
                    <a:pt x="122396" y="0"/>
                  </a:lnTo>
                  <a:lnTo>
                    <a:pt x="5229886" y="0"/>
                  </a:lnTo>
                  <a:lnTo>
                    <a:pt x="5229886" y="14287"/>
                  </a:lnTo>
                  <a:lnTo>
                    <a:pt x="122396" y="14287"/>
                  </a:lnTo>
                  <a:lnTo>
                    <a:pt x="122396" y="28573"/>
                  </a:lnTo>
                  <a:lnTo>
                    <a:pt x="85876" y="35963"/>
                  </a:lnTo>
                  <a:lnTo>
                    <a:pt x="56054" y="56113"/>
                  </a:lnTo>
                  <a:lnTo>
                    <a:pt x="35948" y="85997"/>
                  </a:lnTo>
                  <a:lnTo>
                    <a:pt x="28575" y="122586"/>
                  </a:lnTo>
                  <a:lnTo>
                    <a:pt x="28575" y="7085156"/>
                  </a:lnTo>
                  <a:lnTo>
                    <a:pt x="35948" y="7121760"/>
                  </a:lnTo>
                  <a:lnTo>
                    <a:pt x="56054" y="7151648"/>
                  </a:lnTo>
                  <a:lnTo>
                    <a:pt x="85951" y="7171849"/>
                  </a:lnTo>
                  <a:lnTo>
                    <a:pt x="86126" y="7171849"/>
                  </a:lnTo>
                  <a:lnTo>
                    <a:pt x="122396" y="7179187"/>
                  </a:lnTo>
                  <a:lnTo>
                    <a:pt x="5305542" y="7179187"/>
                  </a:lnTo>
                  <a:lnTo>
                    <a:pt x="5284385" y="7193482"/>
                  </a:lnTo>
                  <a:lnTo>
                    <a:pt x="122396" y="7193482"/>
                  </a:lnTo>
                  <a:lnTo>
                    <a:pt x="122396" y="7207747"/>
                  </a:lnTo>
                  <a:close/>
                </a:path>
                <a:path w="5351145" h="7207884">
                  <a:moveTo>
                    <a:pt x="5305542" y="7179187"/>
                  </a:moveTo>
                  <a:lnTo>
                    <a:pt x="5229886" y="7179187"/>
                  </a:lnTo>
                  <a:lnTo>
                    <a:pt x="5266155" y="7171849"/>
                  </a:lnTo>
                  <a:lnTo>
                    <a:pt x="5266330" y="7171849"/>
                  </a:lnTo>
                  <a:lnTo>
                    <a:pt x="5296226" y="7151648"/>
                  </a:lnTo>
                  <a:lnTo>
                    <a:pt x="5316331" y="7121760"/>
                  </a:lnTo>
                  <a:lnTo>
                    <a:pt x="5323704" y="7085156"/>
                  </a:lnTo>
                  <a:lnTo>
                    <a:pt x="5323704" y="122586"/>
                  </a:lnTo>
                  <a:lnTo>
                    <a:pt x="5316331" y="85997"/>
                  </a:lnTo>
                  <a:lnTo>
                    <a:pt x="5296226" y="56113"/>
                  </a:lnTo>
                  <a:lnTo>
                    <a:pt x="5266405" y="35963"/>
                  </a:lnTo>
                  <a:lnTo>
                    <a:pt x="5229886" y="28573"/>
                  </a:lnTo>
                  <a:lnTo>
                    <a:pt x="122396" y="28573"/>
                  </a:lnTo>
                  <a:lnTo>
                    <a:pt x="122396" y="14287"/>
                  </a:lnTo>
                  <a:lnTo>
                    <a:pt x="5229886" y="14287"/>
                  </a:lnTo>
                  <a:lnTo>
                    <a:pt x="5229886" y="0"/>
                  </a:lnTo>
                  <a:lnTo>
                    <a:pt x="5277546" y="9629"/>
                  </a:lnTo>
                  <a:lnTo>
                    <a:pt x="5316498" y="35963"/>
                  </a:lnTo>
                  <a:lnTo>
                    <a:pt x="5342679" y="74861"/>
                  </a:lnTo>
                  <a:lnTo>
                    <a:pt x="5351062" y="116472"/>
                  </a:lnTo>
                  <a:lnTo>
                    <a:pt x="5351062" y="7091265"/>
                  </a:lnTo>
                  <a:lnTo>
                    <a:pt x="5344914" y="7121760"/>
                  </a:lnTo>
                  <a:lnTo>
                    <a:pt x="5342653" y="7132883"/>
                  </a:lnTo>
                  <a:lnTo>
                    <a:pt x="5316402" y="7171849"/>
                  </a:lnTo>
                  <a:lnTo>
                    <a:pt x="5305542" y="7179187"/>
                  </a:lnTo>
                  <a:close/>
                </a:path>
                <a:path w="5351145" h="7207884">
                  <a:moveTo>
                    <a:pt x="5229886" y="7207747"/>
                  </a:moveTo>
                  <a:lnTo>
                    <a:pt x="122396" y="7207747"/>
                  </a:lnTo>
                  <a:lnTo>
                    <a:pt x="122396" y="7193482"/>
                  </a:lnTo>
                  <a:lnTo>
                    <a:pt x="5229886" y="7193482"/>
                  </a:lnTo>
                  <a:lnTo>
                    <a:pt x="5229886" y="7207747"/>
                  </a:lnTo>
                  <a:close/>
                </a:path>
                <a:path w="5351145" h="7207884">
                  <a:moveTo>
                    <a:pt x="5229886" y="7207747"/>
                  </a:moveTo>
                  <a:lnTo>
                    <a:pt x="5229886" y="7193482"/>
                  </a:lnTo>
                  <a:lnTo>
                    <a:pt x="5284385" y="7193482"/>
                  </a:lnTo>
                  <a:lnTo>
                    <a:pt x="5277482" y="7198116"/>
                  </a:lnTo>
                  <a:lnTo>
                    <a:pt x="5229886" y="7207747"/>
                  </a:lnTo>
                  <a:close/>
                </a:path>
              </a:pathLst>
            </a:custGeom>
            <a:solidFill>
              <a:srgbClr val="E4BE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29579" y="2242096"/>
              <a:ext cx="5266690" cy="772795"/>
            </a:xfrm>
            <a:custGeom>
              <a:avLst/>
              <a:gdLst/>
              <a:ahLst/>
              <a:cxnLst/>
              <a:rect l="l" t="t" r="r" b="b"/>
              <a:pathLst>
                <a:path w="5266690" h="772794">
                  <a:moveTo>
                    <a:pt x="5192755" y="772287"/>
                  </a:moveTo>
                  <a:lnTo>
                    <a:pt x="73819" y="772287"/>
                  </a:lnTo>
                  <a:lnTo>
                    <a:pt x="45086" y="766485"/>
                  </a:lnTo>
                  <a:lnTo>
                    <a:pt x="21622" y="750664"/>
                  </a:lnTo>
                  <a:lnTo>
                    <a:pt x="5801" y="727200"/>
                  </a:lnTo>
                  <a:lnTo>
                    <a:pt x="0" y="698467"/>
                  </a:lnTo>
                  <a:lnTo>
                    <a:pt x="0" y="73819"/>
                  </a:lnTo>
                  <a:lnTo>
                    <a:pt x="5801" y="45086"/>
                  </a:lnTo>
                  <a:lnTo>
                    <a:pt x="21622" y="21622"/>
                  </a:lnTo>
                  <a:lnTo>
                    <a:pt x="45086" y="5801"/>
                  </a:lnTo>
                  <a:lnTo>
                    <a:pt x="73819" y="0"/>
                  </a:lnTo>
                  <a:lnTo>
                    <a:pt x="5192755" y="0"/>
                  </a:lnTo>
                  <a:lnTo>
                    <a:pt x="5221482" y="5801"/>
                  </a:lnTo>
                  <a:lnTo>
                    <a:pt x="5244949" y="21622"/>
                  </a:lnTo>
                  <a:lnTo>
                    <a:pt x="5260774" y="45086"/>
                  </a:lnTo>
                  <a:lnTo>
                    <a:pt x="5266578" y="73819"/>
                  </a:lnTo>
                  <a:lnTo>
                    <a:pt x="5266578" y="698467"/>
                  </a:lnTo>
                  <a:lnTo>
                    <a:pt x="5260774" y="727200"/>
                  </a:lnTo>
                  <a:lnTo>
                    <a:pt x="5244949" y="750664"/>
                  </a:lnTo>
                  <a:lnTo>
                    <a:pt x="5221482" y="766485"/>
                  </a:lnTo>
                  <a:lnTo>
                    <a:pt x="5192755" y="772287"/>
                  </a:lnTo>
                  <a:close/>
                </a:path>
              </a:pathLst>
            </a:custGeom>
            <a:solidFill>
              <a:srgbClr val="FFD8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357077" y="2350392"/>
            <a:ext cx="200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75" dirty="0">
                <a:solidFill>
                  <a:srgbClr val="403C4E"/>
                </a:solidFill>
                <a:latin typeface="Book Antiqua"/>
                <a:cs typeface="Book Antiqua"/>
              </a:rPr>
              <a:t>1</a:t>
            </a:r>
            <a:endParaRPr sz="3000">
              <a:latin typeface="Book Antiqua"/>
              <a:cs typeface="Book Antiqu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53578" y="3949598"/>
            <a:ext cx="85725" cy="1090295"/>
            <a:chOff x="1253578" y="3949598"/>
            <a:chExt cx="85725" cy="109029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3578" y="3949598"/>
              <a:ext cx="85725" cy="857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3578" y="4451603"/>
              <a:ext cx="85725" cy="857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3578" y="4953609"/>
              <a:ext cx="85725" cy="8572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174203" y="3228844"/>
            <a:ext cx="4194810" cy="1912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114" dirty="0">
                <a:solidFill>
                  <a:srgbClr val="403C4E"/>
                </a:solidFill>
                <a:latin typeface="Book Antiqua"/>
                <a:cs typeface="Book Antiqua"/>
              </a:rPr>
              <a:t>Top</a:t>
            </a:r>
            <a:r>
              <a:rPr sz="2500" b="1" spc="-20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sz="2500" b="1" spc="204" dirty="0">
                <a:solidFill>
                  <a:srgbClr val="403C4E"/>
                </a:solidFill>
                <a:latin typeface="Book Antiqua"/>
                <a:cs typeface="Book Antiqua"/>
              </a:rPr>
              <a:t>Screen-</a:t>
            </a:r>
            <a:r>
              <a:rPr sz="2500" b="1" spc="135" dirty="0">
                <a:solidFill>
                  <a:srgbClr val="403C4E"/>
                </a:solidFill>
                <a:latin typeface="Book Antiqua"/>
                <a:cs typeface="Book Antiqua"/>
              </a:rPr>
              <a:t>Time</a:t>
            </a:r>
            <a:r>
              <a:rPr sz="2500" b="1" spc="-20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sz="2500" b="1" spc="110" dirty="0">
                <a:solidFill>
                  <a:srgbClr val="403C4E"/>
                </a:solidFill>
                <a:latin typeface="Book Antiqua"/>
                <a:cs typeface="Book Antiqua"/>
              </a:rPr>
              <a:t>Cohorts</a:t>
            </a:r>
            <a:endParaRPr sz="2500">
              <a:latin typeface="Book Antiqua"/>
              <a:cs typeface="Book Antiqua"/>
            </a:endParaRPr>
          </a:p>
          <a:p>
            <a:pPr marL="313690" marR="5080">
              <a:lnSpc>
                <a:spcPts val="3950"/>
              </a:lnSpc>
              <a:spcBef>
                <a:spcPts val="190"/>
              </a:spcBef>
            </a:pPr>
            <a:r>
              <a:rPr sz="2000" spc="95" dirty="0">
                <a:solidFill>
                  <a:srgbClr val="403C4E"/>
                </a:solidFill>
                <a:latin typeface="Tahoma"/>
                <a:cs typeface="Tahoma"/>
              </a:rPr>
              <a:t>Urban</a:t>
            </a:r>
            <a:r>
              <a:rPr sz="2000" spc="-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3C4E"/>
                </a:solidFill>
                <a:latin typeface="Tahoma"/>
                <a:cs typeface="Tahoma"/>
              </a:rPr>
              <a:t>Teens</a:t>
            </a:r>
            <a:r>
              <a:rPr sz="2000" spc="-3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403C4E"/>
                </a:solidFill>
                <a:latin typeface="Tahoma"/>
                <a:cs typeface="Tahoma"/>
              </a:rPr>
              <a:t>using</a:t>
            </a:r>
            <a:r>
              <a:rPr sz="2000" spc="-3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403C4E"/>
                </a:solidFill>
                <a:latin typeface="Tahoma"/>
                <a:cs typeface="Tahoma"/>
              </a:rPr>
              <a:t>Smartphones </a:t>
            </a:r>
            <a:r>
              <a:rPr sz="2000" spc="50" dirty="0">
                <a:solidFill>
                  <a:srgbClr val="403C4E"/>
                </a:solidFill>
                <a:latin typeface="Tahoma"/>
                <a:cs typeface="Tahoma"/>
              </a:rPr>
              <a:t>Rural</a:t>
            </a:r>
            <a:r>
              <a:rPr sz="2000" spc="-3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3C4E"/>
                </a:solidFill>
                <a:latin typeface="Tahoma"/>
                <a:cs typeface="Tahoma"/>
              </a:rPr>
              <a:t>Teens</a:t>
            </a:r>
            <a:r>
              <a:rPr sz="2000" spc="-3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403C4E"/>
                </a:solidFill>
                <a:latin typeface="Tahoma"/>
                <a:cs typeface="Tahoma"/>
              </a:rPr>
              <a:t>using</a:t>
            </a:r>
            <a:r>
              <a:rPr sz="2000" spc="-3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spc="65" dirty="0">
                <a:solidFill>
                  <a:srgbClr val="403C4E"/>
                </a:solidFill>
                <a:latin typeface="Tahoma"/>
                <a:cs typeface="Tahoma"/>
              </a:rPr>
              <a:t>Smartphones </a:t>
            </a:r>
            <a:r>
              <a:rPr sz="2000" spc="95" dirty="0">
                <a:solidFill>
                  <a:srgbClr val="403C4E"/>
                </a:solidFill>
                <a:latin typeface="Tahoma"/>
                <a:cs typeface="Tahoma"/>
              </a:rPr>
              <a:t>Urban</a:t>
            </a:r>
            <a:r>
              <a:rPr sz="2000" spc="1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3C4E"/>
                </a:solidFill>
                <a:latin typeface="Tahoma"/>
                <a:cs typeface="Tahoma"/>
              </a:rPr>
              <a:t>Pre-Teens</a:t>
            </a:r>
            <a:r>
              <a:rPr sz="2000" spc="1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403C4E"/>
                </a:solidFill>
                <a:latin typeface="Tahoma"/>
                <a:cs typeface="Tahoma"/>
              </a:rPr>
              <a:t>using</a:t>
            </a:r>
            <a:r>
              <a:rPr sz="2000" spc="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403C4E"/>
                </a:solidFill>
                <a:latin typeface="Tahoma"/>
                <a:cs typeface="Tahoma"/>
              </a:rPr>
              <a:t>Laptops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6903" y="5533582"/>
            <a:ext cx="4750440" cy="3251270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6467772" y="2199233"/>
            <a:ext cx="5351145" cy="7207884"/>
            <a:chOff x="6467772" y="2199233"/>
            <a:chExt cx="5351145" cy="7207884"/>
          </a:xfrm>
        </p:grpSpPr>
        <p:sp>
          <p:nvSpPr>
            <p:cNvPr id="14" name="object 14"/>
            <p:cNvSpPr/>
            <p:nvPr/>
          </p:nvSpPr>
          <p:spPr>
            <a:xfrm>
              <a:off x="6467772" y="2199233"/>
              <a:ext cx="5351145" cy="7207884"/>
            </a:xfrm>
            <a:custGeom>
              <a:avLst/>
              <a:gdLst/>
              <a:ahLst/>
              <a:cxnLst/>
              <a:rect l="l" t="t" r="r" b="b"/>
              <a:pathLst>
                <a:path w="5351145" h="7207884">
                  <a:moveTo>
                    <a:pt x="122399" y="7207747"/>
                  </a:moveTo>
                  <a:lnTo>
                    <a:pt x="74739" y="7198116"/>
                  </a:lnTo>
                  <a:lnTo>
                    <a:pt x="35832" y="7171849"/>
                  </a:lnTo>
                  <a:lnTo>
                    <a:pt x="9606" y="7132883"/>
                  </a:lnTo>
                  <a:lnTo>
                    <a:pt x="0" y="7085156"/>
                  </a:lnTo>
                  <a:lnTo>
                    <a:pt x="0" y="122586"/>
                  </a:lnTo>
                  <a:lnTo>
                    <a:pt x="9606" y="74861"/>
                  </a:lnTo>
                  <a:lnTo>
                    <a:pt x="35787" y="35963"/>
                  </a:lnTo>
                  <a:lnTo>
                    <a:pt x="74739" y="9629"/>
                  </a:lnTo>
                  <a:lnTo>
                    <a:pt x="122399" y="0"/>
                  </a:lnTo>
                  <a:lnTo>
                    <a:pt x="5229902" y="0"/>
                  </a:lnTo>
                  <a:lnTo>
                    <a:pt x="5229902" y="14287"/>
                  </a:lnTo>
                  <a:lnTo>
                    <a:pt x="122399" y="14287"/>
                  </a:lnTo>
                  <a:lnTo>
                    <a:pt x="122399" y="28573"/>
                  </a:lnTo>
                  <a:lnTo>
                    <a:pt x="85880" y="35963"/>
                  </a:lnTo>
                  <a:lnTo>
                    <a:pt x="56059" y="56113"/>
                  </a:lnTo>
                  <a:lnTo>
                    <a:pt x="35954" y="85997"/>
                  </a:lnTo>
                  <a:lnTo>
                    <a:pt x="28581" y="122586"/>
                  </a:lnTo>
                  <a:lnTo>
                    <a:pt x="28581" y="7085156"/>
                  </a:lnTo>
                  <a:lnTo>
                    <a:pt x="35954" y="7121760"/>
                  </a:lnTo>
                  <a:lnTo>
                    <a:pt x="56059" y="7151648"/>
                  </a:lnTo>
                  <a:lnTo>
                    <a:pt x="85955" y="7171849"/>
                  </a:lnTo>
                  <a:lnTo>
                    <a:pt x="86130" y="7171849"/>
                  </a:lnTo>
                  <a:lnTo>
                    <a:pt x="122399" y="7179187"/>
                  </a:lnTo>
                  <a:lnTo>
                    <a:pt x="5305533" y="7179187"/>
                  </a:lnTo>
                  <a:lnTo>
                    <a:pt x="5284381" y="7193482"/>
                  </a:lnTo>
                  <a:lnTo>
                    <a:pt x="122399" y="7193482"/>
                  </a:lnTo>
                  <a:lnTo>
                    <a:pt x="122399" y="7207747"/>
                  </a:lnTo>
                  <a:close/>
                </a:path>
                <a:path w="5351145" h="7207884">
                  <a:moveTo>
                    <a:pt x="5305533" y="7179187"/>
                  </a:moveTo>
                  <a:lnTo>
                    <a:pt x="5229902" y="7179187"/>
                  </a:lnTo>
                  <a:lnTo>
                    <a:pt x="5266171" y="7171849"/>
                  </a:lnTo>
                  <a:lnTo>
                    <a:pt x="5266346" y="7171849"/>
                  </a:lnTo>
                  <a:lnTo>
                    <a:pt x="5296241" y="7151648"/>
                  </a:lnTo>
                  <a:lnTo>
                    <a:pt x="5316347" y="7121760"/>
                  </a:lnTo>
                  <a:lnTo>
                    <a:pt x="5323719" y="7085156"/>
                  </a:lnTo>
                  <a:lnTo>
                    <a:pt x="5323719" y="122586"/>
                  </a:lnTo>
                  <a:lnTo>
                    <a:pt x="5316347" y="85997"/>
                  </a:lnTo>
                  <a:lnTo>
                    <a:pt x="5296241" y="56113"/>
                  </a:lnTo>
                  <a:lnTo>
                    <a:pt x="5266421" y="35963"/>
                  </a:lnTo>
                  <a:lnTo>
                    <a:pt x="5229902" y="28573"/>
                  </a:lnTo>
                  <a:lnTo>
                    <a:pt x="122399" y="28573"/>
                  </a:lnTo>
                  <a:lnTo>
                    <a:pt x="122399" y="14287"/>
                  </a:lnTo>
                  <a:lnTo>
                    <a:pt x="5229902" y="14287"/>
                  </a:lnTo>
                  <a:lnTo>
                    <a:pt x="5229902" y="0"/>
                  </a:lnTo>
                  <a:lnTo>
                    <a:pt x="5277544" y="9629"/>
                  </a:lnTo>
                  <a:lnTo>
                    <a:pt x="5316487" y="35963"/>
                  </a:lnTo>
                  <a:lnTo>
                    <a:pt x="5342664" y="74861"/>
                  </a:lnTo>
                  <a:lnTo>
                    <a:pt x="5351062" y="116546"/>
                  </a:lnTo>
                  <a:lnTo>
                    <a:pt x="5351062" y="7091191"/>
                  </a:lnTo>
                  <a:lnTo>
                    <a:pt x="5344899" y="7121760"/>
                  </a:lnTo>
                  <a:lnTo>
                    <a:pt x="5342638" y="7132883"/>
                  </a:lnTo>
                  <a:lnTo>
                    <a:pt x="5316391" y="7171849"/>
                  </a:lnTo>
                  <a:lnTo>
                    <a:pt x="5305533" y="7179187"/>
                  </a:lnTo>
                  <a:close/>
                </a:path>
                <a:path w="5351145" h="7207884">
                  <a:moveTo>
                    <a:pt x="5229902" y="7207747"/>
                  </a:moveTo>
                  <a:lnTo>
                    <a:pt x="122399" y="7207747"/>
                  </a:lnTo>
                  <a:lnTo>
                    <a:pt x="122399" y="7193482"/>
                  </a:lnTo>
                  <a:lnTo>
                    <a:pt x="5229902" y="7193482"/>
                  </a:lnTo>
                  <a:lnTo>
                    <a:pt x="5229902" y="7207747"/>
                  </a:lnTo>
                  <a:close/>
                </a:path>
                <a:path w="5351145" h="7207884">
                  <a:moveTo>
                    <a:pt x="5229902" y="7207747"/>
                  </a:moveTo>
                  <a:lnTo>
                    <a:pt x="5229902" y="7193482"/>
                  </a:lnTo>
                  <a:lnTo>
                    <a:pt x="5284381" y="7193482"/>
                  </a:lnTo>
                  <a:lnTo>
                    <a:pt x="5277480" y="7198116"/>
                  </a:lnTo>
                  <a:lnTo>
                    <a:pt x="5229902" y="7207747"/>
                  </a:lnTo>
                  <a:close/>
                </a:path>
              </a:pathLst>
            </a:custGeom>
            <a:solidFill>
              <a:srgbClr val="E4BE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10650" y="2242096"/>
              <a:ext cx="5266690" cy="772795"/>
            </a:xfrm>
            <a:custGeom>
              <a:avLst/>
              <a:gdLst/>
              <a:ahLst/>
              <a:cxnLst/>
              <a:rect l="l" t="t" r="r" b="b"/>
              <a:pathLst>
                <a:path w="5266690" h="772794">
                  <a:moveTo>
                    <a:pt x="5192725" y="772287"/>
                  </a:moveTo>
                  <a:lnTo>
                    <a:pt x="73792" y="772287"/>
                  </a:lnTo>
                  <a:lnTo>
                    <a:pt x="45069" y="766485"/>
                  </a:lnTo>
                  <a:lnTo>
                    <a:pt x="21614" y="750664"/>
                  </a:lnTo>
                  <a:lnTo>
                    <a:pt x="5799" y="727200"/>
                  </a:lnTo>
                  <a:lnTo>
                    <a:pt x="0" y="698467"/>
                  </a:lnTo>
                  <a:lnTo>
                    <a:pt x="0" y="73819"/>
                  </a:lnTo>
                  <a:lnTo>
                    <a:pt x="5799" y="45086"/>
                  </a:lnTo>
                  <a:lnTo>
                    <a:pt x="21614" y="21622"/>
                  </a:lnTo>
                  <a:lnTo>
                    <a:pt x="45069" y="5801"/>
                  </a:lnTo>
                  <a:lnTo>
                    <a:pt x="73792" y="0"/>
                  </a:lnTo>
                  <a:lnTo>
                    <a:pt x="5192725" y="0"/>
                  </a:lnTo>
                  <a:lnTo>
                    <a:pt x="5221465" y="5801"/>
                  </a:lnTo>
                  <a:lnTo>
                    <a:pt x="5244930" y="21622"/>
                  </a:lnTo>
                  <a:lnTo>
                    <a:pt x="5260748" y="45086"/>
                  </a:lnTo>
                  <a:lnTo>
                    <a:pt x="5266547" y="73819"/>
                  </a:lnTo>
                  <a:lnTo>
                    <a:pt x="5266547" y="698467"/>
                  </a:lnTo>
                  <a:lnTo>
                    <a:pt x="5260748" y="727200"/>
                  </a:lnTo>
                  <a:lnTo>
                    <a:pt x="5244930" y="750664"/>
                  </a:lnTo>
                  <a:lnTo>
                    <a:pt x="5221465" y="766485"/>
                  </a:lnTo>
                  <a:lnTo>
                    <a:pt x="5192725" y="772287"/>
                  </a:lnTo>
                  <a:close/>
                </a:path>
              </a:pathLst>
            </a:custGeom>
            <a:solidFill>
              <a:srgbClr val="FFD8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938117" y="2350392"/>
            <a:ext cx="25590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265" dirty="0">
                <a:solidFill>
                  <a:srgbClr val="403C4E"/>
                </a:solidFill>
                <a:latin typeface="Book Antiqua"/>
                <a:cs typeface="Book Antiqua"/>
              </a:rPr>
              <a:t>2</a:t>
            </a:r>
            <a:endParaRPr sz="3000">
              <a:latin typeface="Book Antiqua"/>
              <a:cs typeface="Book Antiqu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834637" y="3949598"/>
            <a:ext cx="85725" cy="1000125"/>
            <a:chOff x="6834637" y="3949598"/>
            <a:chExt cx="85725" cy="100012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34637" y="3949598"/>
              <a:ext cx="85725" cy="8572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34637" y="4863540"/>
              <a:ext cx="85725" cy="8572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755262" y="3228844"/>
            <a:ext cx="4744085" cy="2222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135" dirty="0">
                <a:solidFill>
                  <a:srgbClr val="403C4E"/>
                </a:solidFill>
                <a:latin typeface="Book Antiqua"/>
                <a:cs typeface="Book Antiqua"/>
              </a:rPr>
              <a:t>Heatmap</a:t>
            </a:r>
            <a:r>
              <a:rPr sz="2500" b="1" spc="-35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sz="2500" b="1" spc="100" dirty="0">
                <a:solidFill>
                  <a:srgbClr val="403C4E"/>
                </a:solidFill>
                <a:latin typeface="Book Antiqua"/>
                <a:cs typeface="Book Antiqua"/>
              </a:rPr>
              <a:t>Findings</a:t>
            </a:r>
            <a:endParaRPr sz="2500">
              <a:latin typeface="Book Antiqua"/>
              <a:cs typeface="Book Antiqua"/>
            </a:endParaRPr>
          </a:p>
          <a:p>
            <a:pPr marL="313690" marR="5080">
              <a:lnSpc>
                <a:spcPct val="131300"/>
              </a:lnSpc>
              <a:spcBef>
                <a:spcPts val="800"/>
              </a:spcBef>
            </a:pPr>
            <a:r>
              <a:rPr sz="2000" dirty="0">
                <a:solidFill>
                  <a:srgbClr val="403C4E"/>
                </a:solidFill>
                <a:latin typeface="Tahoma"/>
                <a:cs typeface="Tahoma"/>
              </a:rPr>
              <a:t>Strong</a:t>
            </a:r>
            <a:r>
              <a:rPr sz="2000" spc="3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3C4E"/>
                </a:solidFill>
                <a:latin typeface="Tahoma"/>
                <a:cs typeface="Tahoma"/>
              </a:rPr>
              <a:t>screen-</a:t>
            </a:r>
            <a:r>
              <a:rPr sz="2000" spc="70" dirty="0">
                <a:solidFill>
                  <a:srgbClr val="403C4E"/>
                </a:solidFill>
                <a:latin typeface="Tahoma"/>
                <a:cs typeface="Tahoma"/>
              </a:rPr>
              <a:t>time</a:t>
            </a:r>
            <a:r>
              <a:rPr sz="2000" spc="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403C4E"/>
                </a:solidFill>
                <a:latin typeface="Tahoma"/>
                <a:cs typeface="Tahoma"/>
              </a:rPr>
              <a:t>intensity</a:t>
            </a:r>
            <a:r>
              <a:rPr sz="2000" spc="3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403C4E"/>
                </a:solidFill>
                <a:latin typeface="Tahoma"/>
                <a:cs typeface="Tahoma"/>
              </a:rPr>
              <a:t>for</a:t>
            </a:r>
            <a:r>
              <a:rPr sz="2000" spc="4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403C4E"/>
                </a:solidFill>
                <a:latin typeface="Tahoma"/>
                <a:cs typeface="Tahoma"/>
              </a:rPr>
              <a:t>older </a:t>
            </a:r>
            <a:r>
              <a:rPr sz="2000" dirty="0">
                <a:solidFill>
                  <a:srgbClr val="403C4E"/>
                </a:solidFill>
                <a:latin typeface="Tahoma"/>
                <a:cs typeface="Tahoma"/>
              </a:rPr>
              <a:t>age</a:t>
            </a:r>
            <a:r>
              <a:rPr sz="2000" spc="-3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403C4E"/>
                </a:solidFill>
                <a:latin typeface="Tahoma"/>
                <a:cs typeface="Tahoma"/>
              </a:rPr>
              <a:t>groups</a:t>
            </a:r>
            <a:endParaRPr sz="2000">
              <a:latin typeface="Tahoma"/>
              <a:cs typeface="Tahoma"/>
            </a:endParaRPr>
          </a:p>
          <a:p>
            <a:pPr marL="313690" marR="304165">
              <a:lnSpc>
                <a:spcPct val="131300"/>
              </a:lnSpc>
              <a:spcBef>
                <a:spcPts val="895"/>
              </a:spcBef>
            </a:pPr>
            <a:r>
              <a:rPr sz="2000" spc="95" dirty="0">
                <a:solidFill>
                  <a:srgbClr val="403C4E"/>
                </a:solidFill>
                <a:latin typeface="Tahoma"/>
                <a:cs typeface="Tahoma"/>
              </a:rPr>
              <a:t>Urban</a:t>
            </a:r>
            <a:r>
              <a:rPr sz="2000" spc="-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spc="85" dirty="0">
                <a:solidFill>
                  <a:srgbClr val="403C4E"/>
                </a:solidFill>
                <a:latin typeface="Tahoma"/>
                <a:cs typeface="Tahoma"/>
              </a:rPr>
              <a:t>smartphone</a:t>
            </a:r>
            <a:r>
              <a:rPr sz="2000" spc="-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403C4E"/>
                </a:solidFill>
                <a:latin typeface="Tahoma"/>
                <a:cs typeface="Tahoma"/>
              </a:rPr>
              <a:t>users</a:t>
            </a:r>
            <a:r>
              <a:rPr sz="2000" spc="-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spc="80" dirty="0">
                <a:solidFill>
                  <a:srgbClr val="403C4E"/>
                </a:solidFill>
                <a:latin typeface="Tahoma"/>
                <a:cs typeface="Tahoma"/>
              </a:rPr>
              <a:t>show</a:t>
            </a:r>
            <a:r>
              <a:rPr sz="2000" spc="-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spc="40" dirty="0">
                <a:solidFill>
                  <a:srgbClr val="403C4E"/>
                </a:solidFill>
                <a:latin typeface="Tahoma"/>
                <a:cs typeface="Tahoma"/>
              </a:rPr>
              <a:t>the </a:t>
            </a:r>
            <a:r>
              <a:rPr sz="2000" spc="50" dirty="0">
                <a:solidFill>
                  <a:srgbClr val="403C4E"/>
                </a:solidFill>
                <a:latin typeface="Tahoma"/>
                <a:cs typeface="Tahoma"/>
              </a:rPr>
              <a:t>highest</a:t>
            </a:r>
            <a:r>
              <a:rPr sz="2000" spc="-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spc="45" dirty="0">
                <a:solidFill>
                  <a:srgbClr val="403C4E"/>
                </a:solidFill>
                <a:latin typeface="Tahoma"/>
                <a:cs typeface="Tahoma"/>
              </a:rPr>
              <a:t>cluster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7962" y="5855482"/>
            <a:ext cx="4750437" cy="3251270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12048828" y="2199233"/>
            <a:ext cx="5351145" cy="7207884"/>
            <a:chOff x="12048828" y="2199233"/>
            <a:chExt cx="5351145" cy="7207884"/>
          </a:xfrm>
        </p:grpSpPr>
        <p:sp>
          <p:nvSpPr>
            <p:cNvPr id="23" name="object 23"/>
            <p:cNvSpPr/>
            <p:nvPr/>
          </p:nvSpPr>
          <p:spPr>
            <a:xfrm>
              <a:off x="12048828" y="2199233"/>
              <a:ext cx="5351145" cy="7207884"/>
            </a:xfrm>
            <a:custGeom>
              <a:avLst/>
              <a:gdLst/>
              <a:ahLst/>
              <a:cxnLst/>
              <a:rect l="l" t="t" r="r" b="b"/>
              <a:pathLst>
                <a:path w="5351144" h="7207884">
                  <a:moveTo>
                    <a:pt x="122385" y="7207747"/>
                  </a:moveTo>
                  <a:lnTo>
                    <a:pt x="74742" y="7198116"/>
                  </a:lnTo>
                  <a:lnTo>
                    <a:pt x="35844" y="7171849"/>
                  </a:lnTo>
                  <a:lnTo>
                    <a:pt x="9622" y="7132883"/>
                  </a:lnTo>
                  <a:lnTo>
                    <a:pt x="0" y="7085156"/>
                  </a:lnTo>
                  <a:lnTo>
                    <a:pt x="0" y="122586"/>
                  </a:lnTo>
                  <a:lnTo>
                    <a:pt x="9622" y="74861"/>
                  </a:lnTo>
                  <a:lnTo>
                    <a:pt x="35799" y="35963"/>
                  </a:lnTo>
                  <a:lnTo>
                    <a:pt x="74742" y="9629"/>
                  </a:lnTo>
                  <a:lnTo>
                    <a:pt x="122385" y="0"/>
                  </a:lnTo>
                  <a:lnTo>
                    <a:pt x="5230070" y="0"/>
                  </a:lnTo>
                  <a:lnTo>
                    <a:pt x="5230070" y="14287"/>
                  </a:lnTo>
                  <a:lnTo>
                    <a:pt x="122385" y="14287"/>
                  </a:lnTo>
                  <a:lnTo>
                    <a:pt x="122385" y="28573"/>
                  </a:lnTo>
                  <a:lnTo>
                    <a:pt x="85866" y="35963"/>
                  </a:lnTo>
                  <a:lnTo>
                    <a:pt x="56045" y="56113"/>
                  </a:lnTo>
                  <a:lnTo>
                    <a:pt x="35939" y="85997"/>
                  </a:lnTo>
                  <a:lnTo>
                    <a:pt x="28567" y="122586"/>
                  </a:lnTo>
                  <a:lnTo>
                    <a:pt x="28567" y="7085156"/>
                  </a:lnTo>
                  <a:lnTo>
                    <a:pt x="35939" y="7121760"/>
                  </a:lnTo>
                  <a:lnTo>
                    <a:pt x="56045" y="7151648"/>
                  </a:lnTo>
                  <a:lnTo>
                    <a:pt x="85940" y="7171849"/>
                  </a:lnTo>
                  <a:lnTo>
                    <a:pt x="86115" y="7171849"/>
                  </a:lnTo>
                  <a:lnTo>
                    <a:pt x="122385" y="7179187"/>
                  </a:lnTo>
                  <a:lnTo>
                    <a:pt x="5305726" y="7179187"/>
                  </a:lnTo>
                  <a:lnTo>
                    <a:pt x="5284569" y="7193482"/>
                  </a:lnTo>
                  <a:lnTo>
                    <a:pt x="122385" y="7193482"/>
                  </a:lnTo>
                  <a:lnTo>
                    <a:pt x="122385" y="7207747"/>
                  </a:lnTo>
                  <a:close/>
                </a:path>
                <a:path w="5351144" h="7207884">
                  <a:moveTo>
                    <a:pt x="5305726" y="7179187"/>
                  </a:moveTo>
                  <a:lnTo>
                    <a:pt x="5230070" y="7179187"/>
                  </a:lnTo>
                  <a:lnTo>
                    <a:pt x="5266340" y="7171849"/>
                  </a:lnTo>
                  <a:lnTo>
                    <a:pt x="5266514" y="7171849"/>
                  </a:lnTo>
                  <a:lnTo>
                    <a:pt x="5296410" y="7151648"/>
                  </a:lnTo>
                  <a:lnTo>
                    <a:pt x="5316515" y="7121760"/>
                  </a:lnTo>
                  <a:lnTo>
                    <a:pt x="5323888" y="7085156"/>
                  </a:lnTo>
                  <a:lnTo>
                    <a:pt x="5323888" y="122586"/>
                  </a:lnTo>
                  <a:lnTo>
                    <a:pt x="5316515" y="85997"/>
                  </a:lnTo>
                  <a:lnTo>
                    <a:pt x="5296410" y="56113"/>
                  </a:lnTo>
                  <a:lnTo>
                    <a:pt x="5266589" y="35963"/>
                  </a:lnTo>
                  <a:lnTo>
                    <a:pt x="5230070" y="28573"/>
                  </a:lnTo>
                  <a:lnTo>
                    <a:pt x="122385" y="28573"/>
                  </a:lnTo>
                  <a:lnTo>
                    <a:pt x="122385" y="14287"/>
                  </a:lnTo>
                  <a:lnTo>
                    <a:pt x="5230070" y="14287"/>
                  </a:lnTo>
                  <a:lnTo>
                    <a:pt x="5230070" y="0"/>
                  </a:lnTo>
                  <a:lnTo>
                    <a:pt x="5277730" y="9629"/>
                  </a:lnTo>
                  <a:lnTo>
                    <a:pt x="5316682" y="35963"/>
                  </a:lnTo>
                  <a:lnTo>
                    <a:pt x="5342863" y="74861"/>
                  </a:lnTo>
                  <a:lnTo>
                    <a:pt x="5351062" y="115559"/>
                  </a:lnTo>
                  <a:lnTo>
                    <a:pt x="5351062" y="7092178"/>
                  </a:lnTo>
                  <a:lnTo>
                    <a:pt x="5345098" y="7121760"/>
                  </a:lnTo>
                  <a:lnTo>
                    <a:pt x="5342837" y="7132883"/>
                  </a:lnTo>
                  <a:lnTo>
                    <a:pt x="5316586" y="7171849"/>
                  </a:lnTo>
                  <a:lnTo>
                    <a:pt x="5305726" y="7179187"/>
                  </a:lnTo>
                  <a:close/>
                </a:path>
                <a:path w="5351144" h="7207884">
                  <a:moveTo>
                    <a:pt x="5230070" y="7207747"/>
                  </a:moveTo>
                  <a:lnTo>
                    <a:pt x="122385" y="7207747"/>
                  </a:lnTo>
                  <a:lnTo>
                    <a:pt x="122385" y="7193482"/>
                  </a:lnTo>
                  <a:lnTo>
                    <a:pt x="5230070" y="7193482"/>
                  </a:lnTo>
                  <a:lnTo>
                    <a:pt x="5230070" y="7207747"/>
                  </a:lnTo>
                  <a:close/>
                </a:path>
                <a:path w="5351144" h="7207884">
                  <a:moveTo>
                    <a:pt x="5230070" y="7207747"/>
                  </a:moveTo>
                  <a:lnTo>
                    <a:pt x="5230070" y="7193482"/>
                  </a:lnTo>
                  <a:lnTo>
                    <a:pt x="5284569" y="7193482"/>
                  </a:lnTo>
                  <a:lnTo>
                    <a:pt x="5277666" y="7198116"/>
                  </a:lnTo>
                  <a:lnTo>
                    <a:pt x="5230070" y="7207747"/>
                  </a:lnTo>
                  <a:close/>
                </a:path>
              </a:pathLst>
            </a:custGeom>
            <a:solidFill>
              <a:srgbClr val="E4BE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091691" y="2242096"/>
              <a:ext cx="5267325" cy="772795"/>
            </a:xfrm>
            <a:custGeom>
              <a:avLst/>
              <a:gdLst/>
              <a:ahLst/>
              <a:cxnLst/>
              <a:rect l="l" t="t" r="r" b="b"/>
              <a:pathLst>
                <a:path w="5267325" h="772794">
                  <a:moveTo>
                    <a:pt x="5192938" y="772287"/>
                  </a:moveTo>
                  <a:lnTo>
                    <a:pt x="73822" y="772287"/>
                  </a:lnTo>
                  <a:lnTo>
                    <a:pt x="45082" y="766485"/>
                  </a:lnTo>
                  <a:lnTo>
                    <a:pt x="21617" y="750664"/>
                  </a:lnTo>
                  <a:lnTo>
                    <a:pt x="5799" y="727200"/>
                  </a:lnTo>
                  <a:lnTo>
                    <a:pt x="0" y="698467"/>
                  </a:lnTo>
                  <a:lnTo>
                    <a:pt x="0" y="73819"/>
                  </a:lnTo>
                  <a:lnTo>
                    <a:pt x="5799" y="45086"/>
                  </a:lnTo>
                  <a:lnTo>
                    <a:pt x="21617" y="21622"/>
                  </a:lnTo>
                  <a:lnTo>
                    <a:pt x="45082" y="5801"/>
                  </a:lnTo>
                  <a:lnTo>
                    <a:pt x="73822" y="0"/>
                  </a:lnTo>
                  <a:lnTo>
                    <a:pt x="5192938" y="0"/>
                  </a:lnTo>
                  <a:lnTo>
                    <a:pt x="5221665" y="5801"/>
                  </a:lnTo>
                  <a:lnTo>
                    <a:pt x="5245131" y="21622"/>
                  </a:lnTo>
                  <a:lnTo>
                    <a:pt x="5260957" y="45086"/>
                  </a:lnTo>
                  <a:lnTo>
                    <a:pt x="5266761" y="73819"/>
                  </a:lnTo>
                  <a:lnTo>
                    <a:pt x="5266761" y="698467"/>
                  </a:lnTo>
                  <a:lnTo>
                    <a:pt x="5260957" y="727200"/>
                  </a:lnTo>
                  <a:lnTo>
                    <a:pt x="5245131" y="750664"/>
                  </a:lnTo>
                  <a:lnTo>
                    <a:pt x="5221665" y="766485"/>
                  </a:lnTo>
                  <a:lnTo>
                    <a:pt x="5192938" y="772287"/>
                  </a:lnTo>
                  <a:close/>
                </a:path>
              </a:pathLst>
            </a:custGeom>
            <a:solidFill>
              <a:srgbClr val="FFD8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4519310" y="2350392"/>
            <a:ext cx="2413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145" dirty="0">
                <a:solidFill>
                  <a:srgbClr val="403C4E"/>
                </a:solidFill>
                <a:latin typeface="Book Antiqua"/>
                <a:cs typeface="Book Antiqua"/>
              </a:rPr>
              <a:t>3</a:t>
            </a:r>
            <a:endParaRPr sz="3000">
              <a:latin typeface="Book Antiqua"/>
              <a:cs typeface="Book Antiqu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2415677" y="3949598"/>
            <a:ext cx="85725" cy="1000125"/>
            <a:chOff x="12415677" y="3949598"/>
            <a:chExt cx="85725" cy="1000125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15677" y="3949598"/>
              <a:ext cx="85725" cy="8572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15677" y="4863540"/>
              <a:ext cx="85725" cy="85725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2336302" y="3228844"/>
            <a:ext cx="3933190" cy="2222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b="1" spc="210" dirty="0">
                <a:solidFill>
                  <a:srgbClr val="403C4E"/>
                </a:solidFill>
                <a:latin typeface="Book Antiqua"/>
                <a:cs typeface="Book Antiqua"/>
              </a:rPr>
              <a:t>Segment-</a:t>
            </a:r>
            <a:r>
              <a:rPr sz="2500" b="1" spc="65" dirty="0">
                <a:solidFill>
                  <a:srgbClr val="403C4E"/>
                </a:solidFill>
                <a:latin typeface="Book Antiqua"/>
                <a:cs typeface="Book Antiqua"/>
              </a:rPr>
              <a:t>Level</a:t>
            </a:r>
            <a:r>
              <a:rPr sz="2500" b="1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sz="2500" b="1" spc="120" dirty="0">
                <a:solidFill>
                  <a:srgbClr val="403C4E"/>
                </a:solidFill>
                <a:latin typeface="Book Antiqua"/>
                <a:cs typeface="Book Antiqua"/>
              </a:rPr>
              <a:t>Trends</a:t>
            </a:r>
            <a:endParaRPr sz="2500">
              <a:latin typeface="Book Antiqua"/>
              <a:cs typeface="Book Antiqua"/>
            </a:endParaRPr>
          </a:p>
          <a:p>
            <a:pPr marL="313690" marR="5080">
              <a:lnSpc>
                <a:spcPct val="131300"/>
              </a:lnSpc>
              <a:spcBef>
                <a:spcPts val="800"/>
              </a:spcBef>
            </a:pPr>
            <a:r>
              <a:rPr sz="2000" dirty="0">
                <a:solidFill>
                  <a:srgbClr val="403C4E"/>
                </a:solidFill>
                <a:latin typeface="Tahoma"/>
                <a:cs typeface="Tahoma"/>
              </a:rPr>
              <a:t>Device</a:t>
            </a:r>
            <a:r>
              <a:rPr sz="2000" spc="8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3C4E"/>
                </a:solidFill>
                <a:latin typeface="Tahoma"/>
                <a:cs typeface="Tahoma"/>
              </a:rPr>
              <a:t>usage</a:t>
            </a:r>
            <a:r>
              <a:rPr sz="2000" spc="8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spc="55" dirty="0">
                <a:solidFill>
                  <a:srgbClr val="403C4E"/>
                </a:solidFill>
                <a:latin typeface="Tahoma"/>
                <a:cs typeface="Tahoma"/>
              </a:rPr>
              <a:t>differs</a:t>
            </a:r>
            <a:r>
              <a:rPr sz="2000" spc="8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403C4E"/>
                </a:solidFill>
                <a:latin typeface="Tahoma"/>
                <a:cs typeface="Tahoma"/>
              </a:rPr>
              <a:t>heavily</a:t>
            </a:r>
            <a:r>
              <a:rPr sz="2000" spc="8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spc="30" dirty="0">
                <a:solidFill>
                  <a:srgbClr val="403C4E"/>
                </a:solidFill>
                <a:latin typeface="Tahoma"/>
                <a:cs typeface="Tahoma"/>
              </a:rPr>
              <a:t>by </a:t>
            </a:r>
            <a:r>
              <a:rPr sz="2000" spc="50" dirty="0">
                <a:solidFill>
                  <a:srgbClr val="403C4E"/>
                </a:solidFill>
                <a:latin typeface="Tahoma"/>
                <a:cs typeface="Tahoma"/>
              </a:rPr>
              <a:t>location</a:t>
            </a:r>
            <a:endParaRPr sz="2000">
              <a:latin typeface="Tahoma"/>
              <a:cs typeface="Tahoma"/>
            </a:endParaRPr>
          </a:p>
          <a:p>
            <a:pPr marL="313690" marR="375920">
              <a:lnSpc>
                <a:spcPct val="131300"/>
              </a:lnSpc>
              <a:spcBef>
                <a:spcPts val="895"/>
              </a:spcBef>
            </a:pPr>
            <a:r>
              <a:rPr sz="2000" spc="75" dirty="0">
                <a:solidFill>
                  <a:srgbClr val="403C4E"/>
                </a:solidFill>
                <a:latin typeface="Tahoma"/>
                <a:cs typeface="Tahoma"/>
              </a:rPr>
              <a:t>Laptop</a:t>
            </a:r>
            <a:r>
              <a:rPr sz="2000" spc="-10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spc="70" dirty="0">
                <a:solidFill>
                  <a:srgbClr val="403C4E"/>
                </a:solidFill>
                <a:latin typeface="Tahoma"/>
                <a:cs typeface="Tahoma"/>
              </a:rPr>
              <a:t>users</a:t>
            </a:r>
            <a:r>
              <a:rPr sz="2000" spc="-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spc="60" dirty="0">
                <a:solidFill>
                  <a:srgbClr val="403C4E"/>
                </a:solidFill>
                <a:latin typeface="Tahoma"/>
                <a:cs typeface="Tahoma"/>
              </a:rPr>
              <a:t>exhibit</a:t>
            </a:r>
            <a:r>
              <a:rPr sz="2000" spc="-10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403C4E"/>
                </a:solidFill>
                <a:latin typeface="Tahoma"/>
                <a:cs typeface="Tahoma"/>
              </a:rPr>
              <a:t>higher </a:t>
            </a:r>
            <a:r>
              <a:rPr sz="2000" spc="65" dirty="0">
                <a:solidFill>
                  <a:srgbClr val="403C4E"/>
                </a:solidFill>
                <a:latin typeface="Tahoma"/>
                <a:cs typeface="Tahoma"/>
              </a:rPr>
              <a:t>educational</a:t>
            </a:r>
            <a:r>
              <a:rPr sz="2000" spc="-1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2000" spc="50" dirty="0">
                <a:solidFill>
                  <a:srgbClr val="403C4E"/>
                </a:solidFill>
                <a:latin typeface="Tahoma"/>
                <a:cs typeface="Tahoma"/>
              </a:rPr>
              <a:t>ratios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32" name="Picture 31" descr="A graph on a computer screen&#10;&#10;AI-generated content may be incorrect.">
            <a:extLst>
              <a:ext uri="{FF2B5EF4-FFF2-40B4-BE49-F238E27FC236}">
                <a16:creationId xmlns:a16="http://schemas.microsoft.com/office/drawing/2014/main" id="{30C38ADB-24A0-778D-826B-F268B0B915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1402" y="5777482"/>
            <a:ext cx="4599694" cy="33292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9636" y="413060"/>
            <a:ext cx="12440285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00" spc="100" dirty="0"/>
              <a:t>Habit</a:t>
            </a:r>
            <a:r>
              <a:rPr sz="3300" spc="-40" dirty="0"/>
              <a:t> </a:t>
            </a:r>
            <a:r>
              <a:rPr sz="3300" spc="-254" dirty="0"/>
              <a:t>&amp;</a:t>
            </a:r>
            <a:r>
              <a:rPr sz="3300" spc="-40" dirty="0"/>
              <a:t> </a:t>
            </a:r>
            <a:r>
              <a:rPr sz="3300" spc="160" dirty="0"/>
              <a:t>Seasonal</a:t>
            </a:r>
            <a:r>
              <a:rPr sz="3300" spc="-35" dirty="0"/>
              <a:t> </a:t>
            </a:r>
            <a:r>
              <a:rPr sz="3300" spc="225" dirty="0"/>
              <a:t>Patterns:</a:t>
            </a:r>
            <a:r>
              <a:rPr sz="3300" spc="-40" dirty="0"/>
              <a:t> </a:t>
            </a:r>
            <a:r>
              <a:rPr sz="3300" spc="160" dirty="0"/>
              <a:t>Understanding</a:t>
            </a:r>
            <a:r>
              <a:rPr sz="3300" spc="-35" dirty="0"/>
              <a:t> </a:t>
            </a:r>
            <a:r>
              <a:rPr sz="3300" spc="145" dirty="0"/>
              <a:t>Usage</a:t>
            </a:r>
            <a:r>
              <a:rPr sz="3300" spc="-40" dirty="0"/>
              <a:t> </a:t>
            </a:r>
            <a:r>
              <a:rPr sz="3300" spc="135" dirty="0"/>
              <a:t>Dynamics</a:t>
            </a:r>
            <a:endParaRPr sz="3300"/>
          </a:p>
        </p:txBody>
      </p:sp>
      <p:sp>
        <p:nvSpPr>
          <p:cNvPr id="3" name="object 3"/>
          <p:cNvSpPr/>
          <p:nvPr/>
        </p:nvSpPr>
        <p:spPr>
          <a:xfrm>
            <a:off x="611386" y="197350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1386" y="257418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50"/>
                </a:moveTo>
                <a:lnTo>
                  <a:pt x="24785" y="57150"/>
                </a:lnTo>
                <a:lnTo>
                  <a:pt x="21140" y="56425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4785"/>
                </a:lnTo>
                <a:lnTo>
                  <a:pt x="57150" y="28575"/>
                </a:lnTo>
                <a:lnTo>
                  <a:pt x="57150" y="32364"/>
                </a:lnTo>
                <a:lnTo>
                  <a:pt x="36009" y="56425"/>
                </a:lnTo>
                <a:lnTo>
                  <a:pt x="32364" y="57150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9636" y="1379867"/>
            <a:ext cx="7941309" cy="194925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spc="100" dirty="0">
                <a:solidFill>
                  <a:srgbClr val="403C4E"/>
                </a:solidFill>
                <a:latin typeface="Book Antiqua"/>
                <a:cs typeface="Book Antiqua"/>
              </a:rPr>
              <a:t>Educational</a:t>
            </a:r>
            <a:r>
              <a:rPr b="1" spc="5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95" dirty="0">
                <a:solidFill>
                  <a:srgbClr val="403C4E"/>
                </a:solidFill>
                <a:latin typeface="Book Antiqua"/>
                <a:cs typeface="Book Antiqua"/>
              </a:rPr>
              <a:t>vs.</a:t>
            </a:r>
            <a:r>
              <a:rPr b="1" spc="10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105" dirty="0">
                <a:solidFill>
                  <a:srgbClr val="403C4E"/>
                </a:solidFill>
                <a:latin typeface="Book Antiqua"/>
                <a:cs typeface="Book Antiqua"/>
              </a:rPr>
              <a:t>Recreational</a:t>
            </a:r>
            <a:r>
              <a:rPr b="1" spc="5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70" dirty="0">
                <a:solidFill>
                  <a:srgbClr val="403C4E"/>
                </a:solidFill>
                <a:latin typeface="Book Antiqua"/>
                <a:cs typeface="Book Antiqua"/>
              </a:rPr>
              <a:t>Ratio</a:t>
            </a:r>
            <a:endParaRPr dirty="0">
              <a:latin typeface="Book Antiqua"/>
              <a:cs typeface="Book Antiqua"/>
            </a:endParaRPr>
          </a:p>
          <a:p>
            <a:pPr marL="210185" marR="5080">
              <a:lnSpc>
                <a:spcPct val="134600"/>
              </a:lnSpc>
              <a:spcBef>
                <a:spcPts val="1095"/>
              </a:spcBef>
            </a:pPr>
            <a:r>
              <a:rPr spc="-95" dirty="0">
                <a:solidFill>
                  <a:srgbClr val="403C4E"/>
                </a:solidFill>
                <a:latin typeface="Arial Black"/>
                <a:cs typeface="Arial Black"/>
              </a:rPr>
              <a:t>Teenagers:</a:t>
            </a:r>
            <a:r>
              <a:rPr spc="3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Show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the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lowest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educational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ratio,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indicating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higher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70" dirty="0">
                <a:solidFill>
                  <a:srgbClr val="403C4E"/>
                </a:solidFill>
                <a:latin typeface="Tahoma"/>
                <a:cs typeface="Tahoma"/>
              </a:rPr>
              <a:t>proportion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of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recreational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screen time.</a:t>
            </a:r>
            <a:endParaRPr dirty="0">
              <a:latin typeface="Tahoma"/>
              <a:cs typeface="Tahoma"/>
            </a:endParaRPr>
          </a:p>
          <a:p>
            <a:pPr marL="210185" marR="471170">
              <a:lnSpc>
                <a:spcPct val="134600"/>
              </a:lnSpc>
              <a:spcBef>
                <a:spcPts val="530"/>
              </a:spcBef>
            </a:pPr>
            <a:r>
              <a:rPr spc="-85" dirty="0">
                <a:solidFill>
                  <a:srgbClr val="403C4E"/>
                </a:solidFill>
                <a:latin typeface="Arial Black"/>
                <a:cs typeface="Arial Black"/>
              </a:rPr>
              <a:t>Young</a:t>
            </a:r>
            <a:r>
              <a:rPr spc="-1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55" dirty="0">
                <a:solidFill>
                  <a:srgbClr val="403C4E"/>
                </a:solidFill>
                <a:latin typeface="Arial Black"/>
                <a:cs typeface="Arial Black"/>
              </a:rPr>
              <a:t>Children:</a:t>
            </a:r>
            <a:r>
              <a:rPr spc="-1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Exhibit</a:t>
            </a:r>
            <a:r>
              <a:rPr spc="1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</a:t>
            </a:r>
            <a:r>
              <a:rPr spc="1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80" dirty="0">
                <a:solidFill>
                  <a:srgbClr val="403C4E"/>
                </a:solidFill>
                <a:latin typeface="Tahoma"/>
                <a:cs typeface="Tahoma"/>
              </a:rPr>
              <a:t>more</a:t>
            </a:r>
            <a:r>
              <a:rPr spc="1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balanced</a:t>
            </a:r>
            <a:r>
              <a:rPr spc="1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ratio,</a:t>
            </a:r>
            <a:r>
              <a:rPr spc="1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suggesting</a:t>
            </a:r>
            <a:r>
              <a:rPr spc="1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</a:t>
            </a:r>
            <a:r>
              <a:rPr spc="1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healthier</a:t>
            </a:r>
            <a:r>
              <a:rPr spc="1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mix</a:t>
            </a:r>
            <a:r>
              <a:rPr spc="1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of</a:t>
            </a:r>
            <a:r>
              <a:rPr spc="1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educational</a:t>
            </a:r>
            <a:r>
              <a:rPr spc="1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25" dirty="0">
                <a:solidFill>
                  <a:srgbClr val="403C4E"/>
                </a:solidFill>
                <a:latin typeface="Tahoma"/>
                <a:cs typeface="Tahoma"/>
              </a:rPr>
              <a:t>and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recreational</a:t>
            </a:r>
            <a:r>
              <a:rPr spc="-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content.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47251" y="1379867"/>
            <a:ext cx="8331834" cy="151118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b="1" dirty="0">
                <a:solidFill>
                  <a:srgbClr val="403C4E"/>
                </a:solidFill>
                <a:latin typeface="Book Antiqua"/>
                <a:cs typeface="Book Antiqua"/>
              </a:rPr>
              <a:t>Overall</a:t>
            </a:r>
            <a:r>
              <a:rPr b="1" spc="270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125" dirty="0">
                <a:solidFill>
                  <a:srgbClr val="403C4E"/>
                </a:solidFill>
                <a:latin typeface="Book Antiqua"/>
                <a:cs typeface="Book Antiqua"/>
              </a:rPr>
              <a:t>Pattern</a:t>
            </a:r>
            <a:endParaRPr dirty="0">
              <a:latin typeface="Book Antiqua"/>
              <a:cs typeface="Book Antiqua"/>
            </a:endParaRPr>
          </a:p>
          <a:p>
            <a:pPr marL="12700" marR="5080">
              <a:lnSpc>
                <a:spcPct val="134600"/>
              </a:lnSpc>
              <a:spcBef>
                <a:spcPts val="1095"/>
              </a:spcBef>
            </a:pP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A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clear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trend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emerges: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screen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time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increases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significantly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with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age,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and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this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tendency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is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markedly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amplified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during</a:t>
            </a:r>
            <a:r>
              <a:rPr spc="3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weekends.</a:t>
            </a:r>
            <a:r>
              <a:rPr spc="3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This</a:t>
            </a:r>
            <a:r>
              <a:rPr spc="3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suggests</a:t>
            </a:r>
            <a:r>
              <a:rPr spc="3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that</a:t>
            </a:r>
            <a:r>
              <a:rPr spc="3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discretionary</a:t>
            </a:r>
            <a:r>
              <a:rPr spc="3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time</a:t>
            </a:r>
            <a:r>
              <a:rPr spc="3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heavily</a:t>
            </a:r>
            <a:r>
              <a:rPr spc="3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influences</a:t>
            </a:r>
            <a:r>
              <a:rPr spc="3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screen</a:t>
            </a:r>
            <a:r>
              <a:rPr spc="3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usage</a:t>
            </a:r>
            <a:r>
              <a:rPr spc="3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habits.</a:t>
            </a:r>
            <a:endParaRPr dirty="0">
              <a:latin typeface="Tahoma"/>
              <a:cs typeface="Tahoma"/>
            </a:endParaRPr>
          </a:p>
        </p:txBody>
      </p:sp>
      <p:pic>
        <p:nvPicPr>
          <p:cNvPr id="10" name="Picture 9" descr="A graph of a person's body&#10;&#10;AI-generated content may be incorrect.">
            <a:extLst>
              <a:ext uri="{FF2B5EF4-FFF2-40B4-BE49-F238E27FC236}">
                <a16:creationId xmlns:a16="http://schemas.microsoft.com/office/drawing/2014/main" id="{7C05FB64-2A85-FFE5-B7C7-B22809207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19500"/>
            <a:ext cx="7010400" cy="6254440"/>
          </a:xfrm>
          <a:prstGeom prst="rect">
            <a:avLst/>
          </a:prstGeom>
        </p:spPr>
      </p:pic>
      <p:pic>
        <p:nvPicPr>
          <p:cNvPr id="12" name="Picture 11" descr="A graph of people with different colored squares&#10;&#10;AI-generated content may be incorrect.">
            <a:extLst>
              <a:ext uri="{FF2B5EF4-FFF2-40B4-BE49-F238E27FC236}">
                <a16:creationId xmlns:a16="http://schemas.microsoft.com/office/drawing/2014/main" id="{C4207C8A-75D5-F980-5FC6-8881D0566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3467100"/>
            <a:ext cx="8686800" cy="6406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0486" y="512743"/>
            <a:ext cx="14468475" cy="12636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950"/>
              </a:lnSpc>
              <a:spcBef>
                <a:spcPts val="50"/>
              </a:spcBef>
            </a:pPr>
            <a:r>
              <a:rPr sz="4000" spc="195" dirty="0"/>
              <a:t>Power</a:t>
            </a:r>
            <a:r>
              <a:rPr sz="4000" spc="-65" dirty="0"/>
              <a:t> </a:t>
            </a:r>
            <a:r>
              <a:rPr sz="4000" spc="100" dirty="0"/>
              <a:t>BI</a:t>
            </a:r>
            <a:r>
              <a:rPr sz="4000" spc="-60" dirty="0"/>
              <a:t> </a:t>
            </a:r>
            <a:r>
              <a:rPr sz="4000" spc="150" dirty="0"/>
              <a:t>Dashboard</a:t>
            </a:r>
            <a:r>
              <a:rPr sz="4000" spc="-60" dirty="0"/>
              <a:t> </a:t>
            </a:r>
            <a:r>
              <a:rPr sz="4000" spc="80" dirty="0"/>
              <a:t>Overview:</a:t>
            </a:r>
            <a:r>
              <a:rPr sz="4000" spc="-60" dirty="0"/>
              <a:t> </a:t>
            </a:r>
            <a:r>
              <a:rPr sz="4000" spc="220" dirty="0"/>
              <a:t>Page</a:t>
            </a:r>
            <a:r>
              <a:rPr sz="4000" spc="-65" dirty="0"/>
              <a:t> </a:t>
            </a:r>
            <a:r>
              <a:rPr sz="4000" dirty="0"/>
              <a:t>1</a:t>
            </a:r>
            <a:r>
              <a:rPr sz="4000" spc="-60" dirty="0"/>
              <a:t> </a:t>
            </a:r>
            <a:r>
              <a:rPr sz="4000" spc="1175" dirty="0"/>
              <a:t>-</a:t>
            </a:r>
            <a:r>
              <a:rPr sz="4000" spc="-60" dirty="0"/>
              <a:t> </a:t>
            </a:r>
            <a:r>
              <a:rPr sz="4000" dirty="0"/>
              <a:t>Key</a:t>
            </a:r>
            <a:r>
              <a:rPr sz="4000" spc="-60" dirty="0"/>
              <a:t> </a:t>
            </a:r>
            <a:r>
              <a:rPr sz="4000" spc="240" dirty="0"/>
              <a:t>Performance </a:t>
            </a:r>
            <a:r>
              <a:rPr sz="4000" spc="200" dirty="0"/>
              <a:t>Indicators</a:t>
            </a:r>
            <a:endParaRPr sz="40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1286" y="3408867"/>
            <a:ext cx="66674" cy="666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1286" y="3806083"/>
            <a:ext cx="66674" cy="666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1286" y="4529221"/>
            <a:ext cx="66674" cy="666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1286" y="5581146"/>
            <a:ext cx="66674" cy="666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1286" y="5978362"/>
            <a:ext cx="66674" cy="666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1286" y="6375608"/>
            <a:ext cx="66674" cy="6667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700486" y="2201400"/>
            <a:ext cx="9608185" cy="5473486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1800" spc="140" dirty="0"/>
              <a:t>Page</a:t>
            </a:r>
            <a:r>
              <a:rPr sz="1800" spc="60" dirty="0"/>
              <a:t> </a:t>
            </a:r>
            <a:r>
              <a:rPr sz="1800" spc="55" dirty="0"/>
              <a:t>1:</a:t>
            </a:r>
            <a:r>
              <a:rPr sz="1800" spc="60" dirty="0"/>
              <a:t> </a:t>
            </a:r>
            <a:r>
              <a:rPr sz="1800" dirty="0"/>
              <a:t>Overview</a:t>
            </a:r>
            <a:r>
              <a:rPr sz="1800" spc="60" dirty="0"/>
              <a:t> </a:t>
            </a:r>
            <a:r>
              <a:rPr sz="1800" spc="-165" dirty="0"/>
              <a:t>&amp;</a:t>
            </a:r>
            <a:r>
              <a:rPr sz="1800" spc="60" dirty="0"/>
              <a:t> </a:t>
            </a:r>
            <a:r>
              <a:rPr sz="1800" spc="55" dirty="0"/>
              <a:t>KPIs</a:t>
            </a: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800" dirty="0"/>
              <a:t>Key </a:t>
            </a:r>
            <a:r>
              <a:rPr sz="1800" spc="125" dirty="0"/>
              <a:t>Performance</a:t>
            </a:r>
            <a:r>
              <a:rPr sz="1800" dirty="0"/>
              <a:t> </a:t>
            </a:r>
            <a:r>
              <a:rPr sz="1800" spc="105" dirty="0"/>
              <a:t>Indicators</a:t>
            </a:r>
            <a:r>
              <a:rPr sz="1800" spc="5" dirty="0"/>
              <a:t> </a:t>
            </a:r>
            <a:r>
              <a:rPr sz="1800" spc="90" dirty="0"/>
              <a:t>(KPIs)</a:t>
            </a:r>
            <a:endParaRPr sz="1800" dirty="0"/>
          </a:p>
          <a:p>
            <a:pPr marL="248285">
              <a:lnSpc>
                <a:spcPct val="100000"/>
              </a:lnSpc>
              <a:spcBef>
                <a:spcPts val="1789"/>
              </a:spcBef>
            </a:pPr>
            <a:r>
              <a:rPr sz="1800" b="0" spc="-125" dirty="0">
                <a:latin typeface="Arial Black"/>
                <a:cs typeface="Arial Black"/>
              </a:rPr>
              <a:t>Avg</a:t>
            </a:r>
            <a:r>
              <a:rPr sz="1800" b="0" spc="-75" dirty="0">
                <a:latin typeface="Arial Black"/>
                <a:cs typeface="Arial Black"/>
              </a:rPr>
              <a:t> </a:t>
            </a:r>
            <a:r>
              <a:rPr sz="1800" b="0" spc="-65" dirty="0">
                <a:latin typeface="Arial Black"/>
                <a:cs typeface="Arial Black"/>
              </a:rPr>
              <a:t>Daily</a:t>
            </a:r>
            <a:r>
              <a:rPr sz="1800" b="0" spc="-70" dirty="0">
                <a:latin typeface="Arial Black"/>
                <a:cs typeface="Arial Black"/>
              </a:rPr>
              <a:t> </a:t>
            </a:r>
            <a:r>
              <a:rPr sz="1800" b="0" spc="-135" dirty="0">
                <a:latin typeface="Arial Black"/>
                <a:cs typeface="Arial Black"/>
              </a:rPr>
              <a:t>Screen</a:t>
            </a:r>
            <a:r>
              <a:rPr sz="1800" b="0" spc="-70" dirty="0">
                <a:latin typeface="Arial Black"/>
                <a:cs typeface="Arial Black"/>
              </a:rPr>
              <a:t> </a:t>
            </a:r>
            <a:r>
              <a:rPr sz="1800" b="0" spc="-105" dirty="0">
                <a:latin typeface="Arial Black"/>
                <a:cs typeface="Arial Black"/>
              </a:rPr>
              <a:t>Time:</a:t>
            </a:r>
            <a:r>
              <a:rPr sz="1800" b="0" spc="-70" dirty="0">
                <a:latin typeface="Arial Black"/>
                <a:cs typeface="Arial Black"/>
              </a:rPr>
              <a:t> </a:t>
            </a:r>
            <a:r>
              <a:rPr sz="1800" b="0" dirty="0">
                <a:latin typeface="Tahoma"/>
                <a:cs typeface="Tahoma"/>
              </a:rPr>
              <a:t>The</a:t>
            </a:r>
            <a:r>
              <a:rPr sz="1800" b="0" spc="-35" dirty="0">
                <a:latin typeface="Tahoma"/>
                <a:cs typeface="Tahoma"/>
              </a:rPr>
              <a:t> </a:t>
            </a:r>
            <a:r>
              <a:rPr sz="1800" b="0" dirty="0">
                <a:latin typeface="Tahoma"/>
                <a:cs typeface="Tahoma"/>
              </a:rPr>
              <a:t>average</a:t>
            </a:r>
            <a:r>
              <a:rPr sz="1800" b="0" spc="-35" dirty="0">
                <a:latin typeface="Tahoma"/>
                <a:cs typeface="Tahoma"/>
              </a:rPr>
              <a:t> </a:t>
            </a:r>
            <a:r>
              <a:rPr sz="1800" b="0" spc="75" dirty="0">
                <a:latin typeface="Tahoma"/>
                <a:cs typeface="Tahoma"/>
              </a:rPr>
              <a:t>hours</a:t>
            </a:r>
            <a:r>
              <a:rPr sz="1800" b="0" spc="-35" dirty="0">
                <a:latin typeface="Tahoma"/>
                <a:cs typeface="Tahoma"/>
              </a:rPr>
              <a:t> </a:t>
            </a:r>
            <a:r>
              <a:rPr sz="1800" b="0" spc="60" dirty="0">
                <a:latin typeface="Tahoma"/>
                <a:cs typeface="Tahoma"/>
              </a:rPr>
              <a:t>children</a:t>
            </a:r>
            <a:r>
              <a:rPr sz="1800" b="0" spc="-35" dirty="0">
                <a:latin typeface="Tahoma"/>
                <a:cs typeface="Tahoma"/>
              </a:rPr>
              <a:t> </a:t>
            </a:r>
            <a:r>
              <a:rPr sz="1800" b="0" spc="70" dirty="0">
                <a:latin typeface="Tahoma"/>
                <a:cs typeface="Tahoma"/>
              </a:rPr>
              <a:t>spend</a:t>
            </a:r>
            <a:r>
              <a:rPr sz="1800" b="0" spc="-35" dirty="0">
                <a:latin typeface="Tahoma"/>
                <a:cs typeface="Tahoma"/>
              </a:rPr>
              <a:t> </a:t>
            </a:r>
            <a:r>
              <a:rPr sz="1800" b="0" spc="95" dirty="0">
                <a:latin typeface="Tahoma"/>
                <a:cs typeface="Tahoma"/>
              </a:rPr>
              <a:t>on</a:t>
            </a:r>
            <a:r>
              <a:rPr sz="1800" b="0" spc="-35" dirty="0">
                <a:latin typeface="Tahoma"/>
                <a:cs typeface="Tahoma"/>
              </a:rPr>
              <a:t> </a:t>
            </a:r>
            <a:r>
              <a:rPr sz="1800" b="0" spc="55" dirty="0">
                <a:latin typeface="Tahoma"/>
                <a:cs typeface="Tahoma"/>
              </a:rPr>
              <a:t>screens</a:t>
            </a:r>
            <a:r>
              <a:rPr sz="1800" b="0" spc="-40" dirty="0">
                <a:latin typeface="Tahoma"/>
                <a:cs typeface="Tahoma"/>
              </a:rPr>
              <a:t> </a:t>
            </a:r>
            <a:r>
              <a:rPr sz="1800" b="0" spc="-10" dirty="0">
                <a:latin typeface="Tahoma"/>
                <a:cs typeface="Tahoma"/>
              </a:rPr>
              <a:t>daily.</a:t>
            </a:r>
            <a:endParaRPr sz="1800" dirty="0">
              <a:latin typeface="Tahoma"/>
              <a:cs typeface="Tahoma"/>
            </a:endParaRPr>
          </a:p>
          <a:p>
            <a:pPr marL="248285" marR="5080">
              <a:lnSpc>
                <a:spcPct val="137100"/>
              </a:lnSpc>
              <a:spcBef>
                <a:spcPts val="580"/>
              </a:spcBef>
            </a:pPr>
            <a:r>
              <a:rPr sz="1800" b="0" spc="-155" dirty="0">
                <a:latin typeface="Arial Black"/>
                <a:cs typeface="Arial Black"/>
              </a:rPr>
              <a:t>%</a:t>
            </a:r>
            <a:r>
              <a:rPr sz="1800" b="0" spc="-90" dirty="0">
                <a:latin typeface="Arial Black"/>
                <a:cs typeface="Arial Black"/>
              </a:rPr>
              <a:t> </a:t>
            </a:r>
            <a:r>
              <a:rPr sz="1800" b="0" spc="-40" dirty="0">
                <a:latin typeface="Arial Black"/>
                <a:cs typeface="Arial Black"/>
              </a:rPr>
              <a:t>of</a:t>
            </a:r>
            <a:r>
              <a:rPr sz="1800" b="0" spc="-90" dirty="0">
                <a:latin typeface="Arial Black"/>
                <a:cs typeface="Arial Black"/>
              </a:rPr>
              <a:t> </a:t>
            </a:r>
            <a:r>
              <a:rPr sz="1800" b="0" spc="-140" dirty="0">
                <a:latin typeface="Arial Black"/>
                <a:cs typeface="Arial Black"/>
              </a:rPr>
              <a:t>Kids</a:t>
            </a:r>
            <a:r>
              <a:rPr sz="1800" b="0" spc="-90" dirty="0">
                <a:latin typeface="Arial Black"/>
                <a:cs typeface="Arial Black"/>
              </a:rPr>
              <a:t> </a:t>
            </a:r>
            <a:r>
              <a:rPr sz="1800" b="0" spc="-135" dirty="0">
                <a:latin typeface="Arial Black"/>
                <a:cs typeface="Arial Black"/>
              </a:rPr>
              <a:t>Exceeding</a:t>
            </a:r>
            <a:r>
              <a:rPr sz="1800" b="0" spc="-90" dirty="0">
                <a:latin typeface="Arial Black"/>
                <a:cs typeface="Arial Black"/>
              </a:rPr>
              <a:t> </a:t>
            </a:r>
            <a:r>
              <a:rPr sz="1800" b="0" spc="-105" dirty="0">
                <a:latin typeface="Arial Black"/>
                <a:cs typeface="Arial Black"/>
              </a:rPr>
              <a:t>Recommended</a:t>
            </a:r>
            <a:r>
              <a:rPr sz="1800" b="0" spc="-90" dirty="0">
                <a:latin typeface="Arial Black"/>
                <a:cs typeface="Arial Black"/>
              </a:rPr>
              <a:t> </a:t>
            </a:r>
            <a:r>
              <a:rPr sz="1800" b="0" spc="-65" dirty="0">
                <a:latin typeface="Arial Black"/>
                <a:cs typeface="Arial Black"/>
              </a:rPr>
              <a:t>Limit:</a:t>
            </a:r>
            <a:r>
              <a:rPr sz="1800" b="0" spc="-85" dirty="0">
                <a:latin typeface="Arial Black"/>
                <a:cs typeface="Arial Black"/>
              </a:rPr>
              <a:t> </a:t>
            </a:r>
            <a:r>
              <a:rPr sz="1800" b="0" dirty="0">
                <a:latin typeface="Tahoma"/>
                <a:cs typeface="Tahoma"/>
              </a:rPr>
              <a:t>The</a:t>
            </a:r>
            <a:r>
              <a:rPr sz="1800" b="0" spc="-55" dirty="0">
                <a:latin typeface="Tahoma"/>
                <a:cs typeface="Tahoma"/>
              </a:rPr>
              <a:t> </a:t>
            </a:r>
            <a:r>
              <a:rPr sz="1800" b="0" spc="75" dirty="0">
                <a:latin typeface="Tahoma"/>
                <a:cs typeface="Tahoma"/>
              </a:rPr>
              <a:t>proportion</a:t>
            </a:r>
            <a:r>
              <a:rPr sz="1800" b="0" spc="-55" dirty="0">
                <a:latin typeface="Tahoma"/>
                <a:cs typeface="Tahoma"/>
              </a:rPr>
              <a:t> </a:t>
            </a:r>
            <a:r>
              <a:rPr sz="1800" b="0" spc="60" dirty="0">
                <a:latin typeface="Tahoma"/>
                <a:cs typeface="Tahoma"/>
              </a:rPr>
              <a:t>of</a:t>
            </a:r>
            <a:r>
              <a:rPr sz="1800" b="0" spc="-50" dirty="0">
                <a:latin typeface="Tahoma"/>
                <a:cs typeface="Tahoma"/>
              </a:rPr>
              <a:t> </a:t>
            </a:r>
            <a:r>
              <a:rPr sz="1800" b="0" spc="60" dirty="0">
                <a:latin typeface="Tahoma"/>
                <a:cs typeface="Tahoma"/>
              </a:rPr>
              <a:t>children</a:t>
            </a:r>
            <a:r>
              <a:rPr sz="1800" b="0" spc="-55" dirty="0">
                <a:latin typeface="Tahoma"/>
                <a:cs typeface="Tahoma"/>
              </a:rPr>
              <a:t> </a:t>
            </a:r>
            <a:r>
              <a:rPr sz="1800" b="0" spc="65" dirty="0">
                <a:latin typeface="Tahoma"/>
                <a:cs typeface="Tahoma"/>
              </a:rPr>
              <a:t>whose</a:t>
            </a:r>
            <a:r>
              <a:rPr sz="1800" b="0" spc="-55" dirty="0">
                <a:latin typeface="Tahoma"/>
                <a:cs typeface="Tahoma"/>
              </a:rPr>
              <a:t> </a:t>
            </a:r>
            <a:r>
              <a:rPr sz="1800" b="0" spc="55" dirty="0">
                <a:latin typeface="Tahoma"/>
                <a:cs typeface="Tahoma"/>
              </a:rPr>
              <a:t>screen</a:t>
            </a:r>
            <a:r>
              <a:rPr sz="1800" b="0" spc="-55" dirty="0">
                <a:latin typeface="Tahoma"/>
                <a:cs typeface="Tahoma"/>
              </a:rPr>
              <a:t> </a:t>
            </a:r>
            <a:r>
              <a:rPr sz="1800" b="0" spc="65" dirty="0">
                <a:latin typeface="Tahoma"/>
                <a:cs typeface="Tahoma"/>
              </a:rPr>
              <a:t>time</a:t>
            </a:r>
            <a:r>
              <a:rPr sz="1800" b="0" spc="-50" dirty="0">
                <a:latin typeface="Tahoma"/>
                <a:cs typeface="Tahoma"/>
              </a:rPr>
              <a:t> </a:t>
            </a:r>
            <a:r>
              <a:rPr sz="1800" b="0" spc="50" dirty="0">
                <a:latin typeface="Tahoma"/>
                <a:cs typeface="Tahoma"/>
              </a:rPr>
              <a:t>surpasses </a:t>
            </a:r>
            <a:r>
              <a:rPr sz="1800" b="0" spc="60" dirty="0">
                <a:latin typeface="Tahoma"/>
                <a:cs typeface="Tahoma"/>
              </a:rPr>
              <a:t>health</a:t>
            </a:r>
            <a:r>
              <a:rPr sz="1800" b="0" spc="-80" dirty="0">
                <a:latin typeface="Tahoma"/>
                <a:cs typeface="Tahoma"/>
              </a:rPr>
              <a:t> </a:t>
            </a:r>
            <a:r>
              <a:rPr sz="1800" b="0" spc="-10" dirty="0">
                <a:latin typeface="Tahoma"/>
                <a:cs typeface="Tahoma"/>
              </a:rPr>
              <a:t>guidelines.</a:t>
            </a:r>
            <a:endParaRPr sz="1800" dirty="0">
              <a:latin typeface="Tahoma"/>
              <a:cs typeface="Tahoma"/>
            </a:endParaRPr>
          </a:p>
          <a:p>
            <a:pPr marL="248285">
              <a:lnSpc>
                <a:spcPct val="100000"/>
              </a:lnSpc>
              <a:spcBef>
                <a:spcPts val="1285"/>
              </a:spcBef>
            </a:pPr>
            <a:r>
              <a:rPr sz="1800" b="0" spc="-125" dirty="0">
                <a:latin typeface="Arial Black"/>
                <a:cs typeface="Arial Black"/>
              </a:rPr>
              <a:t>Avg</a:t>
            </a:r>
            <a:r>
              <a:rPr sz="1800" b="0" spc="-70" dirty="0">
                <a:latin typeface="Arial Black"/>
                <a:cs typeface="Arial Black"/>
              </a:rPr>
              <a:t> </a:t>
            </a:r>
            <a:r>
              <a:rPr sz="1800" b="0" spc="-95" dirty="0">
                <a:latin typeface="Arial Black"/>
                <a:cs typeface="Arial Black"/>
              </a:rPr>
              <a:t>Educational</a:t>
            </a:r>
            <a:r>
              <a:rPr sz="1800" b="0" spc="-70" dirty="0">
                <a:latin typeface="Arial Black"/>
                <a:cs typeface="Arial Black"/>
              </a:rPr>
              <a:t> </a:t>
            </a:r>
            <a:r>
              <a:rPr sz="1800" b="0" spc="-90" dirty="0">
                <a:latin typeface="Arial Black"/>
                <a:cs typeface="Arial Black"/>
              </a:rPr>
              <a:t>Ratio:</a:t>
            </a:r>
            <a:r>
              <a:rPr sz="1800" b="0" spc="-70" dirty="0">
                <a:latin typeface="Arial Black"/>
                <a:cs typeface="Arial Black"/>
              </a:rPr>
              <a:t> </a:t>
            </a:r>
            <a:r>
              <a:rPr sz="1800" b="0" dirty="0">
                <a:latin typeface="Tahoma"/>
                <a:cs typeface="Tahoma"/>
              </a:rPr>
              <a:t>The</a:t>
            </a:r>
            <a:r>
              <a:rPr sz="1800" b="0" spc="-30" dirty="0">
                <a:latin typeface="Tahoma"/>
                <a:cs typeface="Tahoma"/>
              </a:rPr>
              <a:t> </a:t>
            </a:r>
            <a:r>
              <a:rPr sz="1800" b="0" dirty="0">
                <a:latin typeface="Tahoma"/>
                <a:cs typeface="Tahoma"/>
              </a:rPr>
              <a:t>average</a:t>
            </a:r>
            <a:r>
              <a:rPr sz="1800" b="0" spc="-30" dirty="0">
                <a:latin typeface="Tahoma"/>
                <a:cs typeface="Tahoma"/>
              </a:rPr>
              <a:t> </a:t>
            </a:r>
            <a:r>
              <a:rPr sz="1800" b="0" spc="55" dirty="0">
                <a:latin typeface="Tahoma"/>
                <a:cs typeface="Tahoma"/>
              </a:rPr>
              <a:t>balance</a:t>
            </a:r>
            <a:r>
              <a:rPr sz="1800" b="0" spc="-35" dirty="0">
                <a:latin typeface="Tahoma"/>
                <a:cs typeface="Tahoma"/>
              </a:rPr>
              <a:t> </a:t>
            </a:r>
            <a:r>
              <a:rPr sz="1800" b="0" spc="60" dirty="0">
                <a:latin typeface="Tahoma"/>
                <a:cs typeface="Tahoma"/>
              </a:rPr>
              <a:t>between</a:t>
            </a:r>
            <a:r>
              <a:rPr sz="1800" b="0" spc="-30" dirty="0">
                <a:latin typeface="Tahoma"/>
                <a:cs typeface="Tahoma"/>
              </a:rPr>
              <a:t> </a:t>
            </a:r>
            <a:r>
              <a:rPr sz="1800" b="0" spc="55" dirty="0">
                <a:latin typeface="Tahoma"/>
                <a:cs typeface="Tahoma"/>
              </a:rPr>
              <a:t>educational</a:t>
            </a:r>
            <a:r>
              <a:rPr sz="1800" b="0" spc="-35" dirty="0">
                <a:latin typeface="Tahoma"/>
                <a:cs typeface="Tahoma"/>
              </a:rPr>
              <a:t> </a:t>
            </a:r>
            <a:r>
              <a:rPr sz="1800" b="0" spc="70" dirty="0">
                <a:latin typeface="Tahoma"/>
                <a:cs typeface="Tahoma"/>
              </a:rPr>
              <a:t>and</a:t>
            </a:r>
            <a:r>
              <a:rPr sz="1800" b="0" spc="-30" dirty="0">
                <a:latin typeface="Tahoma"/>
                <a:cs typeface="Tahoma"/>
              </a:rPr>
              <a:t> </a:t>
            </a:r>
            <a:r>
              <a:rPr sz="1800" b="0" spc="55" dirty="0">
                <a:latin typeface="Tahoma"/>
                <a:cs typeface="Tahoma"/>
              </a:rPr>
              <a:t>recreational</a:t>
            </a:r>
            <a:r>
              <a:rPr sz="1800" b="0" spc="-35" dirty="0">
                <a:latin typeface="Tahoma"/>
                <a:cs typeface="Tahoma"/>
              </a:rPr>
              <a:t> </a:t>
            </a:r>
            <a:r>
              <a:rPr sz="1800" b="0" spc="55" dirty="0">
                <a:latin typeface="Tahoma"/>
                <a:cs typeface="Tahoma"/>
              </a:rPr>
              <a:t>screen</a:t>
            </a:r>
            <a:r>
              <a:rPr sz="1800" b="0" spc="-30" dirty="0">
                <a:latin typeface="Tahoma"/>
                <a:cs typeface="Tahoma"/>
              </a:rPr>
              <a:t> </a:t>
            </a:r>
            <a:r>
              <a:rPr sz="1800" b="0" spc="-10" dirty="0">
                <a:latin typeface="Tahoma"/>
                <a:cs typeface="Tahoma"/>
              </a:rPr>
              <a:t>usage.</a:t>
            </a:r>
            <a:endParaRPr sz="1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10" dirty="0"/>
              <a:t>Visuals</a:t>
            </a:r>
            <a:endParaRPr sz="1800" dirty="0"/>
          </a:p>
          <a:p>
            <a:pPr marL="248285">
              <a:lnSpc>
                <a:spcPct val="100000"/>
              </a:lnSpc>
              <a:spcBef>
                <a:spcPts val="1795"/>
              </a:spcBef>
            </a:pPr>
            <a:r>
              <a:rPr sz="1800" b="0" spc="-135" dirty="0">
                <a:latin typeface="Arial Black"/>
                <a:cs typeface="Arial Black"/>
              </a:rPr>
              <a:t>Screen</a:t>
            </a:r>
            <a:r>
              <a:rPr sz="1800" b="0" spc="-95" dirty="0">
                <a:latin typeface="Arial Black"/>
                <a:cs typeface="Arial Black"/>
              </a:rPr>
              <a:t> </a:t>
            </a:r>
            <a:r>
              <a:rPr sz="1800" b="0" spc="-110" dirty="0">
                <a:latin typeface="Arial Black"/>
                <a:cs typeface="Arial Black"/>
              </a:rPr>
              <a:t>Time</a:t>
            </a:r>
            <a:r>
              <a:rPr sz="1800" b="0" spc="-95" dirty="0">
                <a:latin typeface="Arial Black"/>
                <a:cs typeface="Arial Black"/>
              </a:rPr>
              <a:t> </a:t>
            </a:r>
            <a:r>
              <a:rPr sz="1800" b="0" spc="-55" dirty="0">
                <a:latin typeface="Arial Black"/>
                <a:cs typeface="Arial Black"/>
              </a:rPr>
              <a:t>Distribution:</a:t>
            </a:r>
            <a:r>
              <a:rPr sz="1800" b="0" spc="-90" dirty="0">
                <a:latin typeface="Arial Black"/>
                <a:cs typeface="Arial Black"/>
              </a:rPr>
              <a:t> </a:t>
            </a:r>
            <a:r>
              <a:rPr sz="1800" b="0" spc="55" dirty="0">
                <a:latin typeface="Tahoma"/>
                <a:cs typeface="Tahoma"/>
              </a:rPr>
              <a:t>A</a:t>
            </a:r>
            <a:r>
              <a:rPr sz="1800" b="0" spc="-60" dirty="0">
                <a:latin typeface="Tahoma"/>
                <a:cs typeface="Tahoma"/>
              </a:rPr>
              <a:t> </a:t>
            </a:r>
            <a:r>
              <a:rPr sz="1800" b="0" spc="60" dirty="0">
                <a:latin typeface="Tahoma"/>
                <a:cs typeface="Tahoma"/>
              </a:rPr>
              <a:t>histogram</a:t>
            </a:r>
            <a:r>
              <a:rPr sz="1800" b="0" spc="-55" dirty="0">
                <a:latin typeface="Tahoma"/>
                <a:cs typeface="Tahoma"/>
              </a:rPr>
              <a:t> </a:t>
            </a:r>
            <a:r>
              <a:rPr sz="1800" b="0" spc="45" dirty="0">
                <a:latin typeface="Tahoma"/>
                <a:cs typeface="Tahoma"/>
              </a:rPr>
              <a:t>illustrating</a:t>
            </a:r>
            <a:r>
              <a:rPr sz="1800" b="0" spc="-60" dirty="0">
                <a:latin typeface="Tahoma"/>
                <a:cs typeface="Tahoma"/>
              </a:rPr>
              <a:t> </a:t>
            </a:r>
            <a:r>
              <a:rPr sz="1800" b="0" spc="60" dirty="0">
                <a:latin typeface="Tahoma"/>
                <a:cs typeface="Tahoma"/>
              </a:rPr>
              <a:t>the</a:t>
            </a:r>
            <a:r>
              <a:rPr sz="1800" b="0" spc="-55" dirty="0">
                <a:latin typeface="Tahoma"/>
                <a:cs typeface="Tahoma"/>
              </a:rPr>
              <a:t> </a:t>
            </a:r>
            <a:r>
              <a:rPr sz="1800" b="0" spc="55" dirty="0">
                <a:latin typeface="Tahoma"/>
                <a:cs typeface="Tahoma"/>
              </a:rPr>
              <a:t>frequency</a:t>
            </a:r>
            <a:r>
              <a:rPr sz="1800" b="0" spc="-60" dirty="0">
                <a:latin typeface="Tahoma"/>
                <a:cs typeface="Tahoma"/>
              </a:rPr>
              <a:t> </a:t>
            </a:r>
            <a:r>
              <a:rPr sz="1800" b="0" spc="60" dirty="0">
                <a:latin typeface="Tahoma"/>
                <a:cs typeface="Tahoma"/>
              </a:rPr>
              <a:t>of</a:t>
            </a:r>
            <a:r>
              <a:rPr sz="1800" b="0" spc="-55" dirty="0">
                <a:latin typeface="Tahoma"/>
                <a:cs typeface="Tahoma"/>
              </a:rPr>
              <a:t> </a:t>
            </a:r>
            <a:r>
              <a:rPr sz="1800" b="0" spc="50" dirty="0">
                <a:latin typeface="Tahoma"/>
                <a:cs typeface="Tahoma"/>
              </a:rPr>
              <a:t>different</a:t>
            </a:r>
            <a:r>
              <a:rPr sz="1800" b="0" spc="-55" dirty="0">
                <a:latin typeface="Tahoma"/>
                <a:cs typeface="Tahoma"/>
              </a:rPr>
              <a:t> </a:t>
            </a:r>
            <a:r>
              <a:rPr sz="1800" b="0" spc="55" dirty="0">
                <a:latin typeface="Tahoma"/>
                <a:cs typeface="Tahoma"/>
              </a:rPr>
              <a:t>screen</a:t>
            </a:r>
            <a:r>
              <a:rPr sz="1800" b="0" spc="-60" dirty="0">
                <a:latin typeface="Tahoma"/>
                <a:cs typeface="Tahoma"/>
              </a:rPr>
              <a:t> </a:t>
            </a:r>
            <a:r>
              <a:rPr sz="1800" b="0" spc="65" dirty="0">
                <a:latin typeface="Tahoma"/>
                <a:cs typeface="Tahoma"/>
              </a:rPr>
              <a:t>time</a:t>
            </a:r>
            <a:r>
              <a:rPr sz="1800" b="0" spc="-55" dirty="0">
                <a:latin typeface="Tahoma"/>
                <a:cs typeface="Tahoma"/>
              </a:rPr>
              <a:t> </a:t>
            </a:r>
            <a:r>
              <a:rPr sz="1800" b="0" spc="40" dirty="0">
                <a:latin typeface="Tahoma"/>
                <a:cs typeface="Tahoma"/>
              </a:rPr>
              <a:t>durations.</a:t>
            </a:r>
            <a:endParaRPr sz="1800" dirty="0">
              <a:latin typeface="Tahoma"/>
              <a:cs typeface="Tahoma"/>
            </a:endParaRPr>
          </a:p>
          <a:p>
            <a:pPr marL="248285">
              <a:lnSpc>
                <a:spcPct val="100000"/>
              </a:lnSpc>
              <a:spcBef>
                <a:spcPts val="1265"/>
              </a:spcBef>
            </a:pPr>
            <a:r>
              <a:rPr sz="1800" b="0" spc="-135" dirty="0">
                <a:latin typeface="Arial Black"/>
                <a:cs typeface="Arial Black"/>
              </a:rPr>
              <a:t>Screen</a:t>
            </a:r>
            <a:r>
              <a:rPr sz="1800" b="0" spc="-85" dirty="0">
                <a:latin typeface="Arial Black"/>
                <a:cs typeface="Arial Black"/>
              </a:rPr>
              <a:t> </a:t>
            </a:r>
            <a:r>
              <a:rPr sz="1800" b="0" spc="-110" dirty="0">
                <a:latin typeface="Arial Black"/>
                <a:cs typeface="Arial Black"/>
              </a:rPr>
              <a:t>Time</a:t>
            </a:r>
            <a:r>
              <a:rPr sz="1800" b="0" spc="-80" dirty="0">
                <a:latin typeface="Arial Black"/>
                <a:cs typeface="Arial Black"/>
              </a:rPr>
              <a:t> </a:t>
            </a:r>
            <a:r>
              <a:rPr sz="1800" b="0" spc="-65" dirty="0">
                <a:latin typeface="Arial Black"/>
                <a:cs typeface="Arial Black"/>
              </a:rPr>
              <a:t>by</a:t>
            </a:r>
            <a:r>
              <a:rPr sz="1800" b="0" spc="-85" dirty="0">
                <a:latin typeface="Arial Black"/>
                <a:cs typeface="Arial Black"/>
              </a:rPr>
              <a:t> </a:t>
            </a:r>
            <a:r>
              <a:rPr sz="1800" b="0" spc="-145" dirty="0">
                <a:latin typeface="Arial Black"/>
                <a:cs typeface="Arial Black"/>
              </a:rPr>
              <a:t>Age</a:t>
            </a:r>
            <a:r>
              <a:rPr sz="1800" b="0" spc="-80" dirty="0">
                <a:latin typeface="Arial Black"/>
                <a:cs typeface="Arial Black"/>
              </a:rPr>
              <a:t> </a:t>
            </a:r>
            <a:r>
              <a:rPr sz="1800" b="0" spc="-90" dirty="0">
                <a:latin typeface="Arial Black"/>
                <a:cs typeface="Arial Black"/>
              </a:rPr>
              <a:t>Band:</a:t>
            </a:r>
            <a:r>
              <a:rPr sz="1800" b="0" spc="-80" dirty="0">
                <a:latin typeface="Arial Black"/>
                <a:cs typeface="Arial Black"/>
              </a:rPr>
              <a:t> </a:t>
            </a:r>
            <a:r>
              <a:rPr sz="1800" b="0" spc="55" dirty="0">
                <a:latin typeface="Tahoma"/>
                <a:cs typeface="Tahoma"/>
              </a:rPr>
              <a:t>A</a:t>
            </a:r>
            <a:r>
              <a:rPr sz="1800" b="0" spc="-45" dirty="0">
                <a:latin typeface="Tahoma"/>
                <a:cs typeface="Tahoma"/>
              </a:rPr>
              <a:t> </a:t>
            </a:r>
            <a:r>
              <a:rPr sz="1800" b="0" spc="65" dirty="0">
                <a:latin typeface="Tahoma"/>
                <a:cs typeface="Tahoma"/>
              </a:rPr>
              <a:t>bar</a:t>
            </a:r>
            <a:r>
              <a:rPr sz="1800" b="0" spc="-45" dirty="0">
                <a:latin typeface="Tahoma"/>
                <a:cs typeface="Tahoma"/>
              </a:rPr>
              <a:t> </a:t>
            </a:r>
            <a:r>
              <a:rPr sz="1800" b="0" spc="50" dirty="0">
                <a:latin typeface="Tahoma"/>
                <a:cs typeface="Tahoma"/>
              </a:rPr>
              <a:t>chart</a:t>
            </a:r>
            <a:r>
              <a:rPr sz="1800" b="0" spc="-50" dirty="0">
                <a:latin typeface="Tahoma"/>
                <a:cs typeface="Tahoma"/>
              </a:rPr>
              <a:t> </a:t>
            </a:r>
            <a:r>
              <a:rPr sz="1800" b="0" spc="45" dirty="0">
                <a:latin typeface="Tahoma"/>
                <a:cs typeface="Tahoma"/>
              </a:rPr>
              <a:t>breaking</a:t>
            </a:r>
            <a:r>
              <a:rPr sz="1800" b="0" spc="-45" dirty="0">
                <a:latin typeface="Tahoma"/>
                <a:cs typeface="Tahoma"/>
              </a:rPr>
              <a:t> </a:t>
            </a:r>
            <a:r>
              <a:rPr sz="1800" b="0" spc="80" dirty="0">
                <a:latin typeface="Tahoma"/>
                <a:cs typeface="Tahoma"/>
              </a:rPr>
              <a:t>down</a:t>
            </a:r>
            <a:r>
              <a:rPr sz="1800" b="0" spc="-45" dirty="0">
                <a:latin typeface="Tahoma"/>
                <a:cs typeface="Tahoma"/>
              </a:rPr>
              <a:t> </a:t>
            </a:r>
            <a:r>
              <a:rPr sz="1800" b="0" dirty="0">
                <a:latin typeface="Tahoma"/>
                <a:cs typeface="Tahoma"/>
              </a:rPr>
              <a:t>usage</a:t>
            </a:r>
            <a:r>
              <a:rPr sz="1800" b="0" spc="-50" dirty="0">
                <a:latin typeface="Tahoma"/>
                <a:cs typeface="Tahoma"/>
              </a:rPr>
              <a:t> </a:t>
            </a:r>
            <a:r>
              <a:rPr sz="1800" b="0" spc="55" dirty="0">
                <a:latin typeface="Tahoma"/>
                <a:cs typeface="Tahoma"/>
              </a:rPr>
              <a:t>across</a:t>
            </a:r>
            <a:r>
              <a:rPr sz="1800" b="0" spc="-45" dirty="0">
                <a:latin typeface="Tahoma"/>
                <a:cs typeface="Tahoma"/>
              </a:rPr>
              <a:t> </a:t>
            </a:r>
            <a:r>
              <a:rPr sz="1800" b="0" spc="55" dirty="0">
                <a:latin typeface="Tahoma"/>
                <a:cs typeface="Tahoma"/>
              </a:rPr>
              <a:t>various</a:t>
            </a:r>
            <a:r>
              <a:rPr sz="1800" b="0" spc="-45" dirty="0">
                <a:latin typeface="Tahoma"/>
                <a:cs typeface="Tahoma"/>
              </a:rPr>
              <a:t> </a:t>
            </a:r>
            <a:r>
              <a:rPr sz="1800" b="0" dirty="0">
                <a:latin typeface="Tahoma"/>
                <a:cs typeface="Tahoma"/>
              </a:rPr>
              <a:t>age</a:t>
            </a:r>
            <a:r>
              <a:rPr sz="1800" b="0" spc="-50" dirty="0">
                <a:latin typeface="Tahoma"/>
                <a:cs typeface="Tahoma"/>
              </a:rPr>
              <a:t> </a:t>
            </a:r>
            <a:r>
              <a:rPr sz="1800" b="0" spc="-10" dirty="0">
                <a:latin typeface="Tahoma"/>
                <a:cs typeface="Tahoma"/>
              </a:rPr>
              <a:t>groups.</a:t>
            </a:r>
            <a:endParaRPr sz="1800" dirty="0">
              <a:latin typeface="Tahoma"/>
              <a:cs typeface="Tahoma"/>
            </a:endParaRPr>
          </a:p>
          <a:p>
            <a:pPr marL="248285" marR="121920">
              <a:lnSpc>
                <a:spcPct val="137100"/>
              </a:lnSpc>
              <a:spcBef>
                <a:spcPts val="580"/>
              </a:spcBef>
            </a:pPr>
            <a:r>
              <a:rPr sz="1800" b="0" spc="-135" dirty="0">
                <a:latin typeface="Arial Black"/>
                <a:cs typeface="Arial Black"/>
              </a:rPr>
              <a:t>Screen</a:t>
            </a:r>
            <a:r>
              <a:rPr sz="1800" b="0" spc="-80" dirty="0">
                <a:latin typeface="Arial Black"/>
                <a:cs typeface="Arial Black"/>
              </a:rPr>
              <a:t> </a:t>
            </a:r>
            <a:r>
              <a:rPr sz="1800" b="0" spc="-110" dirty="0">
                <a:latin typeface="Arial Black"/>
                <a:cs typeface="Arial Black"/>
              </a:rPr>
              <a:t>Time</a:t>
            </a:r>
            <a:r>
              <a:rPr sz="1800" b="0" spc="-80" dirty="0">
                <a:latin typeface="Arial Black"/>
                <a:cs typeface="Arial Black"/>
              </a:rPr>
              <a:t> </a:t>
            </a:r>
            <a:r>
              <a:rPr sz="1800" b="0" spc="-65" dirty="0">
                <a:latin typeface="Arial Black"/>
                <a:cs typeface="Arial Black"/>
              </a:rPr>
              <a:t>by</a:t>
            </a:r>
            <a:r>
              <a:rPr sz="1800" b="0" spc="-80" dirty="0">
                <a:latin typeface="Arial Black"/>
                <a:cs typeface="Arial Black"/>
              </a:rPr>
              <a:t> </a:t>
            </a:r>
            <a:r>
              <a:rPr sz="1800" b="0" spc="-90" dirty="0">
                <a:latin typeface="Arial Black"/>
                <a:cs typeface="Arial Black"/>
              </a:rPr>
              <a:t>Gender</a:t>
            </a:r>
            <a:r>
              <a:rPr sz="1800" b="0" spc="-80" dirty="0">
                <a:latin typeface="Arial Black"/>
                <a:cs typeface="Arial Black"/>
              </a:rPr>
              <a:t> </a:t>
            </a:r>
            <a:r>
              <a:rPr sz="1800" b="0" spc="-215" dirty="0">
                <a:latin typeface="Arial Black"/>
                <a:cs typeface="Arial Black"/>
              </a:rPr>
              <a:t>&amp;</a:t>
            </a:r>
            <a:r>
              <a:rPr sz="1800" b="0" spc="-80" dirty="0">
                <a:latin typeface="Arial Black"/>
                <a:cs typeface="Arial Black"/>
              </a:rPr>
              <a:t> </a:t>
            </a:r>
            <a:r>
              <a:rPr sz="1800" b="0" spc="-95" dirty="0">
                <a:latin typeface="Arial Black"/>
                <a:cs typeface="Arial Black"/>
              </a:rPr>
              <a:t>Location:</a:t>
            </a:r>
            <a:r>
              <a:rPr sz="1800" b="0" spc="-80" dirty="0">
                <a:latin typeface="Arial Black"/>
                <a:cs typeface="Arial Black"/>
              </a:rPr>
              <a:t> </a:t>
            </a:r>
            <a:r>
              <a:rPr sz="1800" b="0" spc="50" dirty="0">
                <a:latin typeface="Tahoma"/>
                <a:cs typeface="Tahoma"/>
              </a:rPr>
              <a:t>Visualisations</a:t>
            </a:r>
            <a:r>
              <a:rPr sz="1800" b="0" spc="-40" dirty="0">
                <a:latin typeface="Tahoma"/>
                <a:cs typeface="Tahoma"/>
              </a:rPr>
              <a:t> </a:t>
            </a:r>
            <a:r>
              <a:rPr sz="1800" b="0" spc="60" dirty="0">
                <a:latin typeface="Tahoma"/>
                <a:cs typeface="Tahoma"/>
              </a:rPr>
              <a:t>comparing</a:t>
            </a:r>
            <a:r>
              <a:rPr sz="1800" b="0" spc="-45" dirty="0">
                <a:latin typeface="Tahoma"/>
                <a:cs typeface="Tahoma"/>
              </a:rPr>
              <a:t> </a:t>
            </a:r>
            <a:r>
              <a:rPr sz="1800" b="0" dirty="0">
                <a:latin typeface="Tahoma"/>
                <a:cs typeface="Tahoma"/>
              </a:rPr>
              <a:t>usage</a:t>
            </a:r>
            <a:r>
              <a:rPr sz="1800" b="0" spc="-45" dirty="0">
                <a:latin typeface="Tahoma"/>
                <a:cs typeface="Tahoma"/>
              </a:rPr>
              <a:t> </a:t>
            </a:r>
            <a:r>
              <a:rPr sz="1800" b="0" spc="55" dirty="0">
                <a:latin typeface="Tahoma"/>
                <a:cs typeface="Tahoma"/>
              </a:rPr>
              <a:t>patterns</a:t>
            </a:r>
            <a:r>
              <a:rPr sz="1800" b="0" spc="-40" dirty="0">
                <a:latin typeface="Tahoma"/>
                <a:cs typeface="Tahoma"/>
              </a:rPr>
              <a:t> </a:t>
            </a:r>
            <a:r>
              <a:rPr sz="1800" b="0" spc="60" dirty="0">
                <a:latin typeface="Tahoma"/>
                <a:cs typeface="Tahoma"/>
              </a:rPr>
              <a:t>based</a:t>
            </a:r>
            <a:r>
              <a:rPr sz="1800" b="0" spc="-45" dirty="0">
                <a:latin typeface="Tahoma"/>
                <a:cs typeface="Tahoma"/>
              </a:rPr>
              <a:t> </a:t>
            </a:r>
            <a:r>
              <a:rPr sz="1800" b="0" spc="95" dirty="0">
                <a:latin typeface="Tahoma"/>
                <a:cs typeface="Tahoma"/>
              </a:rPr>
              <a:t>on</a:t>
            </a:r>
            <a:r>
              <a:rPr sz="1800" b="0" spc="-45" dirty="0">
                <a:latin typeface="Tahoma"/>
                <a:cs typeface="Tahoma"/>
              </a:rPr>
              <a:t> </a:t>
            </a:r>
            <a:r>
              <a:rPr sz="1800" b="0" spc="50" dirty="0">
                <a:latin typeface="Tahoma"/>
                <a:cs typeface="Tahoma"/>
              </a:rPr>
              <a:t>gender</a:t>
            </a:r>
            <a:r>
              <a:rPr sz="1800" b="0" spc="-40" dirty="0">
                <a:latin typeface="Tahoma"/>
                <a:cs typeface="Tahoma"/>
              </a:rPr>
              <a:t> </a:t>
            </a:r>
            <a:r>
              <a:rPr sz="1800" b="0" spc="45" dirty="0">
                <a:latin typeface="Tahoma"/>
                <a:cs typeface="Tahoma"/>
              </a:rPr>
              <a:t>and </a:t>
            </a:r>
            <a:r>
              <a:rPr sz="1800" b="0" spc="60" dirty="0">
                <a:latin typeface="Tahoma"/>
                <a:cs typeface="Tahoma"/>
              </a:rPr>
              <a:t>whether</a:t>
            </a:r>
            <a:r>
              <a:rPr sz="1800" b="0" spc="-70" dirty="0">
                <a:latin typeface="Tahoma"/>
                <a:cs typeface="Tahoma"/>
              </a:rPr>
              <a:t> </a:t>
            </a:r>
            <a:r>
              <a:rPr sz="1800" b="0" spc="60" dirty="0">
                <a:latin typeface="Tahoma"/>
                <a:cs typeface="Tahoma"/>
              </a:rPr>
              <a:t>children</a:t>
            </a:r>
            <a:r>
              <a:rPr sz="1800" b="0" spc="-70" dirty="0">
                <a:latin typeface="Tahoma"/>
                <a:cs typeface="Tahoma"/>
              </a:rPr>
              <a:t> </a:t>
            </a:r>
            <a:r>
              <a:rPr sz="1800" b="0" spc="55" dirty="0">
                <a:latin typeface="Tahoma"/>
                <a:cs typeface="Tahoma"/>
              </a:rPr>
              <a:t>are</a:t>
            </a:r>
            <a:r>
              <a:rPr sz="1800" b="0" spc="-65" dirty="0">
                <a:latin typeface="Tahoma"/>
                <a:cs typeface="Tahoma"/>
              </a:rPr>
              <a:t> </a:t>
            </a:r>
            <a:r>
              <a:rPr sz="1800" b="0" spc="65" dirty="0">
                <a:latin typeface="Tahoma"/>
                <a:cs typeface="Tahoma"/>
              </a:rPr>
              <a:t>in</a:t>
            </a:r>
            <a:r>
              <a:rPr sz="1800" b="0" spc="-70" dirty="0">
                <a:latin typeface="Tahoma"/>
                <a:cs typeface="Tahoma"/>
              </a:rPr>
              <a:t> </a:t>
            </a:r>
            <a:r>
              <a:rPr sz="1800" b="0" spc="75" dirty="0">
                <a:latin typeface="Tahoma"/>
                <a:cs typeface="Tahoma"/>
              </a:rPr>
              <a:t>urban</a:t>
            </a:r>
            <a:r>
              <a:rPr sz="1800" b="0" spc="-65" dirty="0">
                <a:latin typeface="Tahoma"/>
                <a:cs typeface="Tahoma"/>
              </a:rPr>
              <a:t> </a:t>
            </a:r>
            <a:r>
              <a:rPr sz="1800" b="0" spc="80" dirty="0">
                <a:latin typeface="Tahoma"/>
                <a:cs typeface="Tahoma"/>
              </a:rPr>
              <a:t>or</a:t>
            </a:r>
            <a:r>
              <a:rPr sz="1800" b="0" spc="-70" dirty="0">
                <a:latin typeface="Tahoma"/>
                <a:cs typeface="Tahoma"/>
              </a:rPr>
              <a:t> </a:t>
            </a:r>
            <a:r>
              <a:rPr sz="1800" b="0" spc="60" dirty="0">
                <a:latin typeface="Tahoma"/>
                <a:cs typeface="Tahoma"/>
              </a:rPr>
              <a:t>rural</a:t>
            </a:r>
            <a:r>
              <a:rPr sz="1800" b="0" spc="-70" dirty="0">
                <a:latin typeface="Tahoma"/>
                <a:cs typeface="Tahoma"/>
              </a:rPr>
              <a:t> </a:t>
            </a:r>
            <a:r>
              <a:rPr sz="1800" b="0" spc="-10" dirty="0">
                <a:latin typeface="Tahoma"/>
                <a:cs typeface="Tahoma"/>
              </a:rPr>
              <a:t>areas.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0483" y="8404252"/>
            <a:ext cx="13822044" cy="8483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b="1" spc="120" dirty="0">
                <a:solidFill>
                  <a:srgbClr val="403C4E"/>
                </a:solidFill>
                <a:latin typeface="Book Antiqua"/>
                <a:cs typeface="Book Antiqua"/>
              </a:rPr>
              <a:t>Purpose</a:t>
            </a:r>
            <a:endParaRPr sz="235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764"/>
              </a:spcBef>
            </a:pPr>
            <a:r>
              <a:rPr sz="1550" spc="10" dirty="0">
                <a:solidFill>
                  <a:srgbClr val="403C4E"/>
                </a:solidFill>
                <a:latin typeface="Tahoma"/>
                <a:cs typeface="Tahoma"/>
              </a:rPr>
              <a:t>This</a:t>
            </a:r>
            <a:r>
              <a:rPr sz="1550" spc="-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550" spc="10" dirty="0">
                <a:solidFill>
                  <a:srgbClr val="403C4E"/>
                </a:solidFill>
                <a:latin typeface="Tahoma"/>
                <a:cs typeface="Tahoma"/>
              </a:rPr>
              <a:t>page</a:t>
            </a:r>
            <a:r>
              <a:rPr sz="1550" spc="-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550" spc="55" dirty="0">
                <a:solidFill>
                  <a:srgbClr val="403C4E"/>
                </a:solidFill>
                <a:latin typeface="Tahoma"/>
                <a:cs typeface="Tahoma"/>
              </a:rPr>
              <a:t>provides</a:t>
            </a:r>
            <a:r>
              <a:rPr sz="1550" spc="-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550" spc="10" dirty="0">
                <a:solidFill>
                  <a:srgbClr val="403C4E"/>
                </a:solidFill>
                <a:latin typeface="Tahoma"/>
                <a:cs typeface="Tahoma"/>
              </a:rPr>
              <a:t>a</a:t>
            </a:r>
            <a:r>
              <a:rPr sz="1550" spc="-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550" spc="10" dirty="0">
                <a:solidFill>
                  <a:srgbClr val="403C4E"/>
                </a:solidFill>
                <a:latin typeface="Tahoma"/>
                <a:cs typeface="Tahoma"/>
              </a:rPr>
              <a:t>high-level,</a:t>
            </a:r>
            <a:r>
              <a:rPr sz="1550" spc="-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550" spc="70" dirty="0">
                <a:solidFill>
                  <a:srgbClr val="403C4E"/>
                </a:solidFill>
                <a:latin typeface="Tahoma"/>
                <a:cs typeface="Tahoma"/>
              </a:rPr>
              <a:t>immediate</a:t>
            </a:r>
            <a:r>
              <a:rPr sz="1550" spc="-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550" spc="65" dirty="0">
                <a:solidFill>
                  <a:srgbClr val="403C4E"/>
                </a:solidFill>
                <a:latin typeface="Tahoma"/>
                <a:cs typeface="Tahoma"/>
              </a:rPr>
              <a:t>snapshot</a:t>
            </a:r>
            <a:r>
              <a:rPr sz="1550" spc="-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550" spc="60" dirty="0">
                <a:solidFill>
                  <a:srgbClr val="403C4E"/>
                </a:solidFill>
                <a:latin typeface="Tahoma"/>
                <a:cs typeface="Tahoma"/>
              </a:rPr>
              <a:t>of</a:t>
            </a:r>
            <a:r>
              <a:rPr sz="1550" spc="-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550" spc="10" dirty="0">
                <a:solidFill>
                  <a:srgbClr val="403C4E"/>
                </a:solidFill>
                <a:latin typeface="Tahoma"/>
                <a:cs typeface="Tahoma"/>
              </a:rPr>
              <a:t>screen-</a:t>
            </a:r>
            <a:r>
              <a:rPr sz="1550" spc="65" dirty="0">
                <a:solidFill>
                  <a:srgbClr val="403C4E"/>
                </a:solidFill>
                <a:latin typeface="Tahoma"/>
                <a:cs typeface="Tahoma"/>
              </a:rPr>
              <a:t>time</a:t>
            </a:r>
            <a:r>
              <a:rPr sz="1550" spc="-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550" spc="10" dirty="0">
                <a:solidFill>
                  <a:srgbClr val="403C4E"/>
                </a:solidFill>
                <a:latin typeface="Tahoma"/>
                <a:cs typeface="Tahoma"/>
              </a:rPr>
              <a:t>severity</a:t>
            </a:r>
            <a:r>
              <a:rPr sz="1550" spc="-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550" spc="7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z="1550" spc="-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550" spc="60" dirty="0">
                <a:solidFill>
                  <a:srgbClr val="403C4E"/>
                </a:solidFill>
                <a:latin typeface="Tahoma"/>
                <a:cs typeface="Tahoma"/>
              </a:rPr>
              <a:t>demographic</a:t>
            </a:r>
            <a:r>
              <a:rPr sz="1550" spc="-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550" spc="10" dirty="0">
                <a:solidFill>
                  <a:srgbClr val="403C4E"/>
                </a:solidFill>
                <a:latin typeface="Tahoma"/>
                <a:cs typeface="Tahoma"/>
              </a:rPr>
              <a:t>variations,</a:t>
            </a:r>
            <a:r>
              <a:rPr sz="1550" spc="-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550" spc="45" dirty="0">
                <a:solidFill>
                  <a:srgbClr val="403C4E"/>
                </a:solidFill>
                <a:latin typeface="Tahoma"/>
                <a:cs typeface="Tahoma"/>
              </a:rPr>
              <a:t>allowing</a:t>
            </a:r>
            <a:r>
              <a:rPr sz="1550" spc="-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550" spc="65" dirty="0">
                <a:solidFill>
                  <a:srgbClr val="403C4E"/>
                </a:solidFill>
                <a:latin typeface="Tahoma"/>
                <a:cs typeface="Tahoma"/>
              </a:rPr>
              <a:t>for</a:t>
            </a:r>
            <a:r>
              <a:rPr sz="1550" spc="-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550" spc="55" dirty="0">
                <a:solidFill>
                  <a:srgbClr val="403C4E"/>
                </a:solidFill>
                <a:latin typeface="Tahoma"/>
                <a:cs typeface="Tahoma"/>
              </a:rPr>
              <a:t>quick</a:t>
            </a:r>
            <a:r>
              <a:rPr sz="1550" spc="-1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550" spc="60" dirty="0">
                <a:solidFill>
                  <a:srgbClr val="403C4E"/>
                </a:solidFill>
                <a:latin typeface="Tahoma"/>
                <a:cs typeface="Tahoma"/>
              </a:rPr>
              <a:t>assessment</a:t>
            </a:r>
            <a:r>
              <a:rPr sz="1550" spc="-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550" spc="60" dirty="0">
                <a:solidFill>
                  <a:srgbClr val="403C4E"/>
                </a:solidFill>
                <a:latin typeface="Tahoma"/>
                <a:cs typeface="Tahoma"/>
              </a:rPr>
              <a:t>of</a:t>
            </a:r>
            <a:r>
              <a:rPr sz="1550" spc="-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550" spc="10" dirty="0">
                <a:solidFill>
                  <a:srgbClr val="403C4E"/>
                </a:solidFill>
                <a:latin typeface="Tahoma"/>
                <a:cs typeface="Tahoma"/>
              </a:rPr>
              <a:t>key</a:t>
            </a:r>
            <a:r>
              <a:rPr sz="1550" spc="-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z="1550" spc="-10" dirty="0">
                <a:solidFill>
                  <a:srgbClr val="403C4E"/>
                </a:solidFill>
                <a:latin typeface="Tahoma"/>
                <a:cs typeface="Tahoma"/>
              </a:rPr>
              <a:t>trends.</a:t>
            </a:r>
            <a:endParaRPr sz="1550" dirty="0">
              <a:latin typeface="Tahoma"/>
              <a:cs typeface="Tahoma"/>
            </a:endParaRP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E3F301-F4F8-0F39-7EA7-8D1A03741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001" y="1476374"/>
            <a:ext cx="8008323" cy="74009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Power</a:t>
            </a:r>
            <a:r>
              <a:rPr spc="-25" dirty="0"/>
              <a:t> </a:t>
            </a:r>
            <a:r>
              <a:rPr spc="70" dirty="0"/>
              <a:t>BI</a:t>
            </a:r>
            <a:r>
              <a:rPr spc="-25" dirty="0"/>
              <a:t> </a:t>
            </a:r>
            <a:r>
              <a:rPr spc="114" dirty="0"/>
              <a:t>Dashboard:</a:t>
            </a:r>
            <a:r>
              <a:rPr spc="-25" dirty="0"/>
              <a:t> </a:t>
            </a:r>
            <a:r>
              <a:rPr spc="160" dirty="0"/>
              <a:t>Pages</a:t>
            </a:r>
            <a:r>
              <a:rPr spc="-20" dirty="0"/>
              <a:t> </a:t>
            </a:r>
            <a:r>
              <a:rPr spc="285" dirty="0"/>
              <a:t>2</a:t>
            </a:r>
            <a:r>
              <a:rPr spc="-25" dirty="0"/>
              <a:t> </a:t>
            </a:r>
            <a:r>
              <a:rPr spc="-215" dirty="0"/>
              <a:t>&amp;</a:t>
            </a:r>
            <a:r>
              <a:rPr spc="-25" dirty="0"/>
              <a:t> </a:t>
            </a:r>
            <a:r>
              <a:rPr spc="175" dirty="0"/>
              <a:t>3</a:t>
            </a:r>
            <a:r>
              <a:rPr spc="-20" dirty="0"/>
              <a:t> </a:t>
            </a:r>
            <a:r>
              <a:rPr spc="819" dirty="0"/>
              <a:t>-</a:t>
            </a:r>
            <a:r>
              <a:rPr spc="-25" dirty="0"/>
              <a:t> </a:t>
            </a:r>
            <a:r>
              <a:rPr dirty="0"/>
              <a:t>Deep</a:t>
            </a:r>
            <a:r>
              <a:rPr spc="-25" dirty="0"/>
              <a:t> </a:t>
            </a:r>
            <a:r>
              <a:rPr dirty="0"/>
              <a:t>Dive</a:t>
            </a:r>
            <a:r>
              <a:rPr spc="-20" dirty="0"/>
              <a:t> </a:t>
            </a:r>
            <a:r>
              <a:rPr spc="150" dirty="0"/>
              <a:t>into</a:t>
            </a:r>
            <a:r>
              <a:rPr spc="-25" dirty="0"/>
              <a:t> </a:t>
            </a:r>
            <a:r>
              <a:rPr spc="165" dirty="0"/>
              <a:t>Patterns</a:t>
            </a:r>
          </a:p>
        </p:txBody>
      </p:sp>
      <p:sp>
        <p:nvSpPr>
          <p:cNvPr id="3" name="object 3"/>
          <p:cNvSpPr/>
          <p:nvPr/>
        </p:nvSpPr>
        <p:spPr>
          <a:xfrm>
            <a:off x="505867" y="16510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5867" y="192737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5867" y="220374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5867" y="248012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3642" y="1161518"/>
            <a:ext cx="7306309" cy="381681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95" dirty="0">
                <a:solidFill>
                  <a:srgbClr val="403C4E"/>
                </a:solidFill>
                <a:latin typeface="Book Antiqua"/>
                <a:cs typeface="Book Antiqua"/>
              </a:rPr>
              <a:t>Page </a:t>
            </a:r>
            <a:r>
              <a:rPr b="1" spc="160" dirty="0">
                <a:solidFill>
                  <a:srgbClr val="403C4E"/>
                </a:solidFill>
                <a:latin typeface="Book Antiqua"/>
                <a:cs typeface="Book Antiqua"/>
              </a:rPr>
              <a:t>2:</a:t>
            </a:r>
            <a:r>
              <a:rPr b="1" spc="100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dirty="0">
                <a:solidFill>
                  <a:srgbClr val="403C4E"/>
                </a:solidFill>
                <a:latin typeface="Book Antiqua"/>
                <a:cs typeface="Book Antiqua"/>
              </a:rPr>
              <a:t>Device</a:t>
            </a:r>
            <a:r>
              <a:rPr b="1" spc="100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-110" dirty="0">
                <a:solidFill>
                  <a:srgbClr val="403C4E"/>
                </a:solidFill>
                <a:latin typeface="Book Antiqua"/>
                <a:cs typeface="Book Antiqua"/>
              </a:rPr>
              <a:t>&amp;</a:t>
            </a:r>
            <a:r>
              <a:rPr b="1" spc="100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dirty="0">
                <a:solidFill>
                  <a:srgbClr val="403C4E"/>
                </a:solidFill>
                <a:latin typeface="Book Antiqua"/>
                <a:cs typeface="Book Antiqua"/>
              </a:rPr>
              <a:t>Activity</a:t>
            </a:r>
            <a:r>
              <a:rPr b="1" spc="100" dirty="0">
                <a:solidFill>
                  <a:srgbClr val="403C4E"/>
                </a:solidFill>
                <a:latin typeface="Book Antiqua"/>
                <a:cs typeface="Book Antiqua"/>
              </a:rPr>
              <a:t> Patterns</a:t>
            </a:r>
            <a:endParaRPr dirty="0">
              <a:latin typeface="Book Antiqua"/>
              <a:cs typeface="Book Antiqua"/>
            </a:endParaRPr>
          </a:p>
          <a:p>
            <a:pPr marL="172720">
              <a:lnSpc>
                <a:spcPct val="100000"/>
              </a:lnSpc>
              <a:spcBef>
                <a:spcPts val="1285"/>
              </a:spcBef>
            </a:pPr>
            <a:r>
              <a:rPr spc="-75" dirty="0">
                <a:solidFill>
                  <a:srgbClr val="403C4E"/>
                </a:solidFill>
                <a:latin typeface="Arial Black"/>
                <a:cs typeface="Arial Black"/>
              </a:rPr>
              <a:t>Device</a:t>
            </a:r>
            <a:r>
              <a:rPr spc="4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95" dirty="0">
                <a:solidFill>
                  <a:srgbClr val="403C4E"/>
                </a:solidFill>
                <a:latin typeface="Arial Black"/>
                <a:cs typeface="Arial Black"/>
              </a:rPr>
              <a:t>Usage</a:t>
            </a:r>
            <a:r>
              <a:rPr spc="4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45" dirty="0">
                <a:solidFill>
                  <a:srgbClr val="403C4E"/>
                </a:solidFill>
                <a:latin typeface="Arial Black"/>
                <a:cs typeface="Arial Black"/>
              </a:rPr>
              <a:t>by</a:t>
            </a:r>
            <a:r>
              <a:rPr spc="4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65" dirty="0">
                <a:solidFill>
                  <a:srgbClr val="403C4E"/>
                </a:solidFill>
                <a:latin typeface="Arial Black"/>
                <a:cs typeface="Arial Black"/>
              </a:rPr>
              <a:t>Location:</a:t>
            </a:r>
            <a:r>
              <a:rPr spc="4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stacked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bar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chart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showing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which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devices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are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popular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in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urban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versus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rural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settings.</a:t>
            </a:r>
            <a:endParaRPr dirty="0">
              <a:latin typeface="Tahoma"/>
              <a:cs typeface="Tahoma"/>
            </a:endParaRPr>
          </a:p>
          <a:p>
            <a:pPr marL="172720" marR="798830">
              <a:lnSpc>
                <a:spcPct val="172700"/>
              </a:lnSpc>
            </a:pPr>
            <a:r>
              <a:rPr spc="-85" dirty="0">
                <a:solidFill>
                  <a:srgbClr val="403C4E"/>
                </a:solidFill>
                <a:latin typeface="Arial Black"/>
                <a:cs typeface="Arial Black"/>
              </a:rPr>
              <a:t>Top</a:t>
            </a:r>
            <a:r>
              <a:rPr spc="2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60" dirty="0">
                <a:solidFill>
                  <a:srgbClr val="403C4E"/>
                </a:solidFill>
                <a:latin typeface="Arial Black"/>
                <a:cs typeface="Arial Black"/>
              </a:rPr>
              <a:t>Cohorts</a:t>
            </a:r>
            <a:r>
              <a:rPr spc="4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55" dirty="0">
                <a:solidFill>
                  <a:srgbClr val="403C4E"/>
                </a:solidFill>
                <a:latin typeface="Arial Black"/>
                <a:cs typeface="Arial Black"/>
              </a:rPr>
              <a:t>Heatmap:</a:t>
            </a:r>
            <a:r>
              <a:rPr spc="4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Visualising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high-impact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segments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based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 on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age,</a:t>
            </a:r>
            <a:r>
              <a:rPr spc="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device,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location. </a:t>
            </a:r>
            <a:r>
              <a:rPr spc="-65" dirty="0">
                <a:solidFill>
                  <a:srgbClr val="403C4E"/>
                </a:solidFill>
                <a:latin typeface="Arial Black"/>
                <a:cs typeface="Arial Black"/>
              </a:rPr>
              <a:t>Educational</a:t>
            </a:r>
            <a:r>
              <a:rPr spc="2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75" dirty="0">
                <a:solidFill>
                  <a:srgbClr val="403C4E"/>
                </a:solidFill>
                <a:latin typeface="Arial Black"/>
                <a:cs typeface="Arial Black"/>
              </a:rPr>
              <a:t>vs.</a:t>
            </a:r>
            <a:r>
              <a:rPr spc="3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65" dirty="0">
                <a:solidFill>
                  <a:srgbClr val="403C4E"/>
                </a:solidFill>
                <a:latin typeface="Arial Black"/>
                <a:cs typeface="Arial Black"/>
              </a:rPr>
              <a:t>Recreational</a:t>
            </a:r>
            <a:r>
              <a:rPr spc="2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60" dirty="0">
                <a:solidFill>
                  <a:srgbClr val="403C4E"/>
                </a:solidFill>
                <a:latin typeface="Arial Black"/>
                <a:cs typeface="Arial Black"/>
              </a:rPr>
              <a:t>Ratio</a:t>
            </a:r>
            <a:r>
              <a:rPr spc="3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60" dirty="0">
                <a:solidFill>
                  <a:srgbClr val="403C4E"/>
                </a:solidFill>
                <a:latin typeface="Arial Black"/>
                <a:cs typeface="Arial Black"/>
              </a:rPr>
              <a:t>Comparison:</a:t>
            </a:r>
            <a:r>
              <a:rPr spc="2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visual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breakdown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of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screen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content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type. </a:t>
            </a:r>
            <a:r>
              <a:rPr spc="-55" dirty="0">
                <a:solidFill>
                  <a:srgbClr val="403C4E"/>
                </a:solidFill>
                <a:latin typeface="Arial Black"/>
                <a:cs typeface="Arial Black"/>
              </a:rPr>
              <a:t>Interactive</a:t>
            </a:r>
            <a:r>
              <a:rPr spc="7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75" dirty="0">
                <a:solidFill>
                  <a:srgbClr val="403C4E"/>
                </a:solidFill>
                <a:latin typeface="Arial Black"/>
                <a:cs typeface="Arial Black"/>
              </a:rPr>
              <a:t>Device</a:t>
            </a:r>
            <a:r>
              <a:rPr spc="8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80" dirty="0">
                <a:solidFill>
                  <a:srgbClr val="403C4E"/>
                </a:solidFill>
                <a:latin typeface="Arial Black"/>
                <a:cs typeface="Arial Black"/>
              </a:rPr>
              <a:t>Selector:</a:t>
            </a:r>
            <a:r>
              <a:rPr spc="8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Allows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users</a:t>
            </a:r>
            <a:r>
              <a:rPr spc="10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to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filter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data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by</a:t>
            </a:r>
            <a:r>
              <a:rPr spc="10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specific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devices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to</a:t>
            </a:r>
            <a:r>
              <a:rPr spc="10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explore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usage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nuances.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335978" y="165100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335978" y="192737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335978" y="220374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335978" y="248012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313753" y="1161518"/>
            <a:ext cx="7161530" cy="302198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1" spc="95" dirty="0">
                <a:solidFill>
                  <a:srgbClr val="403C4E"/>
                </a:solidFill>
                <a:latin typeface="Book Antiqua"/>
                <a:cs typeface="Book Antiqua"/>
              </a:rPr>
              <a:t>Page</a:t>
            </a:r>
            <a:r>
              <a:rPr b="1" spc="5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125" dirty="0">
                <a:solidFill>
                  <a:srgbClr val="403C4E"/>
                </a:solidFill>
                <a:latin typeface="Book Antiqua"/>
                <a:cs typeface="Book Antiqua"/>
              </a:rPr>
              <a:t>3:</a:t>
            </a:r>
            <a:r>
              <a:rPr b="1" spc="10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50" dirty="0">
                <a:solidFill>
                  <a:srgbClr val="403C4E"/>
                </a:solidFill>
                <a:latin typeface="Book Antiqua"/>
                <a:cs typeface="Book Antiqua"/>
              </a:rPr>
              <a:t>Habit</a:t>
            </a:r>
            <a:r>
              <a:rPr b="1" spc="10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110" dirty="0">
                <a:solidFill>
                  <a:srgbClr val="403C4E"/>
                </a:solidFill>
                <a:latin typeface="Book Antiqua"/>
                <a:cs typeface="Book Antiqua"/>
              </a:rPr>
              <a:t>Patterns</a:t>
            </a:r>
            <a:r>
              <a:rPr b="1" spc="10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-110" dirty="0">
                <a:solidFill>
                  <a:srgbClr val="403C4E"/>
                </a:solidFill>
                <a:latin typeface="Book Antiqua"/>
                <a:cs typeface="Book Antiqua"/>
              </a:rPr>
              <a:t>&amp;</a:t>
            </a:r>
            <a:r>
              <a:rPr b="1" spc="10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dirty="0">
                <a:solidFill>
                  <a:srgbClr val="403C4E"/>
                </a:solidFill>
                <a:latin typeface="Book Antiqua"/>
                <a:cs typeface="Book Antiqua"/>
              </a:rPr>
              <a:t>Deep</a:t>
            </a:r>
            <a:r>
              <a:rPr b="1" spc="5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b="1" spc="80" dirty="0">
                <a:solidFill>
                  <a:srgbClr val="403C4E"/>
                </a:solidFill>
                <a:latin typeface="Book Antiqua"/>
                <a:cs typeface="Book Antiqua"/>
              </a:rPr>
              <a:t>Insights</a:t>
            </a:r>
            <a:endParaRPr dirty="0">
              <a:latin typeface="Book Antiqua"/>
              <a:cs typeface="Book Antiqua"/>
            </a:endParaRPr>
          </a:p>
          <a:p>
            <a:pPr marL="172720">
              <a:lnSpc>
                <a:spcPct val="100000"/>
              </a:lnSpc>
              <a:spcBef>
                <a:spcPts val="1285"/>
              </a:spcBef>
            </a:pPr>
            <a:r>
              <a:rPr spc="-60" dirty="0">
                <a:solidFill>
                  <a:srgbClr val="403C4E"/>
                </a:solidFill>
                <a:latin typeface="Arial Black"/>
                <a:cs typeface="Arial Black"/>
              </a:rPr>
              <a:t>Weekday</a:t>
            </a:r>
            <a:r>
              <a:rPr spc="6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75" dirty="0">
                <a:solidFill>
                  <a:srgbClr val="403C4E"/>
                </a:solidFill>
                <a:latin typeface="Arial Black"/>
                <a:cs typeface="Arial Black"/>
              </a:rPr>
              <a:t>vs.</a:t>
            </a:r>
            <a:r>
              <a:rPr spc="6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60" dirty="0">
                <a:solidFill>
                  <a:srgbClr val="403C4E"/>
                </a:solidFill>
                <a:latin typeface="Arial Black"/>
                <a:cs typeface="Arial Black"/>
              </a:rPr>
              <a:t>Weekend</a:t>
            </a:r>
            <a:r>
              <a:rPr spc="6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60" dirty="0">
                <a:solidFill>
                  <a:srgbClr val="403C4E"/>
                </a:solidFill>
                <a:latin typeface="Arial Black"/>
                <a:cs typeface="Arial Black"/>
              </a:rPr>
              <a:t>Line</a:t>
            </a:r>
            <a:r>
              <a:rPr spc="6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50" dirty="0">
                <a:solidFill>
                  <a:srgbClr val="403C4E"/>
                </a:solidFill>
                <a:latin typeface="Arial Black"/>
                <a:cs typeface="Arial Black"/>
              </a:rPr>
              <a:t>Chart:</a:t>
            </a:r>
            <a:r>
              <a:rPr spc="6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Illustrates</a:t>
            </a:r>
            <a:r>
              <a:rPr spc="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the</a:t>
            </a:r>
            <a:r>
              <a:rPr spc="8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variance</a:t>
            </a:r>
            <a:r>
              <a:rPr spc="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in</a:t>
            </a:r>
            <a:r>
              <a:rPr spc="8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screen</a:t>
            </a:r>
            <a:r>
              <a:rPr spc="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time</a:t>
            </a:r>
            <a:r>
              <a:rPr spc="8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between</a:t>
            </a:r>
            <a:r>
              <a:rPr spc="8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weekdays</a:t>
            </a:r>
            <a:r>
              <a:rPr spc="7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pc="8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weekends.</a:t>
            </a:r>
            <a:endParaRPr dirty="0">
              <a:latin typeface="Tahoma"/>
              <a:cs typeface="Tahoma"/>
            </a:endParaRPr>
          </a:p>
          <a:p>
            <a:pPr marL="172720">
              <a:lnSpc>
                <a:spcPct val="100000"/>
              </a:lnSpc>
              <a:spcBef>
                <a:spcPts val="915"/>
              </a:spcBef>
            </a:pPr>
            <a:r>
              <a:rPr spc="-80" dirty="0">
                <a:solidFill>
                  <a:srgbClr val="403C4E"/>
                </a:solidFill>
                <a:latin typeface="Arial Black"/>
                <a:cs typeface="Arial Black"/>
              </a:rPr>
              <a:t>Age-</a:t>
            </a:r>
            <a:r>
              <a:rPr spc="-60" dirty="0">
                <a:solidFill>
                  <a:srgbClr val="403C4E"/>
                </a:solidFill>
                <a:latin typeface="Arial Black"/>
                <a:cs typeface="Arial Black"/>
              </a:rPr>
              <a:t>Band</a:t>
            </a:r>
            <a:r>
              <a:rPr spc="7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50" dirty="0">
                <a:solidFill>
                  <a:srgbClr val="403C4E"/>
                </a:solidFill>
                <a:latin typeface="Arial Black"/>
                <a:cs typeface="Arial Black"/>
              </a:rPr>
              <a:t>Habit</a:t>
            </a:r>
            <a:r>
              <a:rPr spc="7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55" dirty="0">
                <a:solidFill>
                  <a:srgbClr val="403C4E"/>
                </a:solidFill>
                <a:latin typeface="Arial Black"/>
                <a:cs typeface="Arial Black"/>
              </a:rPr>
              <a:t>Heatmap:</a:t>
            </a:r>
            <a:r>
              <a:rPr spc="7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</a:t>
            </a:r>
            <a:r>
              <a:rPr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detailed</a:t>
            </a:r>
            <a:r>
              <a:rPr spc="8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heatmap</a:t>
            </a:r>
            <a:r>
              <a:rPr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showing</a:t>
            </a:r>
            <a:r>
              <a:rPr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how</a:t>
            </a:r>
            <a:r>
              <a:rPr spc="8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habits</a:t>
            </a:r>
            <a:r>
              <a:rPr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change</a:t>
            </a:r>
            <a:r>
              <a:rPr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across</a:t>
            </a:r>
            <a:r>
              <a:rPr spc="8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different</a:t>
            </a:r>
            <a:r>
              <a:rPr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age</a:t>
            </a:r>
            <a:r>
              <a:rPr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groups.</a:t>
            </a:r>
            <a:endParaRPr dirty="0">
              <a:latin typeface="Tahoma"/>
              <a:cs typeface="Tahoma"/>
            </a:endParaRPr>
          </a:p>
          <a:p>
            <a:pPr marL="172720">
              <a:lnSpc>
                <a:spcPct val="100000"/>
              </a:lnSpc>
              <a:spcBef>
                <a:spcPts val="915"/>
              </a:spcBef>
            </a:pPr>
            <a:r>
              <a:rPr spc="-55" dirty="0">
                <a:solidFill>
                  <a:srgbClr val="403C4E"/>
                </a:solidFill>
                <a:latin typeface="Arial Black"/>
                <a:cs typeface="Arial Black"/>
              </a:rPr>
              <a:t>High-</a:t>
            </a:r>
            <a:r>
              <a:rPr spc="-85" dirty="0">
                <a:solidFill>
                  <a:srgbClr val="403C4E"/>
                </a:solidFill>
                <a:latin typeface="Arial Black"/>
                <a:cs typeface="Arial Black"/>
              </a:rPr>
              <a:t>Risk</a:t>
            </a:r>
            <a:r>
              <a:rPr spc="10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50" dirty="0">
                <a:solidFill>
                  <a:srgbClr val="403C4E"/>
                </a:solidFill>
                <a:latin typeface="Arial Black"/>
                <a:cs typeface="Arial Black"/>
              </a:rPr>
              <a:t>Cohort</a:t>
            </a:r>
            <a:r>
              <a:rPr spc="10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50" dirty="0">
                <a:solidFill>
                  <a:srgbClr val="403C4E"/>
                </a:solidFill>
                <a:latin typeface="Arial Black"/>
                <a:cs typeface="Arial Black"/>
              </a:rPr>
              <a:t>Identification:</a:t>
            </a:r>
            <a:r>
              <a:rPr spc="10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Highlights</a:t>
            </a:r>
            <a:r>
              <a:rPr spc="1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specific</a:t>
            </a:r>
            <a:r>
              <a:rPr spc="1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groups</a:t>
            </a:r>
            <a:r>
              <a:rPr spc="1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that</a:t>
            </a:r>
            <a:r>
              <a:rPr spc="114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are</a:t>
            </a:r>
            <a:r>
              <a:rPr spc="1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most</a:t>
            </a:r>
            <a:r>
              <a:rPr spc="1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susceptible</a:t>
            </a:r>
            <a:r>
              <a:rPr spc="1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to</a:t>
            </a:r>
            <a:r>
              <a:rPr spc="1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excessive</a:t>
            </a:r>
            <a:r>
              <a:rPr spc="1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screen</a:t>
            </a:r>
            <a:r>
              <a:rPr spc="1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time.</a:t>
            </a:r>
            <a:endParaRPr dirty="0">
              <a:latin typeface="Tahoma"/>
              <a:cs typeface="Tahoma"/>
            </a:endParaRPr>
          </a:p>
          <a:p>
            <a:pPr marL="172720">
              <a:lnSpc>
                <a:spcPct val="100000"/>
              </a:lnSpc>
              <a:spcBef>
                <a:spcPts val="915"/>
              </a:spcBef>
            </a:pPr>
            <a:r>
              <a:rPr spc="-60" dirty="0">
                <a:solidFill>
                  <a:srgbClr val="403C4E"/>
                </a:solidFill>
                <a:latin typeface="Arial Black"/>
                <a:cs typeface="Arial Black"/>
              </a:rPr>
              <a:t>Dynamic</a:t>
            </a:r>
            <a:r>
              <a:rPr spc="6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60" dirty="0">
                <a:solidFill>
                  <a:srgbClr val="403C4E"/>
                </a:solidFill>
                <a:latin typeface="Arial Black"/>
                <a:cs typeface="Arial Black"/>
              </a:rPr>
              <a:t>Filters:</a:t>
            </a:r>
            <a:r>
              <a:rPr spc="6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Comprehensive</a:t>
            </a:r>
            <a:r>
              <a:rPr spc="8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filters</a:t>
            </a:r>
            <a:r>
              <a:rPr spc="8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for</a:t>
            </a:r>
            <a:r>
              <a:rPr spc="8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age,</a:t>
            </a:r>
            <a:r>
              <a:rPr spc="8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gender,</a:t>
            </a:r>
            <a:r>
              <a:rPr spc="8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device,</a:t>
            </a:r>
            <a:r>
              <a:rPr spc="8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pc="8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location</a:t>
            </a:r>
            <a:r>
              <a:rPr spc="8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to</a:t>
            </a:r>
            <a:r>
              <a:rPr spc="8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enable</a:t>
            </a:r>
            <a:r>
              <a:rPr spc="8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granular</a:t>
            </a:r>
            <a:r>
              <a:rPr spc="8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analysis.</a:t>
            </a:r>
            <a:endParaRPr dirty="0">
              <a:latin typeface="Tahoma"/>
              <a:cs typeface="Tahoma"/>
            </a:endParaRPr>
          </a:p>
        </p:txBody>
      </p:sp>
      <p:pic>
        <p:nvPicPr>
          <p:cNvPr id="16" name="Picture 15" descr="A screenshot of a computer screen">
            <a:extLst>
              <a:ext uri="{FF2B5EF4-FFF2-40B4-BE49-F238E27FC236}">
                <a16:creationId xmlns:a16="http://schemas.microsoft.com/office/drawing/2014/main" id="{88166E82-EA14-0C46-506D-636A0AA49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463442"/>
            <a:ext cx="7485151" cy="4321309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324170-F07F-03E8-D1E5-813C27406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4978332"/>
            <a:ext cx="8915400" cy="45544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Challenges</a:t>
            </a:r>
            <a:r>
              <a:rPr spc="-10" dirty="0"/>
              <a:t> </a:t>
            </a:r>
            <a:r>
              <a:rPr spc="-215" dirty="0"/>
              <a:t>&amp;</a:t>
            </a:r>
            <a:r>
              <a:rPr spc="-5" dirty="0"/>
              <a:t> </a:t>
            </a:r>
            <a:r>
              <a:rPr spc="114" dirty="0"/>
              <a:t>Conclusion:</a:t>
            </a:r>
            <a:r>
              <a:rPr spc="-5" dirty="0"/>
              <a:t> </a:t>
            </a:r>
            <a:r>
              <a:rPr dirty="0"/>
              <a:t>Key</a:t>
            </a:r>
            <a:r>
              <a:rPr spc="-5" dirty="0"/>
              <a:t> </a:t>
            </a:r>
            <a:r>
              <a:rPr spc="145" dirty="0"/>
              <a:t>Learnings</a:t>
            </a:r>
            <a:r>
              <a:rPr spc="-10" dirty="0"/>
              <a:t> </a:t>
            </a:r>
            <a:r>
              <a:rPr spc="125" dirty="0"/>
              <a:t>and</a:t>
            </a:r>
            <a:r>
              <a:rPr spc="-5" dirty="0"/>
              <a:t> </a:t>
            </a:r>
            <a:r>
              <a:rPr spc="155" dirty="0"/>
              <a:t>Impact</a:t>
            </a:r>
          </a:p>
        </p:txBody>
      </p:sp>
      <p:sp>
        <p:nvSpPr>
          <p:cNvPr id="3" name="object 3"/>
          <p:cNvSpPr/>
          <p:nvPr/>
        </p:nvSpPr>
        <p:spPr>
          <a:xfrm>
            <a:off x="505568" y="16499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5568" y="215314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5568" y="242952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5568" y="2932706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3343" y="1160772"/>
            <a:ext cx="8427085" cy="339644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65" dirty="0">
                <a:solidFill>
                  <a:srgbClr val="403C4E"/>
                </a:solidFill>
                <a:latin typeface="Book Antiqua"/>
                <a:cs typeface="Book Antiqua"/>
              </a:rPr>
              <a:t>Challenges</a:t>
            </a:r>
            <a:r>
              <a:rPr sz="2000" b="1" spc="-20" dirty="0">
                <a:solidFill>
                  <a:srgbClr val="403C4E"/>
                </a:solidFill>
                <a:latin typeface="Book Antiqua"/>
                <a:cs typeface="Book Antiqua"/>
              </a:rPr>
              <a:t> </a:t>
            </a:r>
            <a:r>
              <a:rPr sz="2000" b="1" spc="80" dirty="0">
                <a:solidFill>
                  <a:srgbClr val="403C4E"/>
                </a:solidFill>
                <a:latin typeface="Book Antiqua"/>
                <a:cs typeface="Book Antiqua"/>
              </a:rPr>
              <a:t>Face</a:t>
            </a:r>
            <a:r>
              <a:rPr b="1" spc="80" dirty="0">
                <a:solidFill>
                  <a:srgbClr val="403C4E"/>
                </a:solidFill>
                <a:latin typeface="Book Antiqua"/>
                <a:cs typeface="Book Antiqua"/>
              </a:rPr>
              <a:t>d</a:t>
            </a:r>
            <a:endParaRPr dirty="0">
              <a:latin typeface="Book Antiqua"/>
              <a:cs typeface="Book Antiqua"/>
            </a:endParaRPr>
          </a:p>
          <a:p>
            <a:pPr marL="172720">
              <a:lnSpc>
                <a:spcPct val="100000"/>
              </a:lnSpc>
              <a:spcBef>
                <a:spcPts val="1280"/>
              </a:spcBef>
            </a:pPr>
            <a:r>
              <a:rPr spc="-50" dirty="0">
                <a:solidFill>
                  <a:srgbClr val="403C4E"/>
                </a:solidFill>
                <a:latin typeface="Arial Black"/>
                <a:cs typeface="Arial Black"/>
              </a:rPr>
              <a:t>Data</a:t>
            </a:r>
            <a:r>
              <a:rPr spc="12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65" dirty="0">
                <a:solidFill>
                  <a:srgbClr val="403C4E"/>
                </a:solidFill>
                <a:latin typeface="Arial Black"/>
                <a:cs typeface="Arial Black"/>
              </a:rPr>
              <a:t>Cleaning</a:t>
            </a:r>
            <a:r>
              <a:rPr spc="13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150" dirty="0">
                <a:solidFill>
                  <a:srgbClr val="403C4E"/>
                </a:solidFill>
                <a:latin typeface="Arial Black"/>
                <a:cs typeface="Arial Black"/>
              </a:rPr>
              <a:t>&amp;</a:t>
            </a:r>
            <a:r>
              <a:rPr spc="13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55" dirty="0">
                <a:solidFill>
                  <a:srgbClr val="403C4E"/>
                </a:solidFill>
                <a:latin typeface="Arial Black"/>
                <a:cs typeface="Arial Black"/>
              </a:rPr>
              <a:t>Standardisation:</a:t>
            </a:r>
            <a:r>
              <a:rPr spc="13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Overcoming</a:t>
            </a:r>
            <a:r>
              <a:rPr spc="1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inconsistencies</a:t>
            </a:r>
            <a:r>
              <a:rPr spc="1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pc="1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standardising</a:t>
            </a:r>
            <a:r>
              <a:rPr spc="1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diverse</a:t>
            </a:r>
            <a:r>
              <a:rPr spc="1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categorical</a:t>
            </a:r>
            <a:r>
              <a:rPr spc="1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data</a:t>
            </a:r>
            <a:r>
              <a:rPr spc="1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was</a:t>
            </a:r>
            <a:r>
              <a:rPr spc="1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</a:t>
            </a:r>
            <a:r>
              <a:rPr spc="1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significant</a:t>
            </a:r>
            <a:r>
              <a:rPr spc="1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hurdle.</a:t>
            </a:r>
            <a:endParaRPr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dirty="0">
              <a:latin typeface="Tahoma"/>
              <a:cs typeface="Tahoma"/>
            </a:endParaRPr>
          </a:p>
          <a:p>
            <a:pPr marL="172720">
              <a:lnSpc>
                <a:spcPct val="100000"/>
              </a:lnSpc>
              <a:spcBef>
                <a:spcPts val="5"/>
              </a:spcBef>
            </a:pPr>
            <a:r>
              <a:rPr spc="-70" dirty="0">
                <a:solidFill>
                  <a:srgbClr val="403C4E"/>
                </a:solidFill>
                <a:latin typeface="Arial Black"/>
                <a:cs typeface="Arial Black"/>
              </a:rPr>
              <a:t>Visual</a:t>
            </a:r>
            <a:r>
              <a:rPr spc="4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75" dirty="0">
                <a:solidFill>
                  <a:srgbClr val="403C4E"/>
                </a:solidFill>
                <a:latin typeface="Arial Black"/>
                <a:cs typeface="Arial Black"/>
              </a:rPr>
              <a:t>Selection:</a:t>
            </a:r>
            <a:r>
              <a:rPr spc="5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Choosing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the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most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appropriate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impactful</a:t>
            </a:r>
            <a:r>
              <a:rPr spc="7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visuals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to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effectively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tell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the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story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embedded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in</a:t>
            </a:r>
            <a:r>
              <a:rPr spc="7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the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data.</a:t>
            </a:r>
            <a:endParaRPr dirty="0">
              <a:latin typeface="Tahoma"/>
              <a:cs typeface="Tahoma"/>
            </a:endParaRPr>
          </a:p>
          <a:p>
            <a:pPr marL="172720">
              <a:lnSpc>
                <a:spcPct val="100000"/>
              </a:lnSpc>
              <a:spcBef>
                <a:spcPts val="915"/>
              </a:spcBef>
            </a:pPr>
            <a:r>
              <a:rPr spc="-50" dirty="0">
                <a:solidFill>
                  <a:srgbClr val="403C4E"/>
                </a:solidFill>
                <a:latin typeface="Arial Black"/>
                <a:cs typeface="Arial Black"/>
              </a:rPr>
              <a:t>Dashboard</a:t>
            </a:r>
            <a:r>
              <a:rPr spc="6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70" dirty="0">
                <a:solidFill>
                  <a:srgbClr val="403C4E"/>
                </a:solidFill>
                <a:latin typeface="Arial Black"/>
                <a:cs typeface="Arial Black"/>
              </a:rPr>
              <a:t>Design:</a:t>
            </a:r>
            <a:r>
              <a:rPr spc="7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Creating</a:t>
            </a:r>
            <a:r>
              <a:rPr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an</a:t>
            </a:r>
            <a:r>
              <a:rPr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attractive,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intuitive,</a:t>
            </a:r>
            <a:r>
              <a:rPr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interactive</a:t>
            </a:r>
            <a:r>
              <a:rPr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dashboard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that</a:t>
            </a:r>
            <a:r>
              <a:rPr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is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both</a:t>
            </a:r>
            <a:r>
              <a:rPr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functional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pc="9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aesthetically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pleasing.</a:t>
            </a:r>
            <a:endParaRPr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dirty="0">
              <a:latin typeface="Tahoma"/>
              <a:cs typeface="Tahoma"/>
            </a:endParaRPr>
          </a:p>
          <a:p>
            <a:pPr marL="172720">
              <a:lnSpc>
                <a:spcPct val="100000"/>
              </a:lnSpc>
            </a:pPr>
            <a:r>
              <a:rPr spc="-50" dirty="0">
                <a:solidFill>
                  <a:srgbClr val="403C4E"/>
                </a:solidFill>
                <a:latin typeface="Arial Black"/>
                <a:cs typeface="Arial Black"/>
              </a:rPr>
              <a:t>Cohort</a:t>
            </a:r>
            <a:r>
              <a:rPr spc="12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50" dirty="0">
                <a:solidFill>
                  <a:srgbClr val="403C4E"/>
                </a:solidFill>
                <a:latin typeface="Arial Black"/>
                <a:cs typeface="Arial Black"/>
              </a:rPr>
              <a:t>Identification:</a:t>
            </a:r>
            <a:r>
              <a:rPr spc="13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Defining</a:t>
            </a:r>
            <a:r>
              <a:rPr spc="15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pc="1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identifying</a:t>
            </a:r>
            <a:r>
              <a:rPr spc="1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meaningful</a:t>
            </a:r>
            <a:r>
              <a:rPr spc="1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cohort</a:t>
            </a:r>
            <a:r>
              <a:rPr spc="1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segments</a:t>
            </a:r>
            <a:r>
              <a:rPr spc="15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that</a:t>
            </a:r>
            <a:r>
              <a:rPr spc="1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provided</a:t>
            </a:r>
            <a:r>
              <a:rPr spc="1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actionable</a:t>
            </a:r>
            <a:r>
              <a:rPr spc="1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insights.</a:t>
            </a:r>
            <a:endParaRPr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918" y="4866875"/>
            <a:ext cx="8022482" cy="489042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9335978" y="164995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335978" y="192633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335978" y="2202707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335978" y="2705892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5"/>
                </a:moveTo>
                <a:lnTo>
                  <a:pt x="20654" y="47625"/>
                </a:lnTo>
                <a:lnTo>
                  <a:pt x="17617" y="47021"/>
                </a:lnTo>
                <a:lnTo>
                  <a:pt x="0" y="26970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0654"/>
                </a:lnTo>
                <a:lnTo>
                  <a:pt x="47625" y="23812"/>
                </a:lnTo>
                <a:lnTo>
                  <a:pt x="47625" y="26970"/>
                </a:lnTo>
                <a:lnTo>
                  <a:pt x="30007" y="47021"/>
                </a:lnTo>
                <a:lnTo>
                  <a:pt x="26970" y="47625"/>
                </a:lnTo>
                <a:close/>
              </a:path>
            </a:pathLst>
          </a:custGeom>
          <a:solidFill>
            <a:srgbClr val="403C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313753" y="1160772"/>
            <a:ext cx="8300084" cy="366132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60" dirty="0">
                <a:solidFill>
                  <a:srgbClr val="403C4E"/>
                </a:solidFill>
                <a:latin typeface="Book Antiqua"/>
                <a:cs typeface="Book Antiqua"/>
              </a:rPr>
              <a:t>Conclusion</a:t>
            </a:r>
            <a:endParaRPr sz="2000" dirty="0">
              <a:latin typeface="Book Antiqua"/>
              <a:cs typeface="Book Antiqua"/>
            </a:endParaRPr>
          </a:p>
          <a:p>
            <a:pPr marL="172720">
              <a:lnSpc>
                <a:spcPct val="100000"/>
              </a:lnSpc>
              <a:spcBef>
                <a:spcPts val="1280"/>
              </a:spcBef>
            </a:pPr>
            <a:r>
              <a:rPr spc="-55" dirty="0">
                <a:solidFill>
                  <a:srgbClr val="403C4E"/>
                </a:solidFill>
                <a:latin typeface="Arial Black"/>
                <a:cs typeface="Arial Black"/>
              </a:rPr>
              <a:t>High-</a:t>
            </a:r>
            <a:r>
              <a:rPr spc="-85" dirty="0">
                <a:solidFill>
                  <a:srgbClr val="403C4E"/>
                </a:solidFill>
                <a:latin typeface="Arial Black"/>
                <a:cs typeface="Arial Black"/>
              </a:rPr>
              <a:t>Risk</a:t>
            </a:r>
            <a:r>
              <a:rPr spc="7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60" dirty="0">
                <a:solidFill>
                  <a:srgbClr val="403C4E"/>
                </a:solidFill>
                <a:latin typeface="Arial Black"/>
                <a:cs typeface="Arial Black"/>
              </a:rPr>
              <a:t>Groups:</a:t>
            </a:r>
            <a:r>
              <a:rPr spc="8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Teenagers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urban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populations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exhibit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the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highest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risk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patterns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for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excessive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screen</a:t>
            </a:r>
            <a:r>
              <a:rPr spc="9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time.</a:t>
            </a:r>
            <a:endParaRPr dirty="0">
              <a:latin typeface="Tahoma"/>
              <a:cs typeface="Tahoma"/>
            </a:endParaRPr>
          </a:p>
          <a:p>
            <a:pPr marL="172720">
              <a:lnSpc>
                <a:spcPct val="100000"/>
              </a:lnSpc>
              <a:spcBef>
                <a:spcPts val="915"/>
              </a:spcBef>
            </a:pPr>
            <a:r>
              <a:rPr spc="-75" dirty="0">
                <a:solidFill>
                  <a:srgbClr val="403C4E"/>
                </a:solidFill>
                <a:latin typeface="Arial Black"/>
                <a:cs typeface="Arial Black"/>
              </a:rPr>
              <a:t>Device</a:t>
            </a:r>
            <a:r>
              <a:rPr spc="4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60" dirty="0">
                <a:solidFill>
                  <a:srgbClr val="403C4E"/>
                </a:solidFill>
                <a:latin typeface="Arial Black"/>
                <a:cs typeface="Arial Black"/>
              </a:rPr>
              <a:t>Dominance:</a:t>
            </a:r>
            <a:r>
              <a:rPr spc="4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Smartphones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remain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the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primary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driver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of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screen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consumption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across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all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segments.</a:t>
            </a:r>
            <a:endParaRPr dirty="0">
              <a:latin typeface="Tahoma"/>
              <a:cs typeface="Tahoma"/>
            </a:endParaRPr>
          </a:p>
          <a:p>
            <a:pPr marL="172720" marR="40005">
              <a:lnSpc>
                <a:spcPct val="136900"/>
              </a:lnSpc>
              <a:spcBef>
                <a:spcPts val="455"/>
              </a:spcBef>
            </a:pPr>
            <a:r>
              <a:rPr spc="-60" dirty="0">
                <a:solidFill>
                  <a:srgbClr val="403C4E"/>
                </a:solidFill>
                <a:latin typeface="Arial Black"/>
                <a:cs typeface="Arial Black"/>
              </a:rPr>
              <a:t>Weekend</a:t>
            </a:r>
            <a:r>
              <a:rPr spc="13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50" dirty="0">
                <a:solidFill>
                  <a:srgbClr val="403C4E"/>
                </a:solidFill>
                <a:latin typeface="Arial Black"/>
                <a:cs typeface="Arial Black"/>
              </a:rPr>
              <a:t>Amplification:</a:t>
            </a:r>
            <a:r>
              <a:rPr spc="14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Weekend</a:t>
            </a:r>
            <a:r>
              <a:rPr spc="1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usage</a:t>
            </a:r>
            <a:r>
              <a:rPr spc="1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dramatically</a:t>
            </a:r>
            <a:r>
              <a:rPr spc="1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increases</a:t>
            </a:r>
            <a:r>
              <a:rPr spc="1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screen</a:t>
            </a:r>
            <a:r>
              <a:rPr spc="1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time,</a:t>
            </a:r>
            <a:r>
              <a:rPr spc="1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indicating</a:t>
            </a:r>
            <a:r>
              <a:rPr spc="1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</a:t>
            </a:r>
            <a:r>
              <a:rPr spc="1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need</a:t>
            </a:r>
            <a:r>
              <a:rPr spc="1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for</a:t>
            </a:r>
            <a:r>
              <a:rPr spc="1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targeted</a:t>
            </a:r>
            <a:r>
              <a:rPr spc="1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interventions</a:t>
            </a:r>
            <a:r>
              <a:rPr spc="15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during </a:t>
            </a:r>
            <a:r>
              <a:rPr spc="10" dirty="0">
                <a:solidFill>
                  <a:srgbClr val="403C4E"/>
                </a:solidFill>
                <a:latin typeface="Tahoma"/>
                <a:cs typeface="Tahoma"/>
              </a:rPr>
              <a:t>leisure</a:t>
            </a:r>
            <a:r>
              <a:rPr spc="14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periods.</a:t>
            </a:r>
            <a:endParaRPr dirty="0">
              <a:latin typeface="Tahoma"/>
              <a:cs typeface="Tahoma"/>
            </a:endParaRPr>
          </a:p>
          <a:p>
            <a:pPr marL="172720" marR="5080">
              <a:lnSpc>
                <a:spcPct val="136900"/>
              </a:lnSpc>
              <a:spcBef>
                <a:spcPts val="509"/>
              </a:spcBef>
            </a:pPr>
            <a:r>
              <a:rPr spc="-65" dirty="0">
                <a:solidFill>
                  <a:srgbClr val="403C4E"/>
                </a:solidFill>
                <a:latin typeface="Arial Black"/>
                <a:cs typeface="Arial Black"/>
              </a:rPr>
              <a:t>Empowering</a:t>
            </a:r>
            <a:r>
              <a:rPr spc="100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spc="-65" dirty="0">
                <a:solidFill>
                  <a:srgbClr val="403C4E"/>
                </a:solidFill>
                <a:latin typeface="Arial Black"/>
                <a:cs typeface="Arial Black"/>
              </a:rPr>
              <a:t>Stakeholders:</a:t>
            </a:r>
            <a:r>
              <a:rPr spc="105" dirty="0">
                <a:solidFill>
                  <a:srgbClr val="403C4E"/>
                </a:solidFill>
                <a:latin typeface="Arial Black"/>
                <a:cs typeface="Arial Black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The</a:t>
            </a:r>
            <a:r>
              <a:rPr spc="12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interactive</a:t>
            </a:r>
            <a:r>
              <a:rPr spc="1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dashboard</a:t>
            </a:r>
            <a:r>
              <a:rPr spc="1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serves</a:t>
            </a:r>
            <a:r>
              <a:rPr spc="12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as</a:t>
            </a:r>
            <a:r>
              <a:rPr spc="1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a</a:t>
            </a:r>
            <a:r>
              <a:rPr spc="1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vital</a:t>
            </a:r>
            <a:r>
              <a:rPr spc="12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tool,</a:t>
            </a:r>
            <a:r>
              <a:rPr spc="1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enabling</a:t>
            </a:r>
            <a:r>
              <a:rPr spc="1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stakeholders</a:t>
            </a:r>
            <a:r>
              <a:rPr spc="12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to</a:t>
            </a:r>
            <a:r>
              <a:rPr spc="1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proactively</a:t>
            </a:r>
            <a:r>
              <a:rPr spc="12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dirty="0">
                <a:solidFill>
                  <a:srgbClr val="403C4E"/>
                </a:solidFill>
                <a:latin typeface="Tahoma"/>
                <a:cs typeface="Tahoma"/>
              </a:rPr>
              <a:t>explore</a:t>
            </a:r>
            <a:r>
              <a:rPr spc="12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screen-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time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risks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50" dirty="0">
                <a:solidFill>
                  <a:srgbClr val="403C4E"/>
                </a:solidFill>
                <a:latin typeface="Tahoma"/>
                <a:cs typeface="Tahoma"/>
              </a:rPr>
              <a:t>and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patterns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across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various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segments,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supporting</a:t>
            </a:r>
            <a:r>
              <a:rPr spc="65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45" dirty="0">
                <a:solidFill>
                  <a:srgbClr val="403C4E"/>
                </a:solidFill>
                <a:latin typeface="Tahoma"/>
                <a:cs typeface="Tahoma"/>
              </a:rPr>
              <a:t>informed</a:t>
            </a:r>
            <a:r>
              <a:rPr spc="60" dirty="0">
                <a:solidFill>
                  <a:srgbClr val="403C4E"/>
                </a:solidFill>
                <a:latin typeface="Tahoma"/>
                <a:cs typeface="Tahoma"/>
              </a:rPr>
              <a:t> </a:t>
            </a:r>
            <a:r>
              <a:rPr spc="20" dirty="0">
                <a:solidFill>
                  <a:srgbClr val="403C4E"/>
                </a:solidFill>
                <a:latin typeface="Tahoma"/>
                <a:cs typeface="Tahoma"/>
              </a:rPr>
              <a:t>decision-</a:t>
            </a:r>
            <a:r>
              <a:rPr spc="-10" dirty="0">
                <a:solidFill>
                  <a:srgbClr val="403C4E"/>
                </a:solidFill>
                <a:latin typeface="Tahoma"/>
                <a:cs typeface="Tahoma"/>
              </a:rPr>
              <a:t>making.</a:t>
            </a:r>
            <a:endParaRPr dirty="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4999" y="5295900"/>
            <a:ext cx="8088837" cy="43045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1176</Words>
  <Application>Microsoft Office PowerPoint</Application>
  <PresentationFormat>Custom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 Black</vt:lpstr>
      <vt:lpstr>Book Antiqua</vt:lpstr>
      <vt:lpstr>Tahoma</vt:lpstr>
      <vt:lpstr>Office Theme</vt:lpstr>
      <vt:lpstr>Indian Kids’ Screen Time Analysis</vt:lpstr>
      <vt:lpstr>Project Overview: Understanding Digital Habits</vt:lpstr>
      <vt:lpstr>Dataset Description: The Foundation of Our Analysis</vt:lpstr>
      <vt:lpstr>Methodology: End-to-End Analytics Pipeline</vt:lpstr>
      <vt:lpstr>Key Visual Insights: Uncovering Usage Patterns</vt:lpstr>
      <vt:lpstr>Cohort Insights: Deep Dive into User Segments</vt:lpstr>
      <vt:lpstr>Habit &amp; Seasonal Patterns: Understanding Usage Dynamics</vt:lpstr>
      <vt:lpstr>Power BI Dashboard Overview: Page 1 - Key Performance Indicators</vt:lpstr>
      <vt:lpstr>Power BI Dashboard: Pages 2 &amp; 3 - Deep Dive into Patterns</vt:lpstr>
      <vt:lpstr>Challenges &amp; Conclusion: Key Learnings and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Indian-Kids-Screen-Time-Analysis97.pptx</dc:title>
  <dc:creator>Vasanthi Bojja</dc:creator>
  <cp:keywords>DAG6pRV0kq8,BAGXCbQtEdY,0</cp:keywords>
  <cp:lastModifiedBy>917780197126</cp:lastModifiedBy>
  <cp:revision>2</cp:revision>
  <dcterms:created xsi:type="dcterms:W3CDTF">2025-12-09T12:12:27Z</dcterms:created>
  <dcterms:modified xsi:type="dcterms:W3CDTF">2025-12-10T06:28:31Z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2025-12-05T00:00:00Z</vt:filetime>
  </property>
  <property fmtid="{D5CDD505-2E9C-101B-9397-08002B2CF9AE}" pid="3" name="Creator">
    <vt:lpwstr>Canva</vt:lpwstr>
  </property>
  <property fmtid="{D5CDD505-2E9C-101B-9397-08002B2CF9AE}" pid="4" name="LastSaved">
    <vt:filetime>2025-12-09T00:00:00Z</vt:filetime>
  </property>
  <property fmtid="{D5CDD505-2E9C-101B-9397-08002B2CF9AE}" pid="5" name="Producer">
    <vt:lpwstr>3-Heights(TM) PDF Security Shell 4.8.25.2 (http://www.pdf-tools.com)</vt:lpwstr>
  </property>
</Properties>
</file>